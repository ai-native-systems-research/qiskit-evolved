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9b47420e4541ca" /><Relationship Type="http://schemas.openxmlformats.org/officeDocument/2006/relationships/extended-properties" Target="/docProps/app.xml" Id="Rdcd04ec9840e4eff" /><Relationship Type="http://schemas.openxmlformats.org/officeDocument/2006/relationships/officeDocument" Target="/ppt/presentation.xml" Id="Rf3195bb0e1e94134" /></Relationships>
</file>

<file path=ppt/presentation.xml><?xml version="1.0" encoding="utf-8"?>
<p:presentation xmlns:p="http://schemas.openxmlformats.org/presentationml/2006/main">
  <p:sldMasterIdLst>
    <p:sldMasterId xmlns:r="http://schemas.openxmlformats.org/officeDocument/2006/relationships" id="2147483648" r:id="Rec3cb2c9d67c42af"/>
  </p:sldMasterIdLst>
  <p:notesMasterIdLst>
    <p:notesMasterId xmlns:r="http://schemas.openxmlformats.org/officeDocument/2006/relationships" r:id="Rbcb2588616244bad"/>
  </p:notesMasterIdLst>
  <p:sldIdLst>
    <p:sldId xmlns:r="http://schemas.openxmlformats.org/officeDocument/2006/relationships" id="256" r:id="Rbd31640634a64564"/>
    <p:sldId xmlns:r="http://schemas.openxmlformats.org/officeDocument/2006/relationships" id="257" r:id="R1fe9a7b8f59d4a91"/>
    <p:sldId xmlns:r="http://schemas.openxmlformats.org/officeDocument/2006/relationships" id="258" r:id="R407f4f5018f541e9"/>
    <p:sldId xmlns:r="http://schemas.openxmlformats.org/officeDocument/2006/relationships" id="259" r:id="R835a00592a9e4bfb"/>
    <p:sldId xmlns:r="http://schemas.openxmlformats.org/officeDocument/2006/relationships" id="260" r:id="R24bcea5daba04b4f"/>
    <p:sldId xmlns:r="http://schemas.openxmlformats.org/officeDocument/2006/relationships" id="261" r:id="Ra5825f42b752469b"/>
    <p:sldId xmlns:r="http://schemas.openxmlformats.org/officeDocument/2006/relationships" id="262" r:id="R9c7c357452eb4cf2"/>
    <p:sldId xmlns:r="http://schemas.openxmlformats.org/officeDocument/2006/relationships" id="263" r:id="R501dbdb73ce14a1f"/>
    <p:sldId xmlns:r="http://schemas.openxmlformats.org/officeDocument/2006/relationships" id="264" r:id="Ra48f42263d6841e1"/>
    <p:sldId xmlns:r="http://schemas.openxmlformats.org/officeDocument/2006/relationships" id="265" r:id="Rf6e56e491c304250"/>
    <p:sldId xmlns:r="http://schemas.openxmlformats.org/officeDocument/2006/relationships" id="266" r:id="R000ed2a94ad647ee"/>
    <p:sldId xmlns:r="http://schemas.openxmlformats.org/officeDocument/2006/relationships" id="267" r:id="R9594ef1da0564fc7"/>
    <p:sldId xmlns:r="http://schemas.openxmlformats.org/officeDocument/2006/relationships" id="268" r:id="R6bd7e8827ad74694"/>
    <p:sldId xmlns:r="http://schemas.openxmlformats.org/officeDocument/2006/relationships" id="269" r:id="R6c043bc590a44cbc"/>
    <p:sldId xmlns:r="http://schemas.openxmlformats.org/officeDocument/2006/relationships" id="270" r:id="Rddfa2a429d834d94"/>
    <p:sldId xmlns:r="http://schemas.openxmlformats.org/officeDocument/2006/relationships" id="271" r:id="R19860befc3fe4236"/>
    <p:sldId xmlns:r="http://schemas.openxmlformats.org/officeDocument/2006/relationships" id="272" r:id="R58f759a15aa848f2"/>
    <p:sldId xmlns:r="http://schemas.openxmlformats.org/officeDocument/2006/relationships" id="273" r:id="Rcc70465886604970"/>
    <p:sldId xmlns:r="http://schemas.openxmlformats.org/officeDocument/2006/relationships" id="274" r:id="R0a6fbf1a677a4b76"/>
    <p:sldId xmlns:r="http://schemas.openxmlformats.org/officeDocument/2006/relationships" id="275" r:id="Rae2da5fa04ca4939"/>
    <p:sldId xmlns:r="http://schemas.openxmlformats.org/officeDocument/2006/relationships" id="276" r:id="R27167a67851348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f8ab0a7d924609" /><Relationship Type="http://schemas.openxmlformats.org/officeDocument/2006/relationships/slideMaster" Target="/ppt/slideMasters/slideMaster1.xml" Id="Rec3cb2c9d67c42af" /><Relationship Type="http://schemas.openxmlformats.org/officeDocument/2006/relationships/notesMaster" Target="/ppt/notesMasters/notesMaster1.xml" Id="Rbcb2588616244bad" /><Relationship Type="http://schemas.openxmlformats.org/officeDocument/2006/relationships/presProps" Target="/ppt/presProps.xml" Id="R8da0b9fa920b4a3b" /><Relationship Type="http://schemas.openxmlformats.org/officeDocument/2006/relationships/tableStyles" Target="/ppt/tableStyles.xml" Id="R6f1e84ed85b34601" /><Relationship Type="http://schemas.openxmlformats.org/officeDocument/2006/relationships/slide" Target="/ppt/slides/slide1.xml" Id="Rbd31640634a64564" /><Relationship Type="http://schemas.openxmlformats.org/officeDocument/2006/relationships/slide" Target="/ppt/slides/slide2.xml" Id="R1fe9a7b8f59d4a91" /><Relationship Type="http://schemas.openxmlformats.org/officeDocument/2006/relationships/slide" Target="/ppt/slides/slide3.xml" Id="R407f4f5018f541e9" /><Relationship Type="http://schemas.openxmlformats.org/officeDocument/2006/relationships/slide" Target="/ppt/slides/slide4.xml" Id="R835a00592a9e4bfb" /><Relationship Type="http://schemas.openxmlformats.org/officeDocument/2006/relationships/slide" Target="/ppt/slides/slide5.xml" Id="R24bcea5daba04b4f" /><Relationship Type="http://schemas.openxmlformats.org/officeDocument/2006/relationships/slide" Target="/ppt/slides/slide6.xml" Id="Ra5825f42b752469b" /><Relationship Type="http://schemas.openxmlformats.org/officeDocument/2006/relationships/slide" Target="/ppt/slides/slide7.xml" Id="R9c7c357452eb4cf2" /><Relationship Type="http://schemas.openxmlformats.org/officeDocument/2006/relationships/slide" Target="/ppt/slides/slide8.xml" Id="R501dbdb73ce14a1f" /><Relationship Type="http://schemas.openxmlformats.org/officeDocument/2006/relationships/slide" Target="/ppt/slides/slide9.xml" Id="Ra48f42263d6841e1" /><Relationship Type="http://schemas.openxmlformats.org/officeDocument/2006/relationships/slide" Target="/ppt/slides/slide10.xml" Id="Rf6e56e491c304250" /><Relationship Type="http://schemas.openxmlformats.org/officeDocument/2006/relationships/slide" Target="/ppt/slides/slide11.xml" Id="R000ed2a94ad647ee" /><Relationship Type="http://schemas.openxmlformats.org/officeDocument/2006/relationships/slide" Target="/ppt/slides/slide12.xml" Id="R9594ef1da0564fc7" /><Relationship Type="http://schemas.openxmlformats.org/officeDocument/2006/relationships/slide" Target="/ppt/slides/slide13.xml" Id="R6bd7e8827ad74694" /><Relationship Type="http://schemas.openxmlformats.org/officeDocument/2006/relationships/slide" Target="/ppt/slides/slide14.xml" Id="R6c043bc590a44cbc" /><Relationship Type="http://schemas.openxmlformats.org/officeDocument/2006/relationships/slide" Target="/ppt/slides/slide15.xml" Id="Rddfa2a429d834d94" /><Relationship Type="http://schemas.openxmlformats.org/officeDocument/2006/relationships/slide" Target="/ppt/slides/slide16.xml" Id="R19860befc3fe4236" /><Relationship Type="http://schemas.openxmlformats.org/officeDocument/2006/relationships/slide" Target="/ppt/slides/slide17.xml" Id="R58f759a15aa848f2" /><Relationship Type="http://schemas.openxmlformats.org/officeDocument/2006/relationships/slide" Target="/ppt/slides/slide18.xml" Id="Rcc70465886604970" /><Relationship Type="http://schemas.openxmlformats.org/officeDocument/2006/relationships/slide" Target="/ppt/slides/slide19.xml" Id="R0a6fbf1a677a4b76" /><Relationship Type="http://schemas.openxmlformats.org/officeDocument/2006/relationships/slide" Target="/ppt/slides/slide20.xml" Id="Rae2da5fa04ca4939" /><Relationship Type="http://schemas.openxmlformats.org/officeDocument/2006/relationships/slide" Target="/ppt/slides/slide21.xml" Id="R27167a67851348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547a0080674a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4b0d4dd10a4d6a" /><Relationship Type="http://schemas.openxmlformats.org/officeDocument/2006/relationships/notesMaster" Target="/ppt/notesMasters/notesMaster1.xml" Id="Rbf1868c588fd4e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3f51784fc24e52" /><Relationship Type="http://schemas.openxmlformats.org/officeDocument/2006/relationships/notesMaster" Target="/ppt/notesMasters/notesMaster1.xml" Id="Rb1e5aac314b04a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3bf311b6aa4c1c" /><Relationship Type="http://schemas.openxmlformats.org/officeDocument/2006/relationships/notesMaster" Target="/ppt/notesMasters/notesMaster1.xml" Id="R3e65a89f558d44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c236a9468a4446" /><Relationship Type="http://schemas.openxmlformats.org/officeDocument/2006/relationships/notesMaster" Target="/ppt/notesMasters/notesMaster1.xml" Id="R15da6e3ad5604a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ece6d3d5a40c6" /><Relationship Type="http://schemas.openxmlformats.org/officeDocument/2006/relationships/notesMaster" Target="/ppt/notesMasters/notesMaster1.xml" Id="R67554210a29448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49bae13c894ca5" /><Relationship Type="http://schemas.openxmlformats.org/officeDocument/2006/relationships/notesMaster" Target="/ppt/notesMasters/notesMaster1.xml" Id="R45c81f100e3940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3764fa930c4401" /><Relationship Type="http://schemas.openxmlformats.org/officeDocument/2006/relationships/notesMaster" Target="/ppt/notesMasters/notesMaster1.xml" Id="R90878193f3494b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b0597d31f1473f" /><Relationship Type="http://schemas.openxmlformats.org/officeDocument/2006/relationships/notesMaster" Target="/ppt/notesMasters/notesMaster1.xml" Id="Rcf08db3063d149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2a05f76b1642a4" /><Relationship Type="http://schemas.openxmlformats.org/officeDocument/2006/relationships/notesMaster" Target="/ppt/notesMasters/notesMaster1.xml" Id="R84582711395a44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b52064eaaf4281" /><Relationship Type="http://schemas.openxmlformats.org/officeDocument/2006/relationships/notesMaster" Target="/ppt/notesMasters/notesMaster1.xml" Id="R329f71a9a85b45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6232152dcb4357" /><Relationship Type="http://schemas.openxmlformats.org/officeDocument/2006/relationships/notesMaster" Target="/ppt/notesMasters/notesMaster1.xml" Id="R532a7d53203e44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ccd6cd76864848" /><Relationship Type="http://schemas.openxmlformats.org/officeDocument/2006/relationships/notesMaster" Target="/ppt/notesMasters/notesMaster1.xml" Id="R900c4fd67c7b46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a371a1cfa548c7" /><Relationship Type="http://schemas.openxmlformats.org/officeDocument/2006/relationships/notesMaster" Target="/ppt/notesMasters/notesMaster1.xml" Id="Rf50b2a8f269b48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b2b36b38b24a48" /><Relationship Type="http://schemas.openxmlformats.org/officeDocument/2006/relationships/notesMaster" Target="/ppt/notesMasters/notesMaster1.xml" Id="R11a295ca9b7d4f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f971b838234df9" /><Relationship Type="http://schemas.openxmlformats.org/officeDocument/2006/relationships/notesMaster" Target="/ppt/notesMasters/notesMaster1.xml" Id="R6ad0f65ae9c641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3e2d04a0ba4485" /><Relationship Type="http://schemas.openxmlformats.org/officeDocument/2006/relationships/notesMaster" Target="/ppt/notesMasters/notesMaster1.xml" Id="R7547da9b336442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c07a4697ab4837" /><Relationship Type="http://schemas.openxmlformats.org/officeDocument/2006/relationships/notesMaster" Target="/ppt/notesMasters/notesMaster1.xml" Id="R500b4d34212b43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7b9b42c8284a54" /><Relationship Type="http://schemas.openxmlformats.org/officeDocument/2006/relationships/notesMaster" Target="/ppt/notesMasters/notesMaster1.xml" Id="Rbed7d3550e8e459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b1f4ccf51ad43f0" /><Relationship Type="http://schemas.openxmlformats.org/officeDocument/2006/relationships/notesMaster" Target="/ppt/notesMasters/notesMaster1.xml" Id="R5b83020c388a43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77eaef47e5b4d76" /><Relationship Type="http://schemas.openxmlformats.org/officeDocument/2006/relationships/notesMaster" Target="/ppt/notesMasters/notesMaster1.xml" Id="R46a7e486c3c04c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08ab06b2ba47cf" /><Relationship Type="http://schemas.openxmlformats.org/officeDocument/2006/relationships/notesMaster" Target="/ppt/notesMasters/notesMaster1.xml" Id="R3800309cb4f24b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SABRE routes a two-qubit interaction when its physical operands are connected. If the front layer is blocked, it enumerates neighboring SWAPs touching at least one active qubit. The change adds backward-looking synthesis history and estimated wire availability. It retains candidate enumeration, distance scoring, optional decay, epsilon ties, seeded randomness, and the release valve. This opening uses the fusion example developed on slide 20.</a:t>
            </a:r>
          </a:p>
          <a:p xmlns:a="http://schemas.openxmlformats.org/drawingml/2006/main">
            <a:r>
              <a:t/>
            </a:r>
          </a:p>
          <a:p xmlns:a="http://schemas.openxmlformats.org/drawingml/2006/main">
            <a:r>
              <a:t>Sources: design/sabre_best_swap_codex.md; design/sabre_best_swap_cladue.md. Commit 90ccaac29b2a547592e870797265007a128a02eb. route.rs:963–1056; codex note sections 1–3 and walkthrough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Decay is optional routing state that remembers recent reuse of physical wires. SWAPs sharing a physical wire cannot execute simultaneously, so discouraging repeated reuse can encourage more parallel routing and lower depth. This is a heuristic preference, not a guarantee of lower depth. The exact implementation is described on slides 3–5 and its extension with fusion credit and wire readiness is on slide 19.</a:t>
            </a:r>
          </a:p>
          <a:p xmlns:a="http://schemas.openxmlformats.org/drawingml/2006/main">
            <a:r>
              <a:t/>
            </a:r>
          </a:p>
          <a:p xmlns:a="http://schemas.openxmlformats.org/drawingml/2006/main">
            <a:r>
              <a:t>This slide uses the local SabreSwap named decay preset: increment 0.001, reset interval 5. It enables basic and lookahead distance components plus decay. A custom Heuristic may also enable decay, with other parameter values. State::begin sets decay[q]=1.0 for every physical wire. Scoring a candidate does not update these values. A candidate takes max(decay[a],decay[b]) as its multiplier. After selecting a heuristic SWAP, the search-step counter increases. If it reaches the reset interval, the code resets all values to 1.0 and the counter to zero, without applying endpoint increments on that step. Otherwise both selected endpoints increase by 0.001. The code also resets all decay values after update_route makes progress. That progress reset does not reset the search-step counter.</a:t>
            </a:r>
          </a:p>
          <a:p xmlns:a="http://schemas.openxmlformats.org/drawingml/2006/main">
            <a:r>
              <a:t/>
            </a:r>
          </a:p>
          <a:p xmlns:a="http://schemas.openxmlformats.org/drawingml/2006/main">
            <a:r>
              <a:t>The illustrative comparison assumes both candidates have the same positive score 4.2 before the decay multiplication and equal readiness penalties. Candidate A has no endpoint increments since reset, giving multiplier 1.0 and score 4.2. Candidate B has one increment at one endpoint, giving multiplier 1.001 and score 4.2042. Lower wins. These are illustrative scores, not a benchmark or complete routing trace. The positive-score condition matters: the new fusion credit can alter the quantity inside the multiplier. The current implementation multiplies absolute_score plus the accumulated candidate score, then adds READY_WEIGHT times the maximum endpoint readiness. Decay values are dimensionless and separate from the approximate ready-time clocks.</a:t>
            </a:r>
          </a:p>
          <a:p xmlns:a="http://schemas.openxmlformats.org/drawingml/2006/main">
            <a:r>
              <a:t/>
            </a:r>
          </a:p>
          <a:p xmlns:a="http://schemas.openxmlformats.org/drawingml/2006/main">
            <a:r>
              <a:t>Sources: qiskit/transpiler/passes/routing/sabre_swap.py:222–227; crates/transpiler/src/passes/sabre/route.rs:696, 1033–1046, 1180–1189, 1206–1210; crates/transpiler/src/passes/sabre/heuristic.rs:140–153. Local implementation at commit 90ccaac29.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formulas describe this checkout's Rust implementation, not the paper's normalization. s=(a,b) is a candidate physical edge touching an active front-layer qubit. D is the shortest-path edge-count matrix. F contains blocked front-layer two-qubit interactions; already executable nodes are routed before candidate selection. The lookahead collection can contain multiple configured layers Eℓ. S_L is exactly Layer::total_score(layout, dist). For a given candidate, Layer::score(swap, dist) returns Δ_L, evaluating only interactions affected at the endpoints, with zero contribution for inactive endpoints and zero when the two endpoints form the same interaction. It does not construct a full trial circuit or rescan the whole layer per candidate. α and βℓ denote effective weights after SetScaling. H₀ is the code variable absolute_score, accumulated from current-layout totals once per choose_best_swap call. The current implementation accumulates it even when decay is disabled, but consumes it only in the decay branch. H₀ is shared by candidates within the call, and is recomputed when the method runs again. For empty Size-scaled layers, the effective weight is zero. The basic-enabled case shown here covers all three SabreSwap named presets.</a:t>
            </a:r>
          </a:p>
          <a:p xmlns:a="http://schemas.openxmlformats.org/drawingml/2006/main">
            <a:r>
              <a:t/>
            </a:r>
          </a:p>
          <a:p xmlns:a="http://schemas.openxmlformats.org/drawingml/2006/main">
            <a:r>
              <a:t>Sources: crates/transpiler/src/passes/sabre/layer.rs:239–265; crates/transpiler/src/passes/sabre/route.rs:997–1037; qiskit/transpiler/passes/routing/sabre_swap.py:209–228. Local checkout at commit 90ccaac29.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Q_old is explanatory notation for the numerical score used by choose_best_swap before commit 90ccaac29, not a code variable or a quantum operator. The parent implementation initializes every candidate score to zero, adds effective-weight × front.score and effective-weight × lookahead layer.score, then, if decay is configured, replaces score with (absolute_score + score) × max(endpoint decay). It compares all candidate scores, retains the lowest within best_epsilon, and uses the seeded random generator to choose among ties. The current version extends this same process with fusion credit C(s) and readiness λTₛ, explained on slide 19.</a:t>
            </a:r>
          </a:p>
          <a:p xmlns:a="http://schemas.openxmlformats.org/drawingml/2006/main">
            <a:r>
              <a:t/>
            </a:r>
          </a:p>
          <a:p xmlns:a="http://schemas.openxmlformats.org/drawingml/2006/main">
            <a:r>
              <a:t>The table is exactly the Python SabreSwap named presets in this checkout. Basic uses weight 1 and SetScaling.Size, giving α=1/|F|. Lookahead and decay use α=1 and one Constant-scaled future layer β₁=0.5/N. They do not divide that lookahead sum by |E|. All other βℓ are absent in those presets. An empty lookahead contributes zero. Custom Heuristic objects can configure multiple lookahead weights and Constant or Size scaling.</a:t>
            </a:r>
          </a:p>
          <a:p xmlns:a="http://schemas.openxmlformats.org/drawingml/2006/main">
            <a:r>
              <a:t/>
            </a:r>
          </a:p>
          <a:p xmlns:a="http://schemas.openxmlformats.org/drawingml/2006/main">
            <a:r>
              <a:t>For the lookahead and decay presets only, define the explanatory code-based label H_lookahead(π)=S_F(π)+(0.5/N)S_E₁(π). Hence H_lookahead(π)=H₀ and H_lookahead(πₛ)=H₀+Δ(s). The lookahead preset compares Q_old(s)=H_lookahead(πₛ)−H_lookahead(π)=Δ(s), which has the same ordering as its absolute score because H₀ is common. The decay preset uses Q_old(s)=H_decay(s)=dₛH_lookahead(πₛ). These H labels are descriptions of the corresponding Rust branches; the code has no functions named H_lookahead or H_decay. They are alternative scoring configurations, not separately added terms. The code's basic and lookahead branches accumulate deltas, and the decay branch transforms that accumulated score. Selection tolerates best_epsilon differences (default 1e-10). Across completed trials, a separate step chooses the trial with the fewest inserted SWAPs.</a:t>
            </a:r>
          </a:p>
          <a:p xmlns:a="http://schemas.openxmlformats.org/drawingml/2006/main">
            <a:r>
              <a:t/>
            </a:r>
          </a:p>
          <a:p xmlns:a="http://schemas.openxmlformats.org/drawingml/2006/main">
            <a:r>
              <a:t>Sources: qiskit/transpiler/passes/routing/sabre_swap.py:209–228; crates/transpiler/src/passes/sabre/route.rs:997–1056 and parent of commit 90ccaac29, choose_best_swap; crates/transpiler/src/passes/sabre/heuristic.rs:213 and 243–271.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named decay preset has increment=0.001 and reset=5. State::begin initializes every physical qubit decay value to 1.0. Candidate scoring reads current decay values and sets dₛ=max(decay[a],decay[b]); merely evaluating a candidate never increments the counters. After a heuristic-selected swap, num_search_steps increases. If it reaches the reset interval, all decay values become 1.0 and num_search_steps becomes 0, with no endpoint increment on that reset step. Otherwise both chosen endpoint values increase by increment. At the end of an episode, after update_route routes newly enabled nodes, the code also fills all decay values with 1.0. That progress reset does not set num_search_steps to zero. Thus n_q is the number of increment operations on q since the most recent decay-value reset; it is not the total number of times q has appeared in the circuit. The preset formula is decay[q]=1+0.001 n_q. Custom decay settings can use other increments and reset intervals.</a:t>
            </a:r>
          </a:p>
          <a:p xmlns:a="http://schemas.openxmlformats.org/drawingml/2006/main">
            <a:r>
              <a:t/>
            </a:r>
          </a:p>
          <a:p xmlns:a="http://schemas.openxmlformats.org/drawingml/2006/main">
            <a:r>
              <a:t>Illustrative arithmetic uses the actual named-preset weights: N=5, α=1, β₁=0.1. Current front total 5 and future total 2 give H₀=5.2. Both candidate swaps change the front total by −1 and the future total by 0, giving Δ=−1 and absolute post-swap distance 4.2. For A, assume max endpoint decay=1.002 (two increments since reset); for B, both endpoint values are 1.0. A scores 1.002×4.2=4.2084; B scores 1×4.2=4.2. B wins. Multiplying the negative delta alone would score A=−1.002 and B=−1, reversing the intended reuse penalty. This is why absolute_score must be restored before multiplying. These are illustrative layer sums and endpoint states, not a measured benchmark or a full routing trace.</a:t>
            </a:r>
          </a:p>
          <a:p xmlns:a="http://schemas.openxmlformats.org/drawingml/2006/main">
            <a:r>
              <a:t/>
            </a:r>
          </a:p>
          <a:p xmlns:a="http://schemas.openxmlformats.org/drawingml/2006/main">
            <a:r>
              <a:t>Decay is dimensionless and discourages repeated use of physical wires. It is distinct from the new readiness clocks, which approximate schedule layers from the schedule origin. In the current code, decay multiplies H₀+U(s), while READY_WEIGHT×max(ready[a],ready[b]) is added afterward and does not receive a decay multiplier.</a:t>
            </a:r>
          </a:p>
          <a:p xmlns:a="http://schemas.openxmlformats.org/drawingml/2006/main">
            <a:r>
              <a:t/>
            </a:r>
          </a:p>
          <a:p xmlns:a="http://schemas.openxmlformats.org/drawingml/2006/main">
            <a:r>
              <a:t>Sources: crates/transpiler/src/passes/sabre/route.rs:696, 1033–1046, 1180–1189, 1206–1210; qiskit/transpiler/passes/routing/sabre_swap.py:222–227; crates/transpiler/src/passes/sabre/heuristic.rs:140–153.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block is a contiguous run involving at most the same two physical wires, with one-qubit gates allowed and no intervening operation that prevents consolidation. In this tracker an open block requires reciprocal last_block partners. The code checks reciprocal partners, rather than comparing c values; valid updates write the same c to both. A third-wire gate overwrites its endpoint, making any old partner entry stale. The reciprocal test rejects such stale entries. An inserted SWAP may fuse with the previous block in later optimization, but advance_swap closes tracked history on both endpoints. The credit models separate cost c+3 and combined cost min(3,c+1). Dividing saved native gates by 3 expresses the saving in SWAP-cost units. For c=1 the simple CX+SWAP cancellation is exact. For general blocks it is a heuristic, not a guaranteed synthesis count.</a:t>
            </a:r>
          </a:p>
          <a:p xmlns:a="http://schemas.openxmlformats.org/drawingml/2006/main">
            <a:r>
              <a:t/>
            </a:r>
          </a:p>
          <a:p xmlns:a="http://schemas.openxmlformats.org/drawingml/2006/main">
            <a:r>
              <a:t>Sources: design/sabre_best_swap_codex.md; design/sabre_best_swap_cladue.md. Commit 90ccaac29b2a547592e870797265007a128a02eb. dag.rs:79–113; route.rs:728–757 and 971–995; codex note sections 4, 6, 8; cladue note section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credit as (estimated combined cost minus separate cost) divided by three. c is the estimated native two-qubit cost of the preceding open block, taking values 1, 2, or 3. Separate implementation costs c+3. The heuristic models the combined cost as min(3,c+1): one extra CX-like gate, capped at three. This is a model, not an exact synthesis calculation for arbitrary blocks. For c=1 and a preceding CX, the illustration is exact: expand the SWAP into three CX gates with the first matching the preceding CX. Two identical consecutive CX gates cancel, leaving two CXs. Therefore separate cost is four, combined cost is two, and credit is (2-4)/3=-2/3. A negative credit lowers the score because SABRE minimizes it. Division by three expresses saved CX gates in standalone-SWAP units. The credit applies only to an eligible reciprocal open block on the same physical pair; otherwise C(s)=0. The two-qubit consolidation/synthesis pass realizes the saving later.</a:t>
            </a:r>
          </a:p>
          <a:p xmlns:a="http://schemas.openxmlformats.org/drawingml/2006/main">
            <a:r>
              <a:t/>
            </a:r>
          </a:p>
          <a:p xmlns:a="http://schemas.openxmlformats.org/drawingml/2006/main">
            <a:r>
              <a:t>Sources: design/sabre_best_swap_codex.md, section 8 and visual walkthrough A10; design/sabre_best_swap_cladue.md, section 9.2; crates/transpiler/src/passes/sabre/route.rs:971–995. Commit 90ccaac29.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replaces the earlier compact description with a single end-to-end example. A source operation, a compressed SabreNode, and State.last_block are three different objects. Construction of SabreDAG happens before a routing trial. SabreNode.indices retains the IDs of all source operations folded into that node. SabreNode.kind records the routing interaction requirement, expressed using virtual/logical qubits. SabreNode.block is the precomputed contribution of that compressed node to a later physical block. State.last_block is separate, mutable, indexed by physical wires, and updated only as the router commits nodes or SWAPs.</a:t>
            </a:r>
          </a:p>
          <a:p xmlns:a="http://schemas.openxmlformats.org/drawingml/2006/main">
            <a:r>
              <a:t/>
            </a:r>
          </a:p>
          <a:p xmlns:a="http://schemas.openxmlformats.org/drawingml/2006/main">
            <a:r>
              <a:t>SabreDAG::from_dag traverses topological_op_nodes(false), so all input dependencies have already been considered. Its wire_pos map associates each DAG wire with its current preceding SABRE node. The predecessor classifier returns AllUnmapped when every incoming wire is unmapped, Single when every wire points to the same SABRE node, and Multiple when the incoming mappings differ, including one mapped wire and one previously unused wire. For Single, the builder folds any incoming InteractionKind::Synchronize, or an incoming TwoQ when the previous node is also TwoQ. It appends the original DAG operation ID to prev.indices, keeps the existing kind, and updates prev.block with the capped sum if both contributions are Some. If either is None, prev.block becomes None. Unmatched kinds or Multiple create a new node with indices=[current operation], kind=current kind, block=current contribution and dependency edges to mapped predecessors. AllUnmapped creates a first-layer interaction node, while layout-independent Synchronize operations such as leading 1q gates go in the initial list. Control flow has its own recursive classification; the example uses ordinary gates only.</a:t>
            </a:r>
          </a:p>
          <a:p xmlns:a="http://schemas.openxmlformats.org/drawingml/2006/main">
            <a:r>
              <a:t/>
            </a:r>
          </a:p>
          <a:p xmlns:a="http://schemas.openxmlformats.org/drawingml/2006/main">
            <a:r>
              <a:t>Some(n) is Rust's Option wrapper for a present numeric estimate. Some(0) carries a valid zero contribution and can preserve an existing block cost. None is a boundary marker and is not interchangeable with numeric zero. A positive stored c in last_block is created later during routing from node.block. None in a routed TwoQ node clears the physical-pair entries. The original source gates remain in indices and are emitted in their stored order when the routing result is rebuilt.</a:t>
            </a:r>
          </a:p>
          <a:p xmlns:a="http://schemas.openxmlformats.org/drawingml/2006/main">
            <a:r>
              <a:t/>
            </a:r>
          </a:p>
          <a:p xmlns:a="http://schemas.openxmlformats.org/drawingml/2006/main">
            <a:r>
              <a:t>Local implementation at commit 90ccaac29. Sources: crates/transpiler/src/passes/sabre/dag.rs:29–113, 137–246; crates/transpiler/src/passes/sabre/route.rs:54–60, 599–607, 703–755, 963–1056, 1161–1208.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two different update sites in the implementation. During SabreDAG::from_dag, block_gates classifies each incoming operation. It checks boundary operation types first: ControlFlow, StandardInstruction (including barrier, measurement and reset), Store and PauliProductMeasurement return None. Otherwise one-qubit operations contribute Some(0), the native CX/CY/CZ/ECR gate variants contribute Some(1), other two-qubit operations contribute Some(3), and other arities return None. If the gate can be folded into the preceding SABRE node, prev.block.zip(gates).map(|(n,gates)| (n+gates).min(3)) combines the two present values. Either None makes the result None. A newly created node gets its own contribution directly.</a:t>
            </a:r>
          </a:p>
          <a:p xmlns:a="http://schemas.openxmlformats.org/drawingml/2006/main">
            <a:r>
              <a:t/>
            </a:r>
          </a:p>
          <a:p xmlns:a="http://schemas.openxmlformats.org/drawingml/2006/main">
            <a:r>
              <a:t>Later, advance_routed handles a compressed TwoQ node using its operands mapped through the current layout. It reads open only if last_block[a] stores partner b and last_block[b] stores partner a. Otherwise open is zero. The actual expression node.block.map_or(0, |gates| (open+gates).min(3)) yields c. A positive result is stored as reciprocal entries at a and b. Zero clears both entries. A non-TwoQ routed node clears the physical block history on every qubit in its stored original operations. This operation does not modify the original node.block.</a:t>
            </a:r>
          </a:p>
          <a:p xmlns:a="http://schemas.openxmlformats.org/drawingml/2006/main">
            <a:r>
              <a:t/>
            </a:r>
          </a:p>
          <a:p xmlns:a="http://schemas.openxmlformats.org/drawingml/2006/main">
            <a:r>
              <a:t>The table gives generic physical-history inputs to the update, not extra steps in the long example. Some(0) is numeric zero and can preserve an existing positive open cost; None forces c=0. Readiness is a separate approximation, incrementing once per compressed TwoQ node. Local implementation at commit 90ccaac29. Sources: crates/transpiler/src/passes/sabre/dag.rs:29–113, 137–246; crates/transpiler/src/passes/sabre/route.rs:54–60, 599–607, 703–755, 963–1056, 1161–1208.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main example uses three logical qubits. Source operations g1 through g10, in dependency order, are: CX(q0,q1); H(q0); RZ(pi/4,q1); CZ(q0,q1); RX(pi/3,q0); CX(q1,q0); H(q1); CY(q0,q1); RZ(pi/7,q0); CZ(q0,q1). Labels g1 etc. are explanatory labels for original DAG operation IDs, not a claim about the numeric NodeIndex values. Rotation angles are illustrative; they do not affect block_gates contributions.</a:t>
            </a:r>
          </a:p>
          <a:p xmlns:a="http://schemas.openxmlformats.org/drawingml/2006/main">
            <a:r>
              <a:t/>
            </a:r>
          </a:p>
          <a:p xmlns:a="http://schemas.openxmlformats.org/drawingml/2006/main">
            <a:r>
              <a:t>At g1 both incoming quantum wires are unmapped, so the builder creates A with indices=[g1], kind=TwoQ([q0,q1]), block=Some(1), and both wire_pos entries pointing to A. Each of g2 through g10 depends only on A along every incoming wire. The 1q operations have Synchronize interaction kind and fold into A. Each later 2q operation is TwoQ after TwoQ and also folds into A; reversed CX direction does not change the pair or the predecessor condition. Every append pushes the gate's ID into indices. block_gates gives one to each CX, CZ and CY here, and zero to the unitary 1q gates. The cumulative estimates are 1,1,1,2,2,3,3,3,3,3. The last two 2q gates still enter indices even though the estimate has reached the cap.</a:t>
            </a:r>
          </a:p>
          <a:p xmlns:a="http://schemas.openxmlformats.org/drawingml/2006/main">
            <a:r>
              <a:t/>
            </a:r>
          </a:p>
          <a:p xmlns:a="http://schemas.openxmlformats.org/drawingml/2006/main">
            <a:r>
              <a:t>After step k, A.indices contains g1 through gk. After g10, the node holds ten original operations, including five 2q operations, but its cost estimate is three. This cap is a routing heuristic estimate and does not perform gate synthesis or promise an exact final native gate count. A.block is computed during construction. It does not grow again simply because the routing trial later visits those ten stored operations. Routing A calls the physical-history update once for the compressed TwoQ node.</a:t>
            </a:r>
          </a:p>
          <a:p xmlns:a="http://schemas.openxmlformats.org/drawingml/2006/main">
            <a:r>
              <a:t/>
            </a:r>
          </a:p>
          <a:p xmlns:a="http://schemas.openxmlformats.org/drawingml/2006/main">
            <a:r>
              <a:t>Local implementation at commit 90ccaac29. Sources: crates/transpiler/src/passes/sabre/dag.rs:29–113, 137–246; crates/transpiler/src/passes/sabre/route.rs:54–60, 599–607, 703–755, 963–1056, 1161–1208.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 g11=CX(q0,q2) after the ten-gate sequence on the preceding slide. Its q0 incoming wire maps to A, while q2 is still unmapped in wire_pos. Therefore predecessors returns Multiple. The builder creates node B, sets B.indices=[g11], B.kind=TwoQ([q0,q2]), B.block=Some(1), and adds a dependency edge from A to B. It updates the relevant wire_pos entries to B. The complete compressed graph for this example has just A followed by B, even though the source circuit has eleven operations.</a:t>
            </a:r>
          </a:p>
          <a:p xmlns:a="http://schemas.openxmlformats.org/drawingml/2006/main">
            <a:r>
              <a:t/>
            </a:r>
          </a:p>
          <a:p xmlns:a="http://schemas.openxmlformats.org/drawingml/2006/main">
            <a:r>
              <a:t>Routing uses a three-wire line with edges P0-P1 and P1-P2 and initial identity layout. No control flow, boundary, or additional operations are present in this main example. A is initially routable because its logical pair q0,q1 maps to adjacent P0,P1. All ten source operations in A become part of the routed order. Initially ready is [0,0,0] and every last_block entry is None. State::begin eventually calls advance_routed on the routed order. For A, no reciprocal history exists, so open=0. With A.block=Some(3), new c=min(3,0+3)=3. It writes reciprocal entries last_block[P0]=(P1,3) and last_block[P1]=(P0,3), while P2 remains None.</a:t>
            </a:r>
          </a:p>
          <a:p xmlns:a="http://schemas.openxmlformats.org/drawingml/2006/main">
            <a:r>
              <a:t/>
            </a:r>
          </a:p>
          <a:p xmlns:a="http://schemas.openxmlformats.org/drawingml/2006/main">
            <a:r>
              <a:t>The ready update runs once for the compressed TwoQ node A, setting P0 and P1 to max(0,0)+1=1. It does not use the ten source operations or the cost c=3 as the duration. Thus ready=[1,1,0]. B has satisfied its logical dependency on A but is not yet physically routable: q0 is on P0 and q2 is on P2, with distance two. B is the only front-layer interaction. A.block remains the immutable precomputed value Some(3); the new physical-pair c lives in State.last_block.</a:t>
            </a:r>
          </a:p>
          <a:p xmlns:a="http://schemas.openxmlformats.org/drawingml/2006/main">
            <a:r>
              <a:t/>
            </a:r>
          </a:p>
          <a:p xmlns:a="http://schemas.openxmlformats.org/drawingml/2006/main">
            <a:r>
              <a:t>Local implementation at commit 90ccaac29. Sources: crates/transpiler/src/passes/sabre/dag.rs:29–113, 137–246; crates/transpiler/src/passes/sabre/route.rs:54–60, 599–607, 703–755, 963–1056, 1161–1208.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exact main example from slides 10–11. B is the only front-layer interaction, so the basic preset's Size-scaled weight is α=1/|F|=1. The preset has no lookahead and no decay. Initial physical state after A: ready=[1,1,0], last_block[P0]=(P1,3), last_block[P1]=(P0,3), last_block[P2]=None. B connects q0 and q2 on P0 and P2.</a:t>
            </a:r>
          </a:p>
          <a:p xmlns:a="http://schemas.openxmlformats.org/drawingml/2006/main">
            <a:r>
              <a:t/>
            </a:r>
          </a:p>
          <a:p xmlns:a="http://schemas.openxmlformats.org/drawingml/2006/main">
            <a:r>
              <a:t>The candidate hardware edges are {P0,P1} and {P1,P2}, each touching an active operand of B. The slide writes each SWAP with increasing endpoint labels for readability; the implementation may enumerate the second as [P2,P1] because P2 is the active endpoint. SWAP is symmetric. Both candidates change the front-layer distance from two to one, so ΔF=-1. Candidate s1 on P0,P1 finds the reciprocal history with c=3, giving C(s1)=(min(3,3+1)-(3+3))/3=(3-6)/3=-1. Candidate s2 involves P2 with no open-block history, giving zero.</a:t>
            </a:r>
          </a:p>
          <a:p xmlns:a="http://schemas.openxmlformats.org/drawingml/2006/main">
            <a:r>
              <a:t/>
            </a:r>
          </a:p>
          <a:p xmlns:a="http://schemas.openxmlformats.org/drawingml/2006/main">
            <a:r>
              <a:t>Both candidates have Tₛ=1: s1 uses ready values 1 and 1, while s2 uses 1 and 0. The readiness penalty is therefore 0.000022 for both. With α=1 and no lookahead/decay, the exact new comparison score is ΔF+C(s)+READY_WEIGHT*Tₛ. s1 scores -1.999978. s2 scores -0.999978. s1 wins clearly; there is no epsilon tie. The scoring function reads the existing last_block and ready values and initializes candidate scratch scores, but it does not mutate the physical history during candidate evaluation. The chosen SWAP is applied afterward.</a:t>
            </a:r>
          </a:p>
          <a:p xmlns:a="http://schemas.openxmlformats.org/drawingml/2006/main">
            <a:r>
              <a:t/>
            </a:r>
          </a:p>
          <a:p xmlns:a="http://schemas.openxmlformats.org/drawingml/2006/main">
            <a:r>
              <a:t>The fusion credit estimates a later synthesis benefit. This example does not assert that the ten-gate prefix plus SWAP has an exactly measured three-CX realization. It illustrates the scoring formula implemented by the code.</a:t>
            </a:r>
          </a:p>
          <a:p xmlns:a="http://schemas.openxmlformats.org/drawingml/2006/main">
            <a:r>
              <a:t/>
            </a:r>
          </a:p>
          <a:p xmlns:a="http://schemas.openxmlformats.org/drawingml/2006/main">
            <a:r>
              <a:t>Local implementation at commit 90ccaac29. Sources: crates/transpiler/src/passes/sabre/dag.rs:29–113, 137–246; crates/transpiler/src/passes/sabre/route.rs:54–60, 599–607, 703–755, 963–1056, 1161–1208.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candidate s1=SWAP(P0,P1) is applied after scoring. apply_swap updates the layout and layer structure, moving logical q0 to P1 and q1 to P0. q2 stays at P2. advance_swap pushes snapshots (P0,1,Some((P1,3))) and (P1,1,Some((P0,3))) onto ready_undo. The .take() calls clear both last_block entries. Both endpoint clocks become max(1,1)+3=4, giving ready=[4,4,0]. Physical history is cleared rather than rewritten to the heuristic's estimated min(3,c+1). A.block itself remains Some(3), because it is build-time node metadata.</a:t>
            </a:r>
          </a:p>
          <a:p xmlns:a="http://schemas.openxmlformats.org/drawingml/2006/main">
            <a:r>
              <a:t/>
            </a:r>
          </a:p>
          <a:p xmlns:a="http://schemas.openxmlformats.org/drawingml/2006/main">
            <a:r>
              <a:t>After this SWAP, B=CX(q0,q2) has operands on adjacent P1,P2 and can be routed. Its ready update gives max(ready[P1]=4,ready[P2]=0)+1=5 for both, resulting in [4,5,5]. Its endpoints have no reciprocal open block, so open=0. B.block=Some(1), so c=min(3,0+1)=1. It writes last_block[P1]=(P2,1), last_block[P2]=(P1,1), while P0 remains None. The stored c=3 from A does not carry across the chosen SWAP. The source metadata A.block=Some(3) and B.block=Some(1) remains unchanged throughout.</a:t>
            </a:r>
          </a:p>
          <a:p xmlns:a="http://schemas.openxmlformats.org/drawingml/2006/main">
            <a:r>
              <a:t/>
            </a:r>
          </a:p>
          <a:p xmlns:a="http://schemas.openxmlformats.org/drawingml/2006/main">
            <a:r>
              <a:t>This main example succeeds immediately after one SWAP, so the undo snapshots are not popped. They are available if a search needs rollback, as discussed later in the deck. The table is a full state trace for the gates and hardware specified in this section. It is independent of seeded tie-breaking because the winning candidate had a strictly smaller score. Trial selection is separate from the per-candidate score and is not part of this trace.</a:t>
            </a:r>
          </a:p>
          <a:p xmlns:a="http://schemas.openxmlformats.org/drawingml/2006/main">
            <a:r>
              <a:t/>
            </a:r>
          </a:p>
          <a:p xmlns:a="http://schemas.openxmlformats.org/drawingml/2006/main">
            <a:r>
              <a:t>Local implementation at commit 90ccaac29. Sources: crates/transpiler/src/passes/sabre/dag.rs:29–113, 137–246; crates/transpiler/src/passes/sabre/route.rs:54–60, 599–607, 703–755, 963–1056, 1161–1208.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variant of the main long-block example, not an additional step after the SWAP trace. Keep the original g1 through g10 on q0,q1. Replace the next-operation tail with g11=barrier(q0,q1), g12=CX(q0,q1), g13=CX(q0,q2).</a:t>
            </a:r>
          </a:p>
          <a:p xmlns:a="http://schemas.openxmlformats.org/drawingml/2006/main">
            <a:r>
              <a:t/>
            </a:r>
          </a:p>
          <a:p xmlns:a="http://schemas.openxmlformats.org/drawingml/2006/main">
            <a:r>
              <a:t>After g10, both wire_pos entries point to node A and A.block=Some(3). A barrier is classified as InteractionKind::Synchronize and block_gates returns None for its StandardInstruction representation. Every incoming wire of this barrier has the same SABRE predecessor A, so the Single folding branch appends the barrier to A.indices. prev.block.zip(gates) now receives Some(3) and None, producing None. It does not force creation of a new node. The next CX(q0,q1) also has only A as predecessor, and both previous/incoming kinds are TwoQ because folding a Synchronize operation did not change A.kind. Its ID appends to A, but None.zip(Some(1)) is still None. Therefore the same node retains None even after a later numeric contribution. A.indices now contains twelve original operations.</a:t>
            </a:r>
          </a:p>
          <a:p xmlns:a="http://schemas.openxmlformats.org/drawingml/2006/main">
            <a:r>
              <a:t/>
            </a:r>
          </a:p>
          <a:p xmlns:a="http://schemas.openxmlformats.org/drawingml/2006/main">
            <a:r>
              <a:t>The final CX(q0,q2) has a mapped q0 wire and previously unmapped q2 wire, creating a new node B with block=Some(1), exactly as in the main example's node-boundary logic. This is a fresh estimate independent of A's None.</a:t>
            </a:r>
          </a:p>
          <a:p xmlns:a="http://schemas.openxmlformats.org/drawingml/2006/main">
            <a:r>
              <a:t/>
            </a:r>
          </a:p>
          <a:p xmlns:a="http://schemas.openxmlformats.org/drawingml/2006/main">
            <a:r>
              <a:t>When A is routed on P0,P1, advance_routed sees A.block=None and computes c=0, clearing the physical-pair block entries. The node is still routable as a compressed TwoQ interaction and its original gates, including the barrier and following CX, are retained for output. It advances the approximate ready clocks once. The router's conservative tracking gives this entire node no fusion credit, even though the suffix after the barrier contains a CX. Thus SWAP(P0,P1) receives C=0 at the next candidate-scoring point. A newly created later node can carry its own Some value. None is a persistent boundary marker within a compressed node, whereas Some(0) would preserve a preceding numeric value under addition.</a:t>
            </a:r>
          </a:p>
          <a:p xmlns:a="http://schemas.openxmlformats.org/drawingml/2006/main">
            <a:r>
              <a:t/>
            </a:r>
          </a:p>
          <a:p xmlns:a="http://schemas.openxmlformats.org/drawingml/2006/main">
            <a:r>
              <a:t>Local implementation at commit 90ccaac29. Sources: crates/transpiler/src/passes/sabre/dag.rs:29–113, 137–246; crates/transpiler/src/passes/sabre/route.rs:54–60, 599–607, 703–755, 963–1056, 1161–1208.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ready[q] is a u32 value indexed by PhysicalQubit, representing the approximate two-qubit schedule time when that physical wire next becomes free. All values initialize to zero, then advance_routed accounts for the gates routed during State::begin. The values remain attached to physical wires: apply_swap changes the logical layout and distance-layer state but does not exchange the ready or last_block array entries. Times are measured from the estimated schedule origin, not wall-clock time. Candidate scoring does not subtract a global current time.</a:t>
            </a:r>
          </a:p>
          <a:p xmlns:a="http://schemas.openxmlformats.org/drawingml/2006/main">
            <a:r>
              <a:t/>
            </a:r>
          </a:p>
          <a:p xmlns:a="http://schemas.openxmlformats.org/drawingml/2006/main">
            <a:r>
              <a:t>advance_routed handles each routed InteractionKind::TwoQ node at its current physical operands a and b. It sets both clocks to max(ready[a],ready[b])+1. This counts one compressed SABRE TwoQ node as one layer even if multiple circuit gates were folded into that node. Other node kinds do not advance these clocks. Thus this is a routing heuristic, not a duration-calibrated hardware schedule.</a:t>
            </a:r>
          </a:p>
          <a:p xmlns:a="http://schemas.openxmlformats.org/drawingml/2006/main">
            <a:r>
              <a:t/>
            </a:r>
          </a:p>
          <a:p xmlns:a="http://schemas.openxmlformats.org/drawingml/2006/main">
            <a:r>
              <a:t>advance_swap runs only for SWAPs actually applied to the routing search, including fallback SWAPs. It saves the previous endpoint clocks and blocks in ready_undo, clears the endpoint block entries, and sets both endpoint clocks to max(ready[a],ready[b])+SWAP_DEPTH, where SWAP_DEPTH=3. That increment remains three even when the selected SWAP received a fusion credit. Scoring candidate SWAPs merely reads the clocks. For candidate s=(a,b), Tₛ=max(ready[a],ready[b]) is its estimated start time. choose_best_swap adds READY_WEIGHT*Tₛ after the optional decay multiplication, with READY_WEIGHT=2.2e-5. The penalty uses the start time, not the completion time t+3.</a:t>
            </a:r>
          </a:p>
          <a:p xmlns:a="http://schemas.openxmlformats.org/drawingml/2006/main">
            <a:r>
              <a:t/>
            </a:r>
          </a:p>
          <a:p xmlns:a="http://schemas.openxmlformats.org/drawingml/2006/main">
            <a:r>
              <a:t>Example update trace, starting from [0,0,0,0]: route a standalone CX on P0,P1, yielding [1,1,0,0]. Route a standalone CX on disjoint P2,P3, yielding [1,1,1,1]; its start can also be zero because its wires were unused. Apply SWAP(P1,P2), starting at max(1,1)=1 and ending at 4, yielding [1,4,4,1]. A candidate with Tₛ=1 pays 0.000022 before being applied. This illustrates the state updates and is not a complete routing trace for a particular front layer. The two independent CX nodes are assumed to remain separate SABRE nodes.</a:t>
            </a:r>
          </a:p>
          <a:p xmlns:a="http://schemas.openxmlformats.org/drawingml/2006/main">
            <a:r>
              <a:t/>
            </a:r>
          </a:p>
          <a:p xmlns:a="http://schemas.openxmlformats.org/drawingml/2006/main">
            <a:r>
              <a:t>Sources: crates/transpiler/src/passes/sabre/route.rs:54–60, 599–607, 703–709, 715–755, 762–765, 945–948, 1040–1046. Local implementation at commit 90ccaac29.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describes the implementation in this checkout, not the paper's abstract heuristic. Physical-wire readiness and decay partially overlap: a selected SWAP raises both endpoint ready clocks and usually both endpoint decay factors. Both can therefore discourage further use of those wires. Their state, history and score effects differ.</a:t>
            </a:r>
          </a:p>
          <a:p xmlns:a="http://schemas.openxmlformats.org/drawingml/2006/main">
            <a:r>
              <a:t/>
            </a:r>
          </a:p>
          <a:p xmlns:a="http://schemas.openxmlformats.org/drawingml/2006/main">
            <a:r>
              <a:t>State::begin initializes ready to zero and decay to one. advance_swap sets both endpoint ready clocks to max(old ready[a], old ready[b]) + SWAP_DEPTH, where SWAP_DEPTH=3. It records the prior endpoint clocks and block history in ready_undo. advance_routed sets the clocks for each routed compressed TwoQ node to the maximum endpoint clock plus one. This increment is per SABRE node, not per original operation folded into that node. The +3 and +1 in the table are increments above the maximum endpoint clock, not independent additions to each endpoint's former value. Non-TwoQ routed node kinds do not advance ready in this function. Readiness persists across routing progress. Rollback restores the saved clocks for discarded search SWAPs.</a:t>
            </a:r>
          </a:p>
          <a:p xmlns:a="http://schemas.openxmlformats.org/drawingml/2006/main">
            <a:r>
              <a:t/>
            </a:r>
          </a:p>
          <a:p xmlns:a="http://schemas.openxmlformats.org/drawingml/2006/main">
            <a:r>
              <a:t>When decay is enabled, each heuristic-selected search SWAP increments the search-step count. If that count reaches the configured reset interval, all decay values become one and the count becomes zero. Otherwise, the selected SWAP's two endpoints gain the configured increment. After routing progress, all decay values reset to one again. The decay preset in sabre_swap.py uses increment 0.001 and reset interval 5. Fallback SWAPs advance readiness through advance_swap but are not separately processed by the search-loop decay increment. The deck's worked example uses the basic preset; the state values on this slide illustrate the same ready trace with decay enabled, after the successful route resets decay.</a:t>
            </a:r>
          </a:p>
          <a:p xmlns:a="http://schemas.openxmlformats.org/drawingml/2006/main">
            <a:r>
              <a:t/>
            </a:r>
          </a:p>
          <a:p xmlns:a="http://schemas.openxmlformats.org/drawingml/2006/main">
            <a:r>
              <a:t>In choose_best_swap, before decay, score[s] contains the candidate's weighted distance changes and fusion credit. absolute_score contains the current weighted distance baseline for the basic and lookahead terms. Thus R(s)=absolute_score+score[s] is the baseline plus the candidate adjustment, with the code's fusion estimate included. The notation score[s] labels the scratch score belonging to candidate s in swap_scores; it is explanatory notation rather than a Rust indexing expression. With decay enabled the function computes D(s)*R(s), then adds READY_WEIGHT*T(s), where READY_WEIGHT=2.2e-5. Readiness is not multiplied by decay. Candidate comparison favors smaller scores, subject to best_epsilon. Decay's intended penalizing effect assumes a positive underlying routing score. The exact expression, including any credit, governs edge cases.</a:t>
            </a:r>
          </a:p>
          <a:p xmlns:a="http://schemas.openxmlformats.org/drawingml/2006/main">
            <a:r>
              <a:t/>
            </a:r>
          </a:p>
          <a:p xmlns:a="http://schemas.openxmlformats.org/drawingml/2006/main">
            <a:r>
              <a:t>The rationale for retaining both is complementary information. Decay supplies a temporary bias related to recent search SWAPs. Readiness supplies an approximate accumulated scheduling signal that also includes routed TwoQ nodes and survives decay resets. Neither state can be reconstructed from the other. Neither mechanism is necessary for routing correctness, and decay is optional: readiness also applies in basic and lookahead presets. A performance claim that the combination always yields better circuits would require comparative benchmarks. This slide states the design rationale without claiming such evidence.</a:t>
            </a:r>
          </a:p>
          <a:p xmlns:a="http://schemas.openxmlformats.org/drawingml/2006/main">
            <a:r>
              <a:t/>
            </a:r>
          </a:p>
          <a:p xmlns:a="http://schemas.openxmlformats.org/drawingml/2006/main">
            <a:r>
              <a:t>Sources: crates/transpiler/src/passes/sabre/route.rs:54–60, 690–755, 963–1056, 1161–1210; qiskit/transpiler/passes/routing/sabre_swap.py:217–227. Local code at commit 90ccaac29.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last_block[q] is Option&lt;(PhysicalQubit,u8)&gt; and starts as None. A positive pair (partner,c) records the most recently open two-qubit block and its estimated native two-qubit gate count c, capped at three. For a candidate SWAP(a,b), the fusion-credit code requires both entries to refer reciprocally to the same physical pair. A stale partner entry alone is insufficient. These values are attached to physical wires, independently of the logical layout.</a:t>
            </a:r>
          </a:p>
          <a:p xmlns:a="http://schemas.openxmlformats.org/drawingml/2006/main">
            <a:r>
              <a:t/>
            </a:r>
          </a:p>
          <a:p xmlns:a="http://schemas.openxmlformats.org/drawingml/2006/main">
            <a:r>
              <a:t>When a TwoQ node is routed, advance_routed checks whether both endpoint entries name each other. If so, open equals their current cost; otherwise open is zero. When node.block is Some(gates), the new c is min(3,open+gates). For node.block=None, c is zero. A positive c writes reciprocal entries; zero clears them. Other interaction kinds clear last_block on the affected physical wires without advancing the ready clocks. A gate involving a third wire may leave an old partner entry in memory, but reciprocal checking prevents reuse of the stale history. Fusion details and the meaning of c are already explained on slides 6–7.</a:t>
            </a:r>
          </a:p>
          <a:p xmlns:a="http://schemas.openxmlformats.org/drawingml/2006/main">
            <a:r>
              <a:t/>
            </a:r>
          </a:p>
          <a:p xmlns:a="http://schemas.openxmlformats.org/drawingml/2006/main">
            <a:r>
              <a:t>ready_undo is a Vec&lt;(PhysicalQubit,u32,Option&lt;(PhysicalQubit,u8)&gt;)&gt; used as a last-in-first-out stack. advance_swap pushes a snapshot for each endpoint: physical q, its old ready time, and its old last_block entry. The .take() operation both saves and clears the block entry. It then advances both endpoint clocks by the +3 rule on slide 15. Each additional attempted SWAP appends two more snapshots. Candidate evaluation alone writes no snapshots.</a:t>
            </a:r>
          </a:p>
          <a:p xmlns:a="http://schemas.openxmlformats.org/drawingml/2006/main">
            <a:r>
              <a:t/>
            </a:r>
          </a:p>
          <a:p xmlns:a="http://schemas.openxmlformats.org/drawingml/2006/main">
            <a:r>
              <a:t>If the search exceeds attempt_limit without producing a routable node, the release valve first reverses attempted SWAPs to restore layout and layer state. It then pops ready_undo, restoring each saved ready and last_block value. Reverse order matters because the same wire may appear in several attempted SWAPs. After restoring state, force_enable_closest_node chooses fallback SWAPs; those also use apply_swap and advance_swap. If the search succeeds, the endpoint state remains and the log is cleared at the beginning of the next search episode.</a:t>
            </a:r>
          </a:p>
          <a:p xmlns:a="http://schemas.openxmlformats.org/drawingml/2006/main">
            <a:r>
              <a:t/>
            </a:r>
          </a:p>
          <a:p xmlns:a="http://schemas.openxmlformats.org/drawingml/2006/main">
            <a:r>
              <a:t>The table is an illustrative state transition after one routed standalone CX(P0,P1), giving ready=(1,1) and last_block[0]=(1,1), last_block[1]=(0,1). Applying SWAP(P0,P1) saves (P0,1,(P1,1)) and (P1,1,(P0,1)), sets both ready values to 4 and clears both blocks. The candidate can receive fusion credit before this clearing, but a later SWAP cannot reuse that same tracked block. If the containing search is rolled back, the saved clocks and reciprocal block entries return. This is a rollback illustration, not a claim that the pictured SWAP necessarily fails to enable a front-layer gate.</a:t>
            </a:r>
          </a:p>
          <a:p xmlns:a="http://schemas.openxmlformats.org/drawingml/2006/main">
            <a:r>
              <a:t/>
            </a:r>
          </a:p>
          <a:p xmlns:a="http://schemas.openxmlformats.org/drawingml/2006/main">
            <a:r>
              <a:t>Sources: crates/transpiler/src/passes/sabre/route.rs:599–607, 703–705, 715–755, 981–992, 1161–1169, 1190–1205. Local implementation at commit 90ccaac29.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Types abbreviate the VecMap index: q is always a PhysicalQubit. block_gates classifies ControlFlow, StandardInstruction, Store, and PauliProductMeasurement as None, then assigns 0 to one-qubit operations, 1 to standard CX/CY/CZ/ECR, 3 to other two-qubit operations, and None to other arities. Existing DAG compression sums contributions, capped at 3, while propagating None. only_interactions copies block metadata into layout trials. ready and last_block are indexed by physical wires, so they do not swap with logical occupants. On a routed TwoQ node, both clocks become max+1, and c becomes min(3, open+node.block) when valid. Synchronize/control-flow nodes invalidate affected block history without advancing these clocks. On every selected SWAP, two undo records save the old clocks and blocks, blocks clear, and clocks become max+3 even when the SWAP earned credit. On release-valve rollback, the router restores the layout and pops history records in reverse, then accounts for fallback swaps through the same updates. One compressed TwoQ node advances by one regardless of the number of folded gates.</a:t>
            </a:r>
          </a:p>
          <a:p xmlns:a="http://schemas.openxmlformats.org/drawingml/2006/main">
            <a:r>
              <a:t/>
            </a:r>
          </a:p>
          <a:p xmlns:a="http://schemas.openxmlformats.org/drawingml/2006/main">
            <a:r>
              <a:t>Sources: design/sabre_best_swap_codex.md; design/sabre_best_swap_cladue.md. Commit 90ccaac29b2a547592e870797265007a128a02eb. dag.rs:79–113, 193 onward, only_interactions; route.rs:600–607, 715–760, 1163–1205.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exact comparison formula in choose_best_swap when the basic component exists, including the three standard Python presets. α and βℓ are effective weights after SetScaling. H₀ and the deltas are defined on slide 3. Fusion starts the candidate buffer with C(s), and the basic step assigns α(C+ΔF). Lookahead adds βℓΔEℓ. Decay restores H₀ and multiplies the bracket by dₛ. Readiness adds λ times max endpoint ready outside the decay multiplication. Tₛ is measured from the origin of the estimated schedule; the code does not subtract a global current time. Readiness is a real additive term and can outweigh small nonzero lookahead differences, not just exact ties. If a custom Heuristic omits the basic component entirely, use U=C+ΣβℓΔEℓ and omit the front term from H₀. This differs from an enabled basic component with zero weight, which zeros the fusion credit. Epsilon ties and seeded random selection are unchanged.</a:t>
            </a:r>
          </a:p>
          <a:p xmlns:a="http://schemas.openxmlformats.org/drawingml/2006/main">
            <a:r>
              <a:t/>
            </a:r>
          </a:p>
          <a:p xmlns:a="http://schemas.openxmlformats.org/drawingml/2006/main">
            <a:r>
              <a:t>Sources: design/sabre_best_swap_codex.md; design/sabre_best_swap_cladue.md. Commit 90ccaac29b2a547592e870797265007a128a02eb. route.rs:963–1056; codex note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Source-derived trace of the three-qubit fusion regression. Initially q0=P0, q1=P1, q2=P2. The routed CX on P0,P1 creates ready=[1,1,0] and reciprocal last_block entries with c=1. The only candidates touching active P0/P2 are edges P0,P1 and P1,P2. Both make the front interaction adjacent, so their old score is -1. Both T=1. Candidate A earns -2/3 and wins with -1.666644666… versus -0.999978. After A, q0 resides at P1, and the pending gate becomes CX(P1,P2). advance_swap still uses three clock units and clears block history. For the pair CX(P0,P1)+SWAP(P0,P1), choose the SWAP decomposition whose first CX matches the original CX. These consecutive identical CXs cancel, leaving two CX gates. Including the final routed CX gives three CXs. The fusion happens in later ConsolidateBlocks/UnitarySynthesis, while SABRE only anticipates the saving.</a:t>
            </a:r>
          </a:p>
          <a:p xmlns:a="http://schemas.openxmlformats.org/drawingml/2006/main">
            <a:r>
              <a:t/>
            </a:r>
          </a:p>
          <a:p xmlns:a="http://schemas.openxmlformats.org/drawingml/2006/main">
            <a:r>
              <a:t>Sources: design/sabre_best_swap_codex.md; design/sabre_best_swap_cladue.md. Commit 90ccaac29b2a547592e870797265007a128a02eb. codex note walkthrough A and section 14.1; test/python/transpiler/test_sabre_swap.py fusion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simplified four-wire example has one initial CX, whereas the regression test repeats that initial CX four times. After the routed prefix, ready=[1,1,0,0]. Candidate P1,P2 starts at one and candidate P2,P3 starts at zero. Both improve front distance 2 to 1 and have no eligible block. Scores are -0.999978 and -1. The third candidate P0,P1 worsens distance by one. In this one-CX example c=1, so its total is 1-2/3+0.000022 = 0.333355333…, and it loses. The diagrams show the same two-qubit operation on both occupied wires. Busy: prefix CX [0,1], SWAP [1,4], final CX [4,5]. Idle: prefix CX [0,1], independent SWAP [0,3], final CX [3,4]. The score uses SWAP start time, not final depth. This is a coarse two-qubit schedule: one compressed node counts as one unit, one inserted SWAP always counts as three even after fusion credit, and the model omits physical gate durations and one-qubit timing. There is no guarantee of globally minimal count/depth. Trial selection is unchanged and still minimizes top-level inserted SWAP count, with trial-index tie-breaking. The commit’s readiness/lookahead test shows that a 20-unit wait costs 0.00044 and can overturn a lookahead difference of 0.0001.</a:t>
            </a:r>
          </a:p>
          <a:p xmlns:a="http://schemas.openxmlformats.org/drawingml/2006/main">
            <a:r>
              <a:t/>
            </a:r>
          </a:p>
          <a:p xmlns:a="http://schemas.openxmlformats.org/drawingml/2006/main">
            <a:r>
              <a:t>Sources: design/sabre_best_swap_codex.md; design/sabre_best_swap_cladue.md. Commit 90ccaac29b2a547592e870797265007a128a02eb. codex note walkthrough B and sections 9, 13–15; route.rs:57–60, 715–760, 1044 and swap_map trial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fa4d27a66a4d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63d9a3e02d42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3085a5a62149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36ef8ed6f443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fc689b8ac440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e2d74200dc45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B35A88-36E9-41BA-9926-8FC00DCE65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DCFA6E-1852-44EE-8D8B-F2E70AD9E6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1E3A18-1F2C-4AED-90B5-534880C763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82F029-994C-43CF-AB57-95E8A3663B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028D7D-FEDB-4023-9F4A-F90185BC361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9C1513-193F-41E9-8191-BA8BDFF33C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79E65F-3210-42AF-BD3B-BD005764DC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2CBA494-C435-4101-83C3-7D59324B76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C40067-AA2A-469D-BA65-9A67CFD51B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AEE934-86C2-43DF-9BF2-E50290E705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b6759200ba4f62" /><Relationship Type="http://schemas.openxmlformats.org/officeDocument/2006/relationships/slideLayout" Target="/ppt/slideLayouts/slideLayout1.xml" Id="R700c77e414b649df" /><Relationship Type="http://schemas.openxmlformats.org/officeDocument/2006/relationships/slideLayout" Target="/ppt/slideLayouts/slideLayout2.xml" Id="Rfad7eb81d2734880" /><Relationship Type="http://schemas.openxmlformats.org/officeDocument/2006/relationships/slideLayout" Target="/ppt/slideLayouts/slideLayout3.xml" Id="R00db120df47a431a" /><Relationship Type="http://schemas.openxmlformats.org/officeDocument/2006/relationships/slideLayout" Target="/ppt/slideLayouts/slideLayout4.xml" Id="R2cde7a4602f140f1" /><Relationship Type="http://schemas.openxmlformats.org/officeDocument/2006/relationships/slideLayout" Target="/ppt/slideLayouts/slideLayout5.xml" Id="Re934bc852e7041ab" /><Relationship Type="http://schemas.openxmlformats.org/officeDocument/2006/relationships/slideLayout" Target="/ppt/slideLayouts/slideLayout6.xml" Id="R4f5e8c73d1fc4a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0c77e414b649df"/>
    <p:sldLayoutId xmlns:r="http://schemas.openxmlformats.org/officeDocument/2006/relationships" id="2147483650" r:id="Rfad7eb81d2734880"/>
    <p:sldLayoutId xmlns:r="http://schemas.openxmlformats.org/officeDocument/2006/relationships" id="2147483651" r:id="R00db120df47a431a"/>
    <p:sldLayoutId xmlns:r="http://schemas.openxmlformats.org/officeDocument/2006/relationships" id="2147483652" r:id="R2cde7a4602f140f1"/>
    <p:sldLayoutId xmlns:r="http://schemas.openxmlformats.org/officeDocument/2006/relationships" id="2147483653" r:id="Re934bc852e7041ab"/>
    <p:sldLayoutId xmlns:r="http://schemas.openxmlformats.org/officeDocument/2006/relationships" id="2147483654" r:id="R4f5e8c73d1fc4a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d2b79896e44e6e" /><Relationship Type="http://schemas.openxmlformats.org/officeDocument/2006/relationships/image" Target="/ppt/media/image.png" Id="R3a4cdb9f6ec84af1" /><Relationship Type="http://schemas.openxmlformats.org/officeDocument/2006/relationships/image" Target="/ppt/media/image.svg" Id="Rc64a0a02555e4ac3" /><Relationship Type="http://schemas.openxmlformats.org/officeDocument/2006/relationships/notesSlide" Target="/ppt/notesSlides/notesSlide1.xml" Id="Re22d506622004b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bc5ac74d574d4d" /><Relationship Type="http://schemas.openxmlformats.org/officeDocument/2006/relationships/notesSlide" Target="/ppt/notesSlides/notesSlide2.xml" Id="Rfc1919419aae48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41687af07745c7" /><Relationship Type="http://schemas.openxmlformats.org/officeDocument/2006/relationships/notesSlide" Target="/ppt/notesSlides/notesSlide3.xml" Id="R7e5919eb1fcf4b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75fc6c803440f7" /><Relationship Type="http://schemas.openxmlformats.org/officeDocument/2006/relationships/notesSlide" Target="/ppt/notesSlides/notesSlide4.xml" Id="R3b26739745af44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7bf73bcdb947f5" /><Relationship Type="http://schemas.openxmlformats.org/officeDocument/2006/relationships/notesSlide" Target="/ppt/notesSlides/notesSlide5.xml" Id="R829383bae1eb4b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7e26c492ab4a29" /><Relationship Type="http://schemas.openxmlformats.org/officeDocument/2006/relationships/image" Target="/ppt/media/image2.png" Id="R283cc9bb985c4311" /><Relationship Type="http://schemas.openxmlformats.org/officeDocument/2006/relationships/image" Target="/ppt/media/image2.svg" Id="R768651bfd42b4e1e" /><Relationship Type="http://schemas.openxmlformats.org/officeDocument/2006/relationships/notesSlide" Target="/ppt/notesSlides/notesSlide6.xml" Id="Rd43fe17fb64b4f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ee2f6e8c2ac4fef" /><Relationship Type="http://schemas.openxmlformats.org/officeDocument/2006/relationships/image" Target="/ppt/media/image3.png" Id="Rbad5d0a95a764581" /><Relationship Type="http://schemas.openxmlformats.org/officeDocument/2006/relationships/image" Target="/ppt/media/image3.svg" Id="R4a52b86ffb5f434e" /><Relationship Type="http://schemas.openxmlformats.org/officeDocument/2006/relationships/notesSlide" Target="/ppt/notesSlides/notesSlide7.xml" Id="R4163da17eb2d4a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e06358652340bc" /><Relationship Type="http://schemas.openxmlformats.org/officeDocument/2006/relationships/notesSlide" Target="/ppt/notesSlides/notesSlide8.xml" Id="Rae2e6b43512945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3a4093c2af469e" /><Relationship Type="http://schemas.openxmlformats.org/officeDocument/2006/relationships/notesSlide" Target="/ppt/notesSlides/notesSlide9.xml" Id="R54c3d9157fae4e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6b77858bb234ee3" /><Relationship Type="http://schemas.openxmlformats.org/officeDocument/2006/relationships/notesSlide" Target="/ppt/notesSlides/notesSlide10.xml" Id="R3652a57b7a3144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875d03c6e34ceb" /><Relationship Type="http://schemas.openxmlformats.org/officeDocument/2006/relationships/notesSlide" Target="/ppt/notesSlides/notesSlide11.xml" Id="R67374e7df73a4a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ae2e977b7614697" /><Relationship Type="http://schemas.openxmlformats.org/officeDocument/2006/relationships/notesSlide" Target="/ppt/notesSlides/notesSlide12.xml" Id="R7df80b93ef3844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9aaa5c430d4213" /><Relationship Type="http://schemas.openxmlformats.org/officeDocument/2006/relationships/notesSlide" Target="/ppt/notesSlides/notesSlide13.xml" Id="R513c8284da4149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c08e9ba6e2941e9" /><Relationship Type="http://schemas.openxmlformats.org/officeDocument/2006/relationships/notesSlide" Target="/ppt/notesSlides/notesSlide14.xml" Id="R1d2730001a254f9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8e637f17fbc4b6d" /><Relationship Type="http://schemas.openxmlformats.org/officeDocument/2006/relationships/notesSlide" Target="/ppt/notesSlides/notesSlide15.xml" Id="R85422f1932ba47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63491aba9624b9a" /><Relationship Type="http://schemas.openxmlformats.org/officeDocument/2006/relationships/notesSlide" Target="/ppt/notesSlides/notesSlide16.xml" Id="Rbd94e306125c41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6c3859735da4255" /><Relationship Type="http://schemas.openxmlformats.org/officeDocument/2006/relationships/notesSlide" Target="/ppt/notesSlides/notesSlide17.xml" Id="Rd2b161d62d114e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6e73cc884ab4873" /><Relationship Type="http://schemas.openxmlformats.org/officeDocument/2006/relationships/image" Target="/ppt/media/image4.png" Id="Race7041300b646a4" /><Relationship Type="http://schemas.openxmlformats.org/officeDocument/2006/relationships/image" Target="/ppt/media/image4.svg" Id="R0559ef010cfb4d9f" /><Relationship Type="http://schemas.openxmlformats.org/officeDocument/2006/relationships/notesSlide" Target="/ppt/notesSlides/notesSlide18.xml" Id="Rb7a561438224417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777445029554098" /><Relationship Type="http://schemas.openxmlformats.org/officeDocument/2006/relationships/notesSlide" Target="/ppt/notesSlides/notesSlide19.xml" Id="Rfabe4a95e16448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1f0276d7ec343e3" /><Relationship Type="http://schemas.openxmlformats.org/officeDocument/2006/relationships/image" Target="/ppt/media/image5.png" Id="Rb6a40f86027d4ca8" /><Relationship Type="http://schemas.openxmlformats.org/officeDocument/2006/relationships/image" Target="/ppt/media/image5.svg" Id="R31c568b56f004bf3" /><Relationship Type="http://schemas.openxmlformats.org/officeDocument/2006/relationships/notesSlide" Target="/ppt/notesSlides/notesSlide20.xml" Id="R0920a567df7c4f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c3fe53228664748" /><Relationship Type="http://schemas.openxmlformats.org/officeDocument/2006/relationships/image" Target="/ppt/media/image6.png" Id="Rb68494639c574ec2" /><Relationship Type="http://schemas.openxmlformats.org/officeDocument/2006/relationships/image" Target="/ppt/media/image6.svg" Id="Rc7588dca3e4f4a2a" /><Relationship Type="http://schemas.openxmlformats.org/officeDocument/2006/relationships/notesSlide" Target="/ppt/notesSlides/notesSlide21.xml" Id="Rbf057c5803c6442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ABRE best-swap scoring">
            <a:extLst xmlns:a="http://schemas.openxmlformats.org/drawingml/2006/main">
              <a:ext uri="{FF2B5EF4-FFF2-40B4-BE49-F238E27FC236}">
                <a16:creationId xmlns:a16="http://schemas.microsoft.com/office/drawing/2014/main" id="{779ECEE0-3741-43AB-BBA9-A69B8E40BCB0}"/>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SABRE best-swap scoring</a:t>
            </a:r>
          </a:p>
        </p:txBody>
      </p:sp>
      <p:sp>
        <p:nvSpPr>
          <p:cNvPr id="2" name="Gate fusion credit and physical-wire readiness">
            <a:extLst xmlns:a="http://schemas.openxmlformats.org/drawingml/2006/main">
              <a:ext uri="{FF2B5EF4-FFF2-40B4-BE49-F238E27FC236}">
                <a16:creationId xmlns:a16="http://schemas.microsoft.com/office/drawing/2014/main" id="{4AF99E55-B9AA-4B65-9174-5B0A6DD7FD4F}"/>
              </a:ext>
            </a:extLst>
          </p:cNvPr>
          <p:cNvSpPr>
            <a:spLocks xmlns:a="http://schemas.openxmlformats.org/drawingml/2006/main" noGrp="1"/>
          </p:cNvSpPr>
          <p:nvPr/>
        </p:nvSpPr>
        <p:spPr>
          <a:xfrm xmlns:a="http://schemas.openxmlformats.org/drawingml/2006/main">
            <a:off x="552450" y="10287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Gate fusion credit and physical-wire readiness</a:t>
            </a:r>
          </a:p>
        </p:txBody>
      </p:sp>
      <p:sp>
        <p:nvSpPr>
          <p:cNvPr id="3" name="1">
            <a:extLst xmlns:a="http://schemas.openxmlformats.org/drawingml/2006/main">
              <a:ext uri="{FF2B5EF4-FFF2-40B4-BE49-F238E27FC236}">
                <a16:creationId xmlns:a16="http://schemas.microsoft.com/office/drawing/2014/main" id="{8E3249A7-EB52-446C-8D1C-854C5C1F9477}"/>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a:t>
            </a:r>
          </a:p>
        </p:txBody>
      </p:sp>
      <p:sp>
        <p:nvSpPr>
          <p:cNvPr id="4" name="Which adjacent SWAP should we insert next?">
            <a:extLst xmlns:a="http://schemas.openxmlformats.org/drawingml/2006/main">
              <a:ext uri="{FF2B5EF4-FFF2-40B4-BE49-F238E27FC236}">
                <a16:creationId xmlns:a16="http://schemas.microsoft.com/office/drawing/2014/main" id="{C7A946E7-C69E-4C24-A0D2-95EBBBD8F7CC}"/>
              </a:ext>
            </a:extLst>
          </p:cNvPr>
          <p:cNvSpPr>
            <a:spLocks xmlns:a="http://schemas.openxmlformats.org/drawingml/2006/main" noGrp="1"/>
          </p:cNvSpPr>
          <p:nvPr/>
        </p:nvSpPr>
        <p:spPr>
          <a:xfrm xmlns:a="http://schemas.openxmlformats.org/drawingml/2006/main">
            <a:off x="552450" y="1676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13233D"/>
                </a:solidFill>
                <a:latin typeface="Arial"/>
                <a:ea typeface="Arial"/>
                <a:cs typeface="Arial"/>
              </a:defRPr>
            </a:defPPr>
          </a:lstStyle>
          <a:p xmlns:a="http://schemas.openxmlformats.org/drawingml/2006/main">
            <a:pPr>
              <a:buNone/>
              <a:defRPr sz="2400" b="1">
                <a:solidFill>
                  <a:srgbClr val="13233D"/>
                </a:solidFill>
                <a:latin typeface="Arial"/>
                <a:ea typeface="Arial"/>
                <a:cs typeface="Arial"/>
              </a:defRPr>
            </a:pPr>
            <a:r>
              <a:rPr sz="2400" b="1">
                <a:solidFill>
                  <a:srgbClr val="13233D"/>
                </a:solidFill>
                <a:latin typeface="Arial"/>
                <a:ea typeface="Arial"/>
                <a:cs typeface="Arial"/>
              </a:rPr>
              <a:t>Which adjacent SWAP should we insert next?</a:t>
            </a:r>
          </a:p>
        </p:txBody>
      </p:sp>
      <p:pic>
        <p:nvPicPr>
          <p:cNvPr id="5" name="">
            <a:extLst xmlns:a="http://schemas.openxmlformats.org/drawingml/2006/main">
              <a:ext uri="{FF2B5EF4-FFF2-40B4-BE49-F238E27FC236}">
                <a16:creationId xmlns:a16="http://schemas.microsoft.com/office/drawing/2014/main" id="{6947D328-4400-4C8E-B4F3-D4D26F94CA06}"/>
              </a:ext>
            </a:extLst>
          </p:cNvPr>
          <p:cNvPicPr>
            <a:picLocks xmlns:a="http://schemas.openxmlformats.org/drawingml/2006/main" noChangeAspect="1"/>
          </p:cNvPicPr>
          <p:nvPr/>
        </p:nvPicPr>
        <p:blipFill>
          <a:blip xmlns:r="http://schemas.openxmlformats.org/officeDocument/2006/relationships" xmlns:a="http://schemas.openxmlformats.org/drawingml/2006/main" r:embed="R3a4cdb9f6ec84af1">
            <a:extLst>
              <a:ext uri="{96DAC541-7B7A-43D3-8B79-37D633B846F1}">
                <asvg:svgBlip xmlns:asvg="http://schemas.microsoft.com/office/drawing/2016/SVG/main" r:embed="Rc64a0a02555e4ac3"/>
              </a:ext>
            </a:extLst>
          </a:blip>
          <a:stretch xmlns:a="http://schemas.openxmlformats.org/drawingml/2006/main"/>
        </p:blipFill>
        <p:spPr>
          <a:xfrm xmlns:a="http://schemas.openxmlformats.org/drawingml/2006/main">
            <a:off x="552450" y="2314575"/>
            <a:ext cx="7620000" cy="2514600"/>
          </a:xfrm>
          <a:prstGeom xmlns:a="http://schemas.openxmlformats.org/drawingml/2006/main" prst="rect">
            <a:avLst/>
          </a:prstGeom>
        </p:spPr>
      </p:pic>
      <p:sp>
        <p:nvSpPr>
          <p:cNvPr id="6" name="Existing signals">
            <a:extLst xmlns:a="http://schemas.openxmlformats.org/drawingml/2006/main">
              <a:ext uri="{FF2B5EF4-FFF2-40B4-BE49-F238E27FC236}">
                <a16:creationId xmlns:a16="http://schemas.microsoft.com/office/drawing/2014/main" id="{32B081F5-0BC3-4FDA-909D-BAEC0D1441C2}"/>
              </a:ext>
            </a:extLst>
          </p:cNvPr>
          <p:cNvSpPr>
            <a:spLocks xmlns:a="http://schemas.openxmlformats.org/drawingml/2006/main" noGrp="1"/>
          </p:cNvSpPr>
          <p:nvPr/>
        </p:nvSpPr>
        <p:spPr>
          <a:xfrm xmlns:a="http://schemas.openxmlformats.org/drawingml/2006/main">
            <a:off x="8458200" y="231457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Existing signals</a:t>
            </a:r>
          </a:p>
        </p:txBody>
      </p:sp>
      <p:sp>
        <p:nvSpPr>
          <p:cNvPr id="7" name="Pending-gate distance&#10;Lookahead and optional decay">
            <a:extLst xmlns:a="http://schemas.openxmlformats.org/drawingml/2006/main">
              <a:ext uri="{FF2B5EF4-FFF2-40B4-BE49-F238E27FC236}">
                <a16:creationId xmlns:a16="http://schemas.microsoft.com/office/drawing/2014/main" id="{2DF14194-A781-45FC-9F3C-15996DAC0536}"/>
              </a:ext>
            </a:extLst>
          </p:cNvPr>
          <p:cNvSpPr>
            <a:spLocks xmlns:a="http://schemas.openxmlformats.org/drawingml/2006/main" noGrp="1"/>
          </p:cNvSpPr>
          <p:nvPr/>
        </p:nvSpPr>
        <p:spPr>
          <a:xfrm xmlns:a="http://schemas.openxmlformats.org/drawingml/2006/main">
            <a:off x="8458200" y="27527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Pending-gate distance</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Lookahead and optional decay</a:t>
            </a:r>
          </a:p>
        </p:txBody>
      </p:sp>
      <p:sp>
        <p:nvSpPr>
          <p:cNvPr id="8" name="Added signals">
            <a:extLst xmlns:a="http://schemas.openxmlformats.org/drawingml/2006/main">
              <a:ext uri="{FF2B5EF4-FFF2-40B4-BE49-F238E27FC236}">
                <a16:creationId xmlns:a16="http://schemas.microsoft.com/office/drawing/2014/main" id="{2671C89D-01F0-48C4-83FF-55412FC4DDDA}"/>
              </a:ext>
            </a:extLst>
          </p:cNvPr>
          <p:cNvSpPr>
            <a:spLocks xmlns:a="http://schemas.openxmlformats.org/drawingml/2006/main" noGrp="1"/>
          </p:cNvSpPr>
          <p:nvPr/>
        </p:nvSpPr>
        <p:spPr>
          <a:xfrm xmlns:a="http://schemas.openxmlformats.org/drawingml/2006/main">
            <a:off x="8458200" y="391477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87C69"/>
                </a:solidFill>
                <a:latin typeface="Arial"/>
                <a:ea typeface="Arial"/>
                <a:cs typeface="Arial"/>
              </a:defRPr>
            </a:defPPr>
          </a:lstStyle>
          <a:p xmlns:a="http://schemas.openxmlformats.org/drawingml/2006/main">
            <a:pPr>
              <a:buNone/>
              <a:defRPr sz="1950" b="1">
                <a:solidFill>
                  <a:srgbClr val="087C69"/>
                </a:solidFill>
                <a:latin typeface="Arial"/>
                <a:ea typeface="Arial"/>
                <a:cs typeface="Arial"/>
              </a:defRPr>
            </a:pPr>
            <a:r>
              <a:rPr sz="1950" b="1">
                <a:solidFill>
                  <a:srgbClr val="087C69"/>
                </a:solidFill>
                <a:latin typeface="Arial"/>
                <a:ea typeface="Arial"/>
                <a:cs typeface="Arial"/>
              </a:rPr>
              <a:t>Added signals</a:t>
            </a:r>
          </a:p>
        </p:txBody>
      </p:sp>
      <p:sp>
        <p:nvSpPr>
          <p:cNvPr id="9" name="Can a prior block absorb it?&#10;When are its wires free?">
            <a:extLst xmlns:a="http://schemas.openxmlformats.org/drawingml/2006/main">
              <a:ext uri="{FF2B5EF4-FFF2-40B4-BE49-F238E27FC236}">
                <a16:creationId xmlns:a16="http://schemas.microsoft.com/office/drawing/2014/main" id="{B95A5245-6711-4C1A-A2F7-185519929C35}"/>
              </a:ext>
            </a:extLst>
          </p:cNvPr>
          <p:cNvSpPr>
            <a:spLocks xmlns:a="http://schemas.openxmlformats.org/drawingml/2006/main" noGrp="1"/>
          </p:cNvSpPr>
          <p:nvPr/>
        </p:nvSpPr>
        <p:spPr>
          <a:xfrm xmlns:a="http://schemas.openxmlformats.org/drawingml/2006/main">
            <a:off x="8458200" y="43529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Can a prior block absorb it?</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When are its wires free?</a:t>
            </a:r>
          </a:p>
        </p:txBody>
      </p:sp>
      <p:sp>
        <p:nvSpPr>
          <p:cNvPr id="10" name="π maps logical qubits q to physical wires P. SWAPs change π.">
            <a:extLst xmlns:a="http://schemas.openxmlformats.org/drawingml/2006/main">
              <a:ext uri="{FF2B5EF4-FFF2-40B4-BE49-F238E27FC236}">
                <a16:creationId xmlns:a16="http://schemas.microsoft.com/office/drawing/2014/main" id="{09F0128B-CD7F-4609-893F-1B087F1BACC5}"/>
              </a:ext>
            </a:extLst>
          </p:cNvPr>
          <p:cNvSpPr>
            <a:spLocks xmlns:a="http://schemas.openxmlformats.org/drawingml/2006/main" noGrp="1"/>
          </p:cNvSpPr>
          <p:nvPr/>
        </p:nvSpPr>
        <p:spPr>
          <a:xfrm xmlns:a="http://schemas.openxmlformats.org/drawingml/2006/main">
            <a:off x="552450" y="5324475"/>
            <a:ext cx="1090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3233D"/>
                </a:solidFill>
                <a:latin typeface="Arial"/>
                <a:ea typeface="Arial"/>
                <a:cs typeface="Arial"/>
              </a:defRPr>
            </a:defPPr>
          </a:lstStyle>
          <a:p xmlns:a="http://schemas.openxmlformats.org/drawingml/2006/main">
            <a:pPr>
              <a:buNone/>
              <a:defRPr sz="1875" b="0">
                <a:solidFill>
                  <a:srgbClr val="13233D"/>
                </a:solidFill>
                <a:latin typeface="Arial"/>
                <a:ea typeface="Arial"/>
                <a:cs typeface="Arial"/>
              </a:defRPr>
            </a:pPr>
            <a:r>
              <a:rPr sz="1875" b="0">
                <a:solidFill>
                  <a:srgbClr val="13233D"/>
                </a:solidFill>
                <a:latin typeface="Arial"/>
                <a:ea typeface="Arial"/>
                <a:cs typeface="Arial"/>
              </a:rPr>
              <a:t>π maps logical qubits q to physical wires P. SWAPs change π.</a:t>
            </a:r>
          </a:p>
        </p:txBody>
      </p:sp>
      <p:sp>
        <p:nvSpPr>
          <p:cNvPr id="11" name="The router still scores adjacent edges touching the front layer and ch">
            <a:extLst xmlns:a="http://schemas.openxmlformats.org/drawingml/2006/main">
              <a:ext uri="{FF2B5EF4-FFF2-40B4-BE49-F238E27FC236}">
                <a16:creationId xmlns:a16="http://schemas.microsoft.com/office/drawing/2014/main" id="{D4924918-A152-415D-BAB0-4960B0A96A95}"/>
              </a:ext>
            </a:extLst>
          </p:cNvPr>
          <p:cNvSpPr>
            <a:spLocks xmlns:a="http://schemas.openxmlformats.org/drawingml/2006/main" noGrp="1"/>
          </p:cNvSpPr>
          <p:nvPr/>
        </p:nvSpPr>
        <p:spPr>
          <a:xfrm xmlns:a="http://schemas.openxmlformats.org/drawingml/2006/main">
            <a:off x="552450" y="57816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The router still scores adjacent edges touching the front layer and chooses the lowest score.</a:t>
            </a:r>
          </a:p>
        </p:txBody>
      </p:sp>
    </p:spTree>
    <p:extLst>
      <p:ext uri="{BB962C8B-B14F-4D97-AF65-F5344CB8AC3E}">
        <p14:creationId xmlns:p14="http://schemas.microsoft.com/office/powerpoint/2010/main" val="9841179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cay: a temporary penalty for wire reuse">
            <a:extLst xmlns:a="http://schemas.openxmlformats.org/drawingml/2006/main">
              <a:ext uri="{FF2B5EF4-FFF2-40B4-BE49-F238E27FC236}">
                <a16:creationId xmlns:a16="http://schemas.microsoft.com/office/drawing/2014/main" id="{F874E1A8-74A1-491A-912D-0E0C8FFA4BE9}"/>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Decay: a temporary penalty for wire reuse</a:t>
            </a:r>
          </a:p>
        </p:txBody>
      </p:sp>
      <p:sp>
        <p:nvSpPr>
          <p:cNvPr id="2" name="SABRE remembers recent SWAPs to discourage using the same physical wir">
            <a:extLst xmlns:a="http://schemas.openxmlformats.org/drawingml/2006/main">
              <a:ext uri="{FF2B5EF4-FFF2-40B4-BE49-F238E27FC236}">
                <a16:creationId xmlns:a16="http://schemas.microsoft.com/office/drawing/2014/main" id="{71E092B3-3940-4173-9E0C-1F3D9A8F3BE5}"/>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SABRE remembers recent SWAPs to discourage using the same physical wires repeatedly.</a:t>
            </a:r>
          </a:p>
        </p:txBody>
      </p:sp>
      <p:sp>
        <p:nvSpPr>
          <p:cNvPr id="3" name="Why it helps">
            <a:extLst xmlns:a="http://schemas.openxmlformats.org/drawingml/2006/main">
              <a:ext uri="{FF2B5EF4-FFF2-40B4-BE49-F238E27FC236}">
                <a16:creationId xmlns:a16="http://schemas.microsoft.com/office/drawing/2014/main" id="{F4F06419-6F8C-4613-8C2E-70A0F403E5E8}"/>
              </a:ext>
            </a:extLst>
          </p:cNvPr>
          <p:cNvSpPr>
            <a:spLocks xmlns:a="http://schemas.openxmlformats.org/drawingml/2006/main" noGrp="1"/>
          </p:cNvSpPr>
          <p:nvPr/>
        </p:nvSpPr>
        <p:spPr>
          <a:xfrm xmlns:a="http://schemas.openxmlformats.org/drawingml/2006/main">
            <a:off x="552450" y="1685925"/>
            <a:ext cx="5295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Why it helps</a:t>
            </a:r>
          </a:p>
        </p:txBody>
      </p:sp>
      <p:sp>
        <p:nvSpPr>
          <p:cNvPr id="4" name="SWAPs sharing a wire must run in sequence.&#10;Spreading SWAPs across diff">
            <a:extLst xmlns:a="http://schemas.openxmlformats.org/drawingml/2006/main">
              <a:ext uri="{FF2B5EF4-FFF2-40B4-BE49-F238E27FC236}">
                <a16:creationId xmlns:a16="http://schemas.microsoft.com/office/drawing/2014/main" id="{C9A24297-F01A-4919-A961-94D5A33EF773}"/>
              </a:ext>
            </a:extLst>
          </p:cNvPr>
          <p:cNvSpPr>
            <a:spLocks xmlns:a="http://schemas.openxmlformats.org/drawingml/2006/main" noGrp="1"/>
          </p:cNvSpPr>
          <p:nvPr/>
        </p:nvSpPr>
        <p:spPr>
          <a:xfrm xmlns:a="http://schemas.openxmlformats.org/drawingml/2006/main">
            <a:off x="552450" y="2143125"/>
            <a:ext cx="5448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SWAPs sharing a wire must run in sequence.</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Spreading SWAPs across different wires</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can help keep the routed circuit shallower.</a:t>
            </a:r>
          </a:p>
        </p:txBody>
      </p:sp>
      <p:sp>
        <p:nvSpPr>
          <p:cNvPr id="5" name="What the decay preset remembers">
            <a:extLst xmlns:a="http://schemas.openxmlformats.org/drawingml/2006/main">
              <a:ext uri="{FF2B5EF4-FFF2-40B4-BE49-F238E27FC236}">
                <a16:creationId xmlns:a16="http://schemas.microsoft.com/office/drawing/2014/main" id="{122DF02C-D2F2-4479-AE10-376094FEED21}"/>
              </a:ext>
            </a:extLst>
          </p:cNvPr>
          <p:cNvSpPr>
            <a:spLocks xmlns:a="http://schemas.openxmlformats.org/drawingml/2006/main" noGrp="1"/>
          </p:cNvSpPr>
          <p:nvPr/>
        </p:nvSpPr>
        <p:spPr>
          <a:xfrm xmlns:a="http://schemas.openxmlformats.org/drawingml/2006/main">
            <a:off x="6457950" y="16859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What the decay preset remembers</a:t>
            </a:r>
          </a:p>
        </p:txBody>
      </p:sp>
      <p:sp>
        <p:nvSpPr>
          <p:cNvPr id="6" name="Each physical wire starts at 1.0.&#10;A chosen SWAP adds 0.001 to both&#10;end">
            <a:extLst xmlns:a="http://schemas.openxmlformats.org/drawingml/2006/main">
              <a:ext uri="{FF2B5EF4-FFF2-40B4-BE49-F238E27FC236}">
                <a16:creationId xmlns:a16="http://schemas.microsoft.com/office/drawing/2014/main" id="{73BA19D4-0BA3-4C64-BDF0-71DC9EDAA993}"/>
              </a:ext>
            </a:extLst>
          </p:cNvPr>
          <p:cNvSpPr>
            <a:spLocks xmlns:a="http://schemas.openxmlformats.org/drawingml/2006/main" noGrp="1"/>
          </p:cNvSpPr>
          <p:nvPr/>
        </p:nvSpPr>
        <p:spPr>
          <a:xfrm xmlns:a="http://schemas.openxmlformats.org/drawingml/2006/main">
            <a:off x="6457950" y="2143125"/>
            <a:ext cx="52197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Each physical wire starts at 1.0.</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A chosen SWAP adds 0.001 to both</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endpoints, except when the step resets.</a:t>
            </a:r>
          </a:p>
        </p:txBody>
      </p:sp>
      <p:sp>
        <p:nvSpPr>
          <p:cNvPr id="7" name="How it affects a choice">
            <a:extLst xmlns:a="http://schemas.openxmlformats.org/drawingml/2006/main">
              <a:ext uri="{FF2B5EF4-FFF2-40B4-BE49-F238E27FC236}">
                <a16:creationId xmlns:a16="http://schemas.microsoft.com/office/drawing/2014/main" id="{993AB1A3-A3A8-4A20-8DE2-A24ADA57FF82}"/>
              </a:ext>
            </a:extLst>
          </p:cNvPr>
          <p:cNvSpPr>
            <a:spLocks xmlns:a="http://schemas.openxmlformats.org/drawingml/2006/main" noGrp="1"/>
          </p:cNvSpPr>
          <p:nvPr/>
        </p:nvSpPr>
        <p:spPr>
          <a:xfrm xmlns:a="http://schemas.openxmlformats.org/drawingml/2006/main">
            <a:off x="552450" y="3352800"/>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How it affects a choice</a:t>
            </a:r>
          </a:p>
        </p:txBody>
      </p:sp>
      <p:sp>
        <p:nvSpPr>
          <p:cNvPr id="8" name="A candidate uses the larger decay value of its two endpoint wires as i">
            <a:extLst xmlns:a="http://schemas.openxmlformats.org/drawingml/2006/main">
              <a:ext uri="{FF2B5EF4-FFF2-40B4-BE49-F238E27FC236}">
                <a16:creationId xmlns:a16="http://schemas.microsoft.com/office/drawing/2014/main" id="{F3110856-4ACF-4562-8955-4EBABF5E6FAA}"/>
              </a:ext>
            </a:extLst>
          </p:cNvPr>
          <p:cNvSpPr>
            <a:spLocks xmlns:a="http://schemas.openxmlformats.org/drawingml/2006/main" noGrp="1"/>
          </p:cNvSpPr>
          <p:nvPr/>
        </p:nvSpPr>
        <p:spPr>
          <a:xfrm xmlns:a="http://schemas.openxmlformats.org/drawingml/2006/main">
            <a:off x="552450" y="3762375"/>
            <a:ext cx="11087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A candidate uses the larger decay value of its two endpoint wires as its multiplier.</a:t>
            </a:r>
          </a:p>
        </p:txBody>
      </p:sp>
      <p:sp>
        <p:nvSpPr>
          <p:cNvPr id="9" name="Example: both candidates have the same positive score of 4.2 before de">
            <a:extLst xmlns:a="http://schemas.openxmlformats.org/drawingml/2006/main">
              <a:ext uri="{FF2B5EF4-FFF2-40B4-BE49-F238E27FC236}">
                <a16:creationId xmlns:a16="http://schemas.microsoft.com/office/drawing/2014/main" id="{252E8D85-0E28-40A9-881B-D5CD12212D36}"/>
              </a:ext>
            </a:extLst>
          </p:cNvPr>
          <p:cNvSpPr>
            <a:spLocks xmlns:a="http://schemas.openxmlformats.org/drawingml/2006/main" noGrp="1"/>
          </p:cNvSpPr>
          <p:nvPr/>
        </p:nvSpPr>
        <p:spPr>
          <a:xfrm xmlns:a="http://schemas.openxmlformats.org/drawingml/2006/main">
            <a:off x="552450" y="4095750"/>
            <a:ext cx="1108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Example: both candidates have the same positive score of 4.2 before decay.</a:t>
            </a:r>
          </a:p>
        </p:txBody>
      </p:sp>
      <p:graphicFrame>
        <p:nvGraphicFramePr>
          <p:cNvPr id="10" name="">
            <a:extLst xmlns:a="http://schemas.openxmlformats.org/drawingml/2006/main">
              <a:ext uri="{FF2B5EF4-FFF2-40B4-BE49-F238E27FC236}">
                <a16:creationId xmlns:a16="http://schemas.microsoft.com/office/drawing/2014/main" id="{8AD75BFB-C976-486A-BA3C-79530C6A54A7}"/>
              </a:ext>
            </a:extLst>
          </p:cNvPr>
          <p:cNvGraphicFramePr/>
          <p:nvPr/>
        </p:nvGraphicFramePr>
        <p:xfrm>
          <a:off xmlns:a="http://schemas.openxmlformats.org/drawingml/2006/main" x="552450" y="4543425"/>
          <a:ext xmlns:a="http://schemas.openxmlformats.org/drawingml/2006/main" cx="11087100" cy="1200150"/>
        </p:xfrm>
        <a:graphic xmlns:a="http://schemas.openxmlformats.org/drawingml/2006/main">
          <a:graphicData uri="http://schemas.openxmlformats.org/drawingml/2006/table">
            <a:tbl>
              <a:tblPr/>
              <a:tblGrid>
                <a:gridCol w="2400300"/>
                <a:gridCol w="4152900"/>
                <a:gridCol w="1828800"/>
                <a:gridCol w="2705100"/>
              </a:tblGrid>
              <a:tr h="400050">
                <a:tc>
                  <a:txBody>
                    <a:bodyPr lIns="114300" tIns="66675" rIns="95250" bIns="66675">
                      <a:noAutofit/>
                    </a:bodyPr>
                    <a:lstStyle/>
                    <a:p>
                      <a:r>
                        <a:rPr sz="1725" b="1">
                          <a:solidFill>
                            <a:srgbClr val="13233D"/>
                          </a:solidFill>
                          <a:latin typeface="Arial"/>
                          <a:ea typeface="Arial"/>
                          <a:cs typeface="Arial"/>
                        </a:rPr>
                        <a:t>Candidate</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725" b="1">
                          <a:solidFill>
                            <a:srgbClr val="13233D"/>
                          </a:solidFill>
                          <a:latin typeface="Arial"/>
                          <a:ea typeface="Arial"/>
                          <a:cs typeface="Arial"/>
                        </a:rPr>
                        <a:t>Endpoint history since reset</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725" b="1">
                          <a:solidFill>
                            <a:srgbClr val="13233D"/>
                          </a:solidFill>
                          <a:latin typeface="Arial"/>
                          <a:ea typeface="Arial"/>
                          <a:cs typeface="Arial"/>
                        </a:rPr>
                        <a:t>Multiplier</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725" b="1">
                          <a:solidFill>
                            <a:srgbClr val="13233D"/>
                          </a:solidFill>
                          <a:latin typeface="Arial"/>
                          <a:ea typeface="Arial"/>
                          <a:cs typeface="Arial"/>
                        </a:rPr>
                        <a:t>Score after decay</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400050">
                <a:tc>
                  <a:txBody>
                    <a:bodyPr lIns="114300" tIns="66675" rIns="95250" bIns="66675">
                      <a:noAutofit/>
                    </a:bodyPr>
                    <a:lstStyle/>
                    <a:p>
                      <a:r>
                        <a:rPr sz="1725" b="0">
                          <a:solidFill>
                            <a:srgbClr val="087C69"/>
                          </a:solidFill>
                          <a:latin typeface="Arial"/>
                          <a:ea typeface="Arial"/>
                          <a:cs typeface="Arial"/>
                        </a:rPr>
                        <a:t>A: preferred</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087C69"/>
                          </a:solidFill>
                          <a:latin typeface="Arial"/>
                          <a:ea typeface="Arial"/>
                          <a:cs typeface="Arial"/>
                        </a:rPr>
                        <a:t>No endpoint increments</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087C69"/>
                          </a:solidFill>
                          <a:latin typeface="Arial"/>
                          <a:ea typeface="Arial"/>
                          <a:cs typeface="Arial"/>
                        </a:rPr>
                        <a:t>1.000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087C69"/>
                          </a:solidFill>
                          <a:latin typeface="Arial"/>
                          <a:ea typeface="Arial"/>
                          <a:cs typeface="Arial"/>
                        </a:rPr>
                        <a:t>4.2000</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00050">
                <a:tc>
                  <a:txBody>
                    <a:bodyPr lIns="114300" tIns="66675" rIns="95250" bIns="66675">
                      <a:noAutofit/>
                    </a:bodyPr>
                    <a:lstStyle/>
                    <a:p>
                      <a:r>
                        <a:rPr sz="1725" b="0">
                          <a:solidFill>
                            <a:srgbClr val="526479"/>
                          </a:solidFill>
                          <a:latin typeface="Arial"/>
                          <a:ea typeface="Arial"/>
                          <a:cs typeface="Arial"/>
                        </a:rPr>
                        <a:t>B</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One endpoint increment</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1.001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4.2042</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11" name="Values reset to 1.0 every 5 search SWAPs and after routing makes progr">
            <a:extLst xmlns:a="http://schemas.openxmlformats.org/drawingml/2006/main">
              <a:ext uri="{FF2B5EF4-FFF2-40B4-BE49-F238E27FC236}">
                <a16:creationId xmlns:a16="http://schemas.microsoft.com/office/drawing/2014/main" id="{7345D466-7BB8-4F24-81D0-FA3738BE2918}"/>
              </a:ext>
            </a:extLst>
          </p:cNvPr>
          <p:cNvSpPr>
            <a:spLocks xmlns:a="http://schemas.openxmlformats.org/drawingml/2006/main" noGrp="1"/>
          </p:cNvSpPr>
          <p:nvPr/>
        </p:nvSpPr>
        <p:spPr>
          <a:xfrm xmlns:a="http://schemas.openxmlformats.org/drawingml/2006/main">
            <a:off x="552450" y="5934075"/>
            <a:ext cx="11068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Values reset to 1.0 every 5 search SWAPs and after routing makes progress.</a:t>
            </a:r>
          </a:p>
        </p:txBody>
      </p:sp>
      <p:sp>
        <p:nvSpPr>
          <p:cNvPr id="12" name="Decay is a dimensionless multiplier. The code adds the separate readin">
            <a:extLst xmlns:a="http://schemas.openxmlformats.org/drawingml/2006/main">
              <a:ext uri="{FF2B5EF4-FFF2-40B4-BE49-F238E27FC236}">
                <a16:creationId xmlns:a16="http://schemas.microsoft.com/office/drawing/2014/main" id="{AB9BDE67-C51E-4A9D-BB84-E4F144192C75}"/>
              </a:ext>
            </a:extLst>
          </p:cNvPr>
          <p:cNvSpPr>
            <a:spLocks xmlns:a="http://schemas.openxmlformats.org/drawingml/2006/main" noGrp="1"/>
          </p:cNvSpPr>
          <p:nvPr/>
        </p:nvSpPr>
        <p:spPr>
          <a:xfrm xmlns:a="http://schemas.openxmlformats.org/drawingml/2006/main">
            <a:off x="552450" y="6257925"/>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Decay is a dimensionless multiplier. The code adds the separate readiness penalty afterward.</a:t>
            </a:r>
          </a:p>
        </p:txBody>
      </p:sp>
      <p:sp>
        <p:nvSpPr>
          <p:cNvPr id="13" name="2">
            <a:extLst xmlns:a="http://schemas.openxmlformats.org/drawingml/2006/main">
              <a:ext uri="{FF2B5EF4-FFF2-40B4-BE49-F238E27FC236}">
                <a16:creationId xmlns:a16="http://schemas.microsoft.com/office/drawing/2014/main" id="{9EFC025B-7AF0-4986-A2D9-06B886BFCFC6}"/>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2</a:t>
            </a:r>
          </a:p>
        </p:txBody>
      </p:sp>
    </p:spTree>
    <p:extLst>
      <p:ext uri="{BB962C8B-B14F-4D97-AF65-F5344CB8AC3E}">
        <p14:creationId xmlns:p14="http://schemas.microsoft.com/office/powerpoint/2010/main" val="8111015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Distance scores in the implementation">
            <a:extLst xmlns:a="http://schemas.openxmlformats.org/drawingml/2006/main">
              <a:ext uri="{FF2B5EF4-FFF2-40B4-BE49-F238E27FC236}">
                <a16:creationId xmlns:a16="http://schemas.microsoft.com/office/drawing/2014/main" id="{3192314C-FAB7-4DD8-B8E8-47E5154822DF}"/>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Distance scores in the implementation</a:t>
            </a:r>
          </a:p>
        </p:txBody>
      </p:sp>
      <p:sp>
        <p:nvSpPr>
          <p:cNvPr id="2" name="choose_best_swap computes distance changes for each candidate s = (a, ">
            <a:extLst xmlns:a="http://schemas.openxmlformats.org/drawingml/2006/main">
              <a:ext uri="{FF2B5EF4-FFF2-40B4-BE49-F238E27FC236}">
                <a16:creationId xmlns:a16="http://schemas.microsoft.com/office/drawing/2014/main" id="{72292F42-9083-438C-899C-DF066926DBBC}"/>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choose_best_swap computes distance changes for each candidate s = (a, b).</a:t>
            </a:r>
          </a:p>
        </p:txBody>
      </p:sp>
      <p:sp>
        <p:nvSpPr>
          <p:cNvPr id="3" name="2">
            <a:extLst xmlns:a="http://schemas.openxmlformats.org/drawingml/2006/main">
              <a:ext uri="{FF2B5EF4-FFF2-40B4-BE49-F238E27FC236}">
                <a16:creationId xmlns:a16="http://schemas.microsoft.com/office/drawing/2014/main" id="{7DF216D8-70E7-4F61-824E-0BE4D9F33E10}"/>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3</a:t>
            </a:r>
          </a:p>
        </p:txBody>
      </p:sp>
      <p:sp>
        <p:nvSpPr>
          <p:cNvPr id="4" name="Distance in one layer">
            <a:extLst xmlns:a="http://schemas.openxmlformats.org/drawingml/2006/main">
              <a:ext uri="{FF2B5EF4-FFF2-40B4-BE49-F238E27FC236}">
                <a16:creationId xmlns:a16="http://schemas.microsoft.com/office/drawing/2014/main" id="{A6F0A58F-73F5-4870-A19A-1CCD7CD03029}"/>
              </a:ext>
            </a:extLst>
          </p:cNvPr>
          <p:cNvSpPr>
            <a:spLocks xmlns:a="http://schemas.openxmlformats.org/drawingml/2006/main" noGrp="1"/>
          </p:cNvSpPr>
          <p:nvPr/>
        </p:nvSpPr>
        <p:spPr>
          <a:xfrm xmlns:a="http://schemas.openxmlformats.org/drawingml/2006/main">
            <a:off x="552450" y="1628775"/>
            <a:ext cx="581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Distance in one layer</a:t>
            </a:r>
          </a:p>
        </p:txBody>
      </p:sp>
      <p:sp>
        <p:nvSpPr>
          <p:cNvPr id="5" name="S">
            <a:extLst xmlns:a="http://schemas.openxmlformats.org/drawingml/2006/main">
              <a:ext uri="{FF2B5EF4-FFF2-40B4-BE49-F238E27FC236}">
                <a16:creationId xmlns:a16="http://schemas.microsoft.com/office/drawing/2014/main" id="{6CF46B6E-1538-4FC9-8C20-4E60E57C0213}"/>
              </a:ext>
            </a:extLst>
          </p:cNvPr>
          <p:cNvSpPr>
            <a:spLocks xmlns:a="http://schemas.openxmlformats.org/drawingml/2006/main" noGrp="1"/>
          </p:cNvSpPr>
          <p:nvPr/>
        </p:nvSpPr>
        <p:spPr>
          <a:xfrm xmlns:a="http://schemas.openxmlformats.org/drawingml/2006/main">
            <a:off x="552450" y="2047875"/>
            <a:ext cx="25412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S</a:t>
            </a:r>
          </a:p>
        </p:txBody>
      </p:sp>
      <p:sp>
        <p:nvSpPr>
          <p:cNvPr id="6" name="L">
            <a:extLst xmlns:a="http://schemas.openxmlformats.org/drawingml/2006/main">
              <a:ext uri="{FF2B5EF4-FFF2-40B4-BE49-F238E27FC236}">
                <a16:creationId xmlns:a16="http://schemas.microsoft.com/office/drawing/2014/main" id="{E9D0E65D-B43F-47AB-A178-AD7722E48B41}"/>
              </a:ext>
            </a:extLst>
          </p:cNvPr>
          <p:cNvSpPr>
            <a:spLocks xmlns:a="http://schemas.openxmlformats.org/drawingml/2006/main" noGrp="1"/>
          </p:cNvSpPr>
          <p:nvPr/>
        </p:nvSpPr>
        <p:spPr>
          <a:xfrm xmlns:a="http://schemas.openxmlformats.org/drawingml/2006/main">
            <a:off x="768477" y="2174843"/>
            <a:ext cx="16221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L</a:t>
            </a:r>
          </a:p>
        </p:txBody>
      </p:sp>
      <p:sp>
        <p:nvSpPr>
          <p:cNvPr id="7" name="(π) = Σ">
            <a:extLst xmlns:a="http://schemas.openxmlformats.org/drawingml/2006/main">
              <a:ext uri="{FF2B5EF4-FFF2-40B4-BE49-F238E27FC236}">
                <a16:creationId xmlns:a16="http://schemas.microsoft.com/office/drawing/2014/main" id="{F58B4C0F-BEED-4C86-983A-A4524EC473C8}"/>
              </a:ext>
            </a:extLst>
          </p:cNvPr>
          <p:cNvSpPr>
            <a:spLocks xmlns:a="http://schemas.openxmlformats.org/drawingml/2006/main" noGrp="1"/>
          </p:cNvSpPr>
          <p:nvPr/>
        </p:nvSpPr>
        <p:spPr>
          <a:xfrm xmlns:a="http://schemas.openxmlformats.org/drawingml/2006/main">
            <a:off x="892588" y="2047875"/>
            <a:ext cx="97659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(π) = Σ</a:t>
            </a:r>
          </a:p>
        </p:txBody>
      </p:sp>
      <p:sp>
        <p:nvSpPr>
          <p:cNvPr id="8" name="g∈L">
            <a:extLst xmlns:a="http://schemas.openxmlformats.org/drawingml/2006/main">
              <a:ext uri="{FF2B5EF4-FFF2-40B4-BE49-F238E27FC236}">
                <a16:creationId xmlns:a16="http://schemas.microsoft.com/office/drawing/2014/main" id="{A489D77F-5DA4-4D19-AD24-28F91916BFD9}"/>
              </a:ext>
            </a:extLst>
          </p:cNvPr>
          <p:cNvSpPr>
            <a:spLocks xmlns:a="http://schemas.openxmlformats.org/drawingml/2006/main" noGrp="1"/>
          </p:cNvSpPr>
          <p:nvPr/>
        </p:nvSpPr>
        <p:spPr>
          <a:xfrm xmlns:a="http://schemas.openxmlformats.org/drawingml/2006/main">
            <a:off x="1831086" y="2174843"/>
            <a:ext cx="40890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g∈L</a:t>
            </a:r>
          </a:p>
        </p:txBody>
      </p:sp>
      <p:sp>
        <p:nvSpPr>
          <p:cNvPr id="9" name=" D(π(g.q₁), π(g.q₂))">
            <a:extLst xmlns:a="http://schemas.openxmlformats.org/drawingml/2006/main">
              <a:ext uri="{FF2B5EF4-FFF2-40B4-BE49-F238E27FC236}">
                <a16:creationId xmlns:a16="http://schemas.microsoft.com/office/drawing/2014/main" id="{E48F3DD3-8DD0-42F3-A5F2-9B2A7C4E9FD4}"/>
              </a:ext>
            </a:extLst>
          </p:cNvPr>
          <p:cNvSpPr>
            <a:spLocks xmlns:a="http://schemas.openxmlformats.org/drawingml/2006/main" noGrp="1"/>
          </p:cNvSpPr>
          <p:nvPr/>
        </p:nvSpPr>
        <p:spPr>
          <a:xfrm xmlns:a="http://schemas.openxmlformats.org/drawingml/2006/main">
            <a:off x="2201894" y="2047875"/>
            <a:ext cx="277777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 D(π(g.q₁), π(g.q₂))</a:t>
            </a:r>
          </a:p>
        </p:txBody>
      </p:sp>
      <p:sp>
        <p:nvSpPr>
          <p:cNvPr id="10" name="D = shortest-path edge count on the hardware.&#10;π maps logical qubits to">
            <a:extLst xmlns:a="http://schemas.openxmlformats.org/drawingml/2006/main">
              <a:ext uri="{FF2B5EF4-FFF2-40B4-BE49-F238E27FC236}">
                <a16:creationId xmlns:a16="http://schemas.microsoft.com/office/drawing/2014/main" id="{A41F4AE9-BC3A-4DE7-AABA-52BC773396E8}"/>
              </a:ext>
            </a:extLst>
          </p:cNvPr>
          <p:cNvSpPr>
            <a:spLocks xmlns:a="http://schemas.openxmlformats.org/drawingml/2006/main" noGrp="1"/>
          </p:cNvSpPr>
          <p:nvPr/>
        </p:nvSpPr>
        <p:spPr>
          <a:xfrm xmlns:a="http://schemas.openxmlformats.org/drawingml/2006/main">
            <a:off x="552450" y="2562225"/>
            <a:ext cx="590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D = shortest-path edge count on the hardware.</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π maps logical qubits to physical wires.</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πₛ is the layout after the candidate SWAP.</a:t>
            </a:r>
          </a:p>
        </p:txBody>
      </p:sp>
      <p:sp>
        <p:nvSpPr>
          <p:cNvPr id="11" name="F: blocked front-layer 2q interactions&#10;Eℓ: future interaction layer ℓ&#10;">
            <a:extLst xmlns:a="http://schemas.openxmlformats.org/drawingml/2006/main">
              <a:ext uri="{FF2B5EF4-FFF2-40B4-BE49-F238E27FC236}">
                <a16:creationId xmlns:a16="http://schemas.microsoft.com/office/drawing/2014/main" id="{B12AC27A-8DF2-4B69-9CEE-98E0DA0BCF0C}"/>
              </a:ext>
            </a:extLst>
          </p:cNvPr>
          <p:cNvSpPr>
            <a:spLocks xmlns:a="http://schemas.openxmlformats.org/drawingml/2006/main" noGrp="1"/>
          </p:cNvSpPr>
          <p:nvPr/>
        </p:nvSpPr>
        <p:spPr>
          <a:xfrm xmlns:a="http://schemas.openxmlformats.org/drawingml/2006/main">
            <a:off x="6877050" y="1704975"/>
            <a:ext cx="48387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F: blocked front-layer 2q interactions</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Eℓ: future interaction layer ℓ</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L: one layer, either F or Eℓ</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g.q₁, g.q₂: gate g’s logical operands</a:t>
            </a:r>
          </a:p>
        </p:txBody>
      </p:sp>
      <p:sp>
        <p:nvSpPr>
          <p:cNvPr id="12" name="H₀: baseline before any candidate SWAP">
            <a:extLst xmlns:a="http://schemas.openxmlformats.org/drawingml/2006/main">
              <a:ext uri="{FF2B5EF4-FFF2-40B4-BE49-F238E27FC236}">
                <a16:creationId xmlns:a16="http://schemas.microsoft.com/office/drawing/2014/main" id="{4DE46808-91B9-4535-9281-0B47C285C097}"/>
              </a:ext>
            </a:extLst>
          </p:cNvPr>
          <p:cNvSpPr>
            <a:spLocks xmlns:a="http://schemas.openxmlformats.org/drawingml/2006/main" noGrp="1"/>
          </p:cNvSpPr>
          <p:nvPr/>
        </p:nvSpPr>
        <p:spPr>
          <a:xfrm xmlns:a="http://schemas.openxmlformats.org/drawingml/2006/main">
            <a:off x="552450" y="3552825"/>
            <a:ext cx="6115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H₀: baseline before any candidate SWAP</a:t>
            </a:r>
          </a:p>
        </p:txBody>
      </p:sp>
      <p:sp>
        <p:nvSpPr>
          <p:cNvPr id="13" name="H₀ = α S">
            <a:extLst xmlns:a="http://schemas.openxmlformats.org/drawingml/2006/main">
              <a:ext uri="{FF2B5EF4-FFF2-40B4-BE49-F238E27FC236}">
                <a16:creationId xmlns:a16="http://schemas.microsoft.com/office/drawing/2014/main" id="{4730B941-FC2E-41D7-8593-7B8556BA3E9E}"/>
              </a:ext>
            </a:extLst>
          </p:cNvPr>
          <p:cNvSpPr>
            <a:spLocks xmlns:a="http://schemas.openxmlformats.org/drawingml/2006/main" noGrp="1"/>
          </p:cNvSpPr>
          <p:nvPr/>
        </p:nvSpPr>
        <p:spPr>
          <a:xfrm xmlns:a="http://schemas.openxmlformats.org/drawingml/2006/main">
            <a:off x="552450" y="3990975"/>
            <a:ext cx="127806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H₀ = α S</a:t>
            </a:r>
          </a:p>
        </p:txBody>
      </p:sp>
      <p:sp>
        <p:nvSpPr>
          <p:cNvPr id="14" name="F">
            <a:extLst xmlns:a="http://schemas.openxmlformats.org/drawingml/2006/main">
              <a:ext uri="{FF2B5EF4-FFF2-40B4-BE49-F238E27FC236}">
                <a16:creationId xmlns:a16="http://schemas.microsoft.com/office/drawing/2014/main" id="{E556A716-0379-4CD1-8988-D141C4327145}"/>
              </a:ext>
            </a:extLst>
          </p:cNvPr>
          <p:cNvSpPr>
            <a:spLocks xmlns:a="http://schemas.openxmlformats.org/drawingml/2006/main" noGrp="1"/>
          </p:cNvSpPr>
          <p:nvPr/>
        </p:nvSpPr>
        <p:spPr>
          <a:xfrm xmlns:a="http://schemas.openxmlformats.org/drawingml/2006/main">
            <a:off x="1792414" y="4117943"/>
            <a:ext cx="17249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F</a:t>
            </a:r>
          </a:p>
        </p:txBody>
      </p:sp>
      <p:sp>
        <p:nvSpPr>
          <p:cNvPr id="15" name="(π) + Σ">
            <a:extLst xmlns:a="http://schemas.openxmlformats.org/drawingml/2006/main">
              <a:ext uri="{FF2B5EF4-FFF2-40B4-BE49-F238E27FC236}">
                <a16:creationId xmlns:a16="http://schemas.microsoft.com/office/drawing/2014/main" id="{6E3AA30B-CF18-43C9-8411-540648CA4EA3}"/>
              </a:ext>
            </a:extLst>
          </p:cNvPr>
          <p:cNvSpPr>
            <a:spLocks xmlns:a="http://schemas.openxmlformats.org/drawingml/2006/main" noGrp="1"/>
          </p:cNvSpPr>
          <p:nvPr/>
        </p:nvSpPr>
        <p:spPr>
          <a:xfrm xmlns:a="http://schemas.openxmlformats.org/drawingml/2006/main">
            <a:off x="1926812" y="3990975"/>
            <a:ext cx="97659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(π) + Σ</a:t>
            </a:r>
          </a:p>
        </p:txBody>
      </p:sp>
      <p:sp>
        <p:nvSpPr>
          <p:cNvPr id="16" name="ℓ">
            <a:extLst xmlns:a="http://schemas.openxmlformats.org/drawingml/2006/main">
              <a:ext uri="{FF2B5EF4-FFF2-40B4-BE49-F238E27FC236}">
                <a16:creationId xmlns:a16="http://schemas.microsoft.com/office/drawing/2014/main" id="{C6EA47C5-A850-45B2-871B-3CA92C00F20E}"/>
              </a:ext>
            </a:extLst>
          </p:cNvPr>
          <p:cNvSpPr>
            <a:spLocks xmlns:a="http://schemas.openxmlformats.org/drawingml/2006/main" noGrp="1"/>
          </p:cNvSpPr>
          <p:nvPr/>
        </p:nvSpPr>
        <p:spPr>
          <a:xfrm xmlns:a="http://schemas.openxmlformats.org/drawingml/2006/main">
            <a:off x="2865310" y="4117943"/>
            <a:ext cx="11820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ℓ</a:t>
            </a:r>
          </a:p>
        </p:txBody>
      </p:sp>
      <p:sp>
        <p:nvSpPr>
          <p:cNvPr id="17" name=" β">
            <a:extLst xmlns:a="http://schemas.openxmlformats.org/drawingml/2006/main">
              <a:ext uri="{FF2B5EF4-FFF2-40B4-BE49-F238E27FC236}">
                <a16:creationId xmlns:a16="http://schemas.microsoft.com/office/drawing/2014/main" id="{DA3A6D29-889C-4F3D-9CD2-0ECE24CBDBAC}"/>
              </a:ext>
            </a:extLst>
          </p:cNvPr>
          <p:cNvSpPr>
            <a:spLocks xmlns:a="http://schemas.openxmlformats.org/drawingml/2006/main" noGrp="1"/>
          </p:cNvSpPr>
          <p:nvPr/>
        </p:nvSpPr>
        <p:spPr>
          <a:xfrm xmlns:a="http://schemas.openxmlformats.org/drawingml/2006/main">
            <a:off x="2945416" y="3990975"/>
            <a:ext cx="30899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 β</a:t>
            </a:r>
          </a:p>
        </p:txBody>
      </p:sp>
      <p:sp>
        <p:nvSpPr>
          <p:cNvPr id="18" name="ℓ">
            <a:extLst xmlns:a="http://schemas.openxmlformats.org/drawingml/2006/main">
              <a:ext uri="{FF2B5EF4-FFF2-40B4-BE49-F238E27FC236}">
                <a16:creationId xmlns:a16="http://schemas.microsoft.com/office/drawing/2014/main" id="{6D435A3A-ACA3-4224-9338-20C0C566E416}"/>
              </a:ext>
            </a:extLst>
          </p:cNvPr>
          <p:cNvSpPr>
            <a:spLocks xmlns:a="http://schemas.openxmlformats.org/drawingml/2006/main" noGrp="1"/>
          </p:cNvSpPr>
          <p:nvPr/>
        </p:nvSpPr>
        <p:spPr>
          <a:xfrm xmlns:a="http://schemas.openxmlformats.org/drawingml/2006/main">
            <a:off x="3216307" y="4117943"/>
            <a:ext cx="11820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ℓ</a:t>
            </a:r>
          </a:p>
        </p:txBody>
      </p:sp>
      <p:sp>
        <p:nvSpPr>
          <p:cNvPr id="19" name=" S">
            <a:extLst xmlns:a="http://schemas.openxmlformats.org/drawingml/2006/main">
              <a:ext uri="{FF2B5EF4-FFF2-40B4-BE49-F238E27FC236}">
                <a16:creationId xmlns:a16="http://schemas.microsoft.com/office/drawing/2014/main" id="{A1A5630A-2222-4AB6-8390-8003B5DDFD71}"/>
              </a:ext>
            </a:extLst>
          </p:cNvPr>
          <p:cNvSpPr>
            <a:spLocks xmlns:a="http://schemas.openxmlformats.org/drawingml/2006/main" noGrp="1"/>
          </p:cNvSpPr>
          <p:nvPr/>
        </p:nvSpPr>
        <p:spPr>
          <a:xfrm xmlns:a="http://schemas.openxmlformats.org/drawingml/2006/main">
            <a:off x="3296412" y="3990975"/>
            <a:ext cx="33613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 S</a:t>
            </a:r>
          </a:p>
        </p:txBody>
      </p:sp>
      <p:sp>
        <p:nvSpPr>
          <p:cNvPr id="20" name="Eℓ">
            <a:extLst xmlns:a="http://schemas.openxmlformats.org/drawingml/2006/main">
              <a:ext uri="{FF2B5EF4-FFF2-40B4-BE49-F238E27FC236}">
                <a16:creationId xmlns:a16="http://schemas.microsoft.com/office/drawing/2014/main" id="{D6CF7A5D-7624-4EB0-A3F7-C8A348752C69}"/>
              </a:ext>
            </a:extLst>
          </p:cNvPr>
          <p:cNvSpPr>
            <a:spLocks xmlns:a="http://schemas.openxmlformats.org/drawingml/2006/main" noGrp="1"/>
          </p:cNvSpPr>
          <p:nvPr/>
        </p:nvSpPr>
        <p:spPr>
          <a:xfrm xmlns:a="http://schemas.openxmlformats.org/drawingml/2006/main">
            <a:off x="3594449" y="4117943"/>
            <a:ext cx="24412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Eℓ</a:t>
            </a:r>
          </a:p>
        </p:txBody>
      </p:sp>
      <p:sp>
        <p:nvSpPr>
          <p:cNvPr id="21" name="(π)">
            <a:extLst xmlns:a="http://schemas.openxmlformats.org/drawingml/2006/main">
              <a:ext uri="{FF2B5EF4-FFF2-40B4-BE49-F238E27FC236}">
                <a16:creationId xmlns:a16="http://schemas.microsoft.com/office/drawing/2014/main" id="{25459977-DDC4-4A88-964F-74C4CC3B3CF8}"/>
              </a:ext>
            </a:extLst>
          </p:cNvPr>
          <p:cNvSpPr>
            <a:spLocks xmlns:a="http://schemas.openxmlformats.org/drawingml/2006/main" noGrp="1"/>
          </p:cNvSpPr>
          <p:nvPr/>
        </p:nvSpPr>
        <p:spPr>
          <a:xfrm xmlns:a="http://schemas.openxmlformats.org/drawingml/2006/main">
            <a:off x="3800475" y="3990975"/>
            <a:ext cx="45748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(π)</a:t>
            </a:r>
          </a:p>
        </p:txBody>
      </p:sp>
      <p:sp>
        <p:nvSpPr>
          <p:cNvPr id="22" name="The current layout’s weighted distance sum.&#10;Computed once per choose_b">
            <a:extLst xmlns:a="http://schemas.openxmlformats.org/drawingml/2006/main">
              <a:ext uri="{FF2B5EF4-FFF2-40B4-BE49-F238E27FC236}">
                <a16:creationId xmlns:a16="http://schemas.microsoft.com/office/drawing/2014/main" id="{C464CFA0-3C9C-48B9-B4CD-4D3B3D3678C1}"/>
              </a:ext>
            </a:extLst>
          </p:cNvPr>
          <p:cNvSpPr>
            <a:spLocks xmlns:a="http://schemas.openxmlformats.org/drawingml/2006/main" noGrp="1"/>
          </p:cNvSpPr>
          <p:nvPr/>
        </p:nvSpPr>
        <p:spPr>
          <a:xfrm xmlns:a="http://schemas.openxmlformats.org/drawingml/2006/main">
            <a:off x="6877050" y="3590925"/>
            <a:ext cx="4895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The current layout’s weighted distance sum.</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Computed once per choose_best_swap call.</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The same H₀ applies to every candidate.</a:t>
            </a:r>
          </a:p>
        </p:txBody>
      </p:sp>
      <p:sp>
        <p:nvSpPr>
          <p:cNvPr id="23" name="Δ(s): distance change caused by candidate s">
            <a:extLst xmlns:a="http://schemas.openxmlformats.org/drawingml/2006/main">
              <a:ext uri="{FF2B5EF4-FFF2-40B4-BE49-F238E27FC236}">
                <a16:creationId xmlns:a16="http://schemas.microsoft.com/office/drawing/2014/main" id="{292CB74A-FAF3-410B-8AE4-D50C248226A0}"/>
              </a:ext>
            </a:extLst>
          </p:cNvPr>
          <p:cNvSpPr>
            <a:spLocks xmlns:a="http://schemas.openxmlformats.org/drawingml/2006/main" noGrp="1"/>
          </p:cNvSpPr>
          <p:nvPr/>
        </p:nvSpPr>
        <p:spPr>
          <a:xfrm xmlns:a="http://schemas.openxmlformats.org/drawingml/2006/main">
            <a:off x="552450" y="4772025"/>
            <a:ext cx="6219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Δ(s): distance change caused by candidate s</a:t>
            </a:r>
          </a:p>
        </p:txBody>
      </p:sp>
      <p:sp>
        <p:nvSpPr>
          <p:cNvPr id="24" name="Δ">
            <a:extLst xmlns:a="http://schemas.openxmlformats.org/drawingml/2006/main">
              <a:ext uri="{FF2B5EF4-FFF2-40B4-BE49-F238E27FC236}">
                <a16:creationId xmlns:a16="http://schemas.microsoft.com/office/drawing/2014/main" id="{DE56A271-CD3E-474E-9CF7-88D6E86E5723}"/>
              </a:ext>
            </a:extLst>
          </p:cNvPr>
          <p:cNvSpPr>
            <a:spLocks xmlns:a="http://schemas.openxmlformats.org/drawingml/2006/main" noGrp="1"/>
          </p:cNvSpPr>
          <p:nvPr/>
        </p:nvSpPr>
        <p:spPr>
          <a:xfrm xmlns:a="http://schemas.openxmlformats.org/drawingml/2006/main">
            <a:off x="552450" y="5210175"/>
            <a:ext cx="25441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Δ</a:t>
            </a:r>
          </a:p>
        </p:txBody>
      </p:sp>
      <p:sp>
        <p:nvSpPr>
          <p:cNvPr id="25" name="L">
            <a:extLst xmlns:a="http://schemas.openxmlformats.org/drawingml/2006/main">
              <a:ext uri="{FF2B5EF4-FFF2-40B4-BE49-F238E27FC236}">
                <a16:creationId xmlns:a16="http://schemas.microsoft.com/office/drawing/2014/main" id="{98D8594C-44EB-4B61-954E-E1A099556D05}"/>
              </a:ext>
            </a:extLst>
          </p:cNvPr>
          <p:cNvSpPr>
            <a:spLocks xmlns:a="http://schemas.openxmlformats.org/drawingml/2006/main" noGrp="1"/>
          </p:cNvSpPr>
          <p:nvPr/>
        </p:nvSpPr>
        <p:spPr>
          <a:xfrm xmlns:a="http://schemas.openxmlformats.org/drawingml/2006/main">
            <a:off x="768763" y="5337143"/>
            <a:ext cx="16221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L</a:t>
            </a:r>
          </a:p>
        </p:txBody>
      </p:sp>
      <p:sp>
        <p:nvSpPr>
          <p:cNvPr id="26" name="(s) = S">
            <a:extLst xmlns:a="http://schemas.openxmlformats.org/drawingml/2006/main">
              <a:ext uri="{FF2B5EF4-FFF2-40B4-BE49-F238E27FC236}">
                <a16:creationId xmlns:a16="http://schemas.microsoft.com/office/drawing/2014/main" id="{F069B016-BC48-4C44-A812-654B4A25D5FD}"/>
              </a:ext>
            </a:extLst>
          </p:cNvPr>
          <p:cNvSpPr>
            <a:spLocks xmlns:a="http://schemas.openxmlformats.org/drawingml/2006/main" noGrp="1"/>
          </p:cNvSpPr>
          <p:nvPr/>
        </p:nvSpPr>
        <p:spPr>
          <a:xfrm xmlns:a="http://schemas.openxmlformats.org/drawingml/2006/main">
            <a:off x="892873" y="5210175"/>
            <a:ext cx="93487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(s) = S</a:t>
            </a:r>
          </a:p>
        </p:txBody>
      </p:sp>
      <p:sp>
        <p:nvSpPr>
          <p:cNvPr id="27" name="L">
            <a:extLst xmlns:a="http://schemas.openxmlformats.org/drawingml/2006/main">
              <a:ext uri="{FF2B5EF4-FFF2-40B4-BE49-F238E27FC236}">
                <a16:creationId xmlns:a16="http://schemas.microsoft.com/office/drawing/2014/main" id="{1F19E190-CAA8-4A2C-B220-A8D5AB5E3F8F}"/>
              </a:ext>
            </a:extLst>
          </p:cNvPr>
          <p:cNvSpPr>
            <a:spLocks xmlns:a="http://schemas.openxmlformats.org/drawingml/2006/main" noGrp="1"/>
          </p:cNvSpPr>
          <p:nvPr/>
        </p:nvSpPr>
        <p:spPr>
          <a:xfrm xmlns:a="http://schemas.openxmlformats.org/drawingml/2006/main">
            <a:off x="1789652" y="5337143"/>
            <a:ext cx="16221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L</a:t>
            </a:r>
          </a:p>
        </p:txBody>
      </p:sp>
      <p:sp>
        <p:nvSpPr>
          <p:cNvPr id="28" name="(π">
            <a:extLst xmlns:a="http://schemas.openxmlformats.org/drawingml/2006/main">
              <a:ext uri="{FF2B5EF4-FFF2-40B4-BE49-F238E27FC236}">
                <a16:creationId xmlns:a16="http://schemas.microsoft.com/office/drawing/2014/main" id="{CED4B27D-8425-4DEA-AB8E-AE77B1DD02E7}"/>
              </a:ext>
            </a:extLst>
          </p:cNvPr>
          <p:cNvSpPr>
            <a:spLocks xmlns:a="http://schemas.openxmlformats.org/drawingml/2006/main" noGrp="1"/>
          </p:cNvSpPr>
          <p:nvPr/>
        </p:nvSpPr>
        <p:spPr>
          <a:xfrm xmlns:a="http://schemas.openxmlformats.org/drawingml/2006/main">
            <a:off x="1913763" y="5210175"/>
            <a:ext cx="35918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(π</a:t>
            </a:r>
          </a:p>
        </p:txBody>
      </p:sp>
      <p:sp>
        <p:nvSpPr>
          <p:cNvPr id="29" name="s">
            <a:extLst xmlns:a="http://schemas.openxmlformats.org/drawingml/2006/main">
              <a:ext uri="{FF2B5EF4-FFF2-40B4-BE49-F238E27FC236}">
                <a16:creationId xmlns:a16="http://schemas.microsoft.com/office/drawing/2014/main" id="{83B553BF-5005-4115-892E-B13AFB1BDACB}"/>
              </a:ext>
            </a:extLst>
          </p:cNvPr>
          <p:cNvSpPr>
            <a:spLocks xmlns:a="http://schemas.openxmlformats.org/drawingml/2006/main" noGrp="1"/>
          </p:cNvSpPr>
          <p:nvPr/>
        </p:nvSpPr>
        <p:spPr>
          <a:xfrm xmlns:a="http://schemas.openxmlformats.org/drawingml/2006/main">
            <a:off x="2234851" y="5337143"/>
            <a:ext cx="15154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s</a:t>
            </a:r>
          </a:p>
        </p:txBody>
      </p:sp>
      <p:sp>
        <p:nvSpPr>
          <p:cNvPr id="30" name=") − S">
            <a:extLst xmlns:a="http://schemas.openxmlformats.org/drawingml/2006/main">
              <a:ext uri="{FF2B5EF4-FFF2-40B4-BE49-F238E27FC236}">
                <a16:creationId xmlns:a16="http://schemas.microsoft.com/office/drawing/2014/main" id="{5FAE1796-3A54-450A-8606-7466665595B0}"/>
              </a:ext>
            </a:extLst>
          </p:cNvPr>
          <p:cNvSpPr>
            <a:spLocks xmlns:a="http://schemas.openxmlformats.org/drawingml/2006/main" noGrp="1"/>
          </p:cNvSpPr>
          <p:nvPr/>
        </p:nvSpPr>
        <p:spPr>
          <a:xfrm xmlns:a="http://schemas.openxmlformats.org/drawingml/2006/main">
            <a:off x="2348293" y="5210175"/>
            <a:ext cx="68894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 − S</a:t>
            </a:r>
          </a:p>
        </p:txBody>
      </p:sp>
      <p:sp>
        <p:nvSpPr>
          <p:cNvPr id="31" name="L">
            <a:extLst xmlns:a="http://schemas.openxmlformats.org/drawingml/2006/main">
              <a:ext uri="{FF2B5EF4-FFF2-40B4-BE49-F238E27FC236}">
                <a16:creationId xmlns:a16="http://schemas.microsoft.com/office/drawing/2014/main" id="{5BCCC497-262C-46E1-B66A-692FAE3AD41C}"/>
              </a:ext>
            </a:extLst>
          </p:cNvPr>
          <p:cNvSpPr>
            <a:spLocks xmlns:a="http://schemas.openxmlformats.org/drawingml/2006/main" noGrp="1"/>
          </p:cNvSpPr>
          <p:nvPr/>
        </p:nvSpPr>
        <p:spPr>
          <a:xfrm xmlns:a="http://schemas.openxmlformats.org/drawingml/2006/main">
            <a:off x="2999137" y="5337143"/>
            <a:ext cx="16221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L</a:t>
            </a:r>
          </a:p>
        </p:txBody>
      </p:sp>
      <p:sp>
        <p:nvSpPr>
          <p:cNvPr id="32" name="(π)">
            <a:extLst xmlns:a="http://schemas.openxmlformats.org/drawingml/2006/main">
              <a:ext uri="{FF2B5EF4-FFF2-40B4-BE49-F238E27FC236}">
                <a16:creationId xmlns:a16="http://schemas.microsoft.com/office/drawing/2014/main" id="{4A3096E8-D70A-4FB6-AA2B-4C5E6C46BAFE}"/>
              </a:ext>
            </a:extLst>
          </p:cNvPr>
          <p:cNvSpPr>
            <a:spLocks xmlns:a="http://schemas.openxmlformats.org/drawingml/2006/main" noGrp="1"/>
          </p:cNvSpPr>
          <p:nvPr/>
        </p:nvSpPr>
        <p:spPr>
          <a:xfrm xmlns:a="http://schemas.openxmlformats.org/drawingml/2006/main">
            <a:off x="3123248" y="5210175"/>
            <a:ext cx="45748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(π)</a:t>
            </a:r>
          </a:p>
        </p:txBody>
      </p:sp>
      <p:sp>
        <p:nvSpPr>
          <p:cNvPr id="33" name="Δ(s) = α Δ">
            <a:extLst xmlns:a="http://schemas.openxmlformats.org/drawingml/2006/main">
              <a:ext uri="{FF2B5EF4-FFF2-40B4-BE49-F238E27FC236}">
                <a16:creationId xmlns:a16="http://schemas.microsoft.com/office/drawing/2014/main" id="{7DC9592C-CAA1-4E75-BB94-E0B1558E3B82}"/>
              </a:ext>
            </a:extLst>
          </p:cNvPr>
          <p:cNvSpPr>
            <a:spLocks xmlns:a="http://schemas.openxmlformats.org/drawingml/2006/main" noGrp="1"/>
          </p:cNvSpPr>
          <p:nvPr/>
        </p:nvSpPr>
        <p:spPr>
          <a:xfrm xmlns:a="http://schemas.openxmlformats.org/drawingml/2006/main">
            <a:off x="552450" y="5629275"/>
            <a:ext cx="136883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Δ(s) = α Δ</a:t>
            </a:r>
          </a:p>
        </p:txBody>
      </p:sp>
      <p:sp>
        <p:nvSpPr>
          <p:cNvPr id="34" name="F">
            <a:extLst xmlns:a="http://schemas.openxmlformats.org/drawingml/2006/main">
              <a:ext uri="{FF2B5EF4-FFF2-40B4-BE49-F238E27FC236}">
                <a16:creationId xmlns:a16="http://schemas.microsoft.com/office/drawing/2014/main" id="{A35D6566-CCEB-490B-B51A-F14C80E99421}"/>
              </a:ext>
            </a:extLst>
          </p:cNvPr>
          <p:cNvSpPr>
            <a:spLocks xmlns:a="http://schemas.openxmlformats.org/drawingml/2006/main" noGrp="1"/>
          </p:cNvSpPr>
          <p:nvPr/>
        </p:nvSpPr>
        <p:spPr>
          <a:xfrm xmlns:a="http://schemas.openxmlformats.org/drawingml/2006/main">
            <a:off x="1883188" y="5756243"/>
            <a:ext cx="17249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F</a:t>
            </a:r>
          </a:p>
        </p:txBody>
      </p:sp>
      <p:sp>
        <p:nvSpPr>
          <p:cNvPr id="35" name="(s) + Σ">
            <a:extLst xmlns:a="http://schemas.openxmlformats.org/drawingml/2006/main">
              <a:ext uri="{FF2B5EF4-FFF2-40B4-BE49-F238E27FC236}">
                <a16:creationId xmlns:a16="http://schemas.microsoft.com/office/drawing/2014/main" id="{0087D41A-53F8-4750-9865-E5760DFB5AD9}"/>
              </a:ext>
            </a:extLst>
          </p:cNvPr>
          <p:cNvSpPr>
            <a:spLocks xmlns:a="http://schemas.openxmlformats.org/drawingml/2006/main" noGrp="1"/>
          </p:cNvSpPr>
          <p:nvPr/>
        </p:nvSpPr>
        <p:spPr>
          <a:xfrm xmlns:a="http://schemas.openxmlformats.org/drawingml/2006/main">
            <a:off x="2017586" y="5629275"/>
            <a:ext cx="92049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(s) + Σ</a:t>
            </a:r>
          </a:p>
        </p:txBody>
      </p:sp>
      <p:sp>
        <p:nvSpPr>
          <p:cNvPr id="36" name="ℓ">
            <a:extLst xmlns:a="http://schemas.openxmlformats.org/drawingml/2006/main">
              <a:ext uri="{FF2B5EF4-FFF2-40B4-BE49-F238E27FC236}">
                <a16:creationId xmlns:a16="http://schemas.microsoft.com/office/drawing/2014/main" id="{17605A4D-B09C-4FAF-BF27-2E018E636F12}"/>
              </a:ext>
            </a:extLst>
          </p:cNvPr>
          <p:cNvSpPr>
            <a:spLocks xmlns:a="http://schemas.openxmlformats.org/drawingml/2006/main" noGrp="1"/>
          </p:cNvSpPr>
          <p:nvPr/>
        </p:nvSpPr>
        <p:spPr>
          <a:xfrm xmlns:a="http://schemas.openxmlformats.org/drawingml/2006/main">
            <a:off x="2899982" y="5756243"/>
            <a:ext cx="11820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ℓ</a:t>
            </a:r>
          </a:p>
        </p:txBody>
      </p:sp>
      <p:sp>
        <p:nvSpPr>
          <p:cNvPr id="37" name=" β">
            <a:extLst xmlns:a="http://schemas.openxmlformats.org/drawingml/2006/main">
              <a:ext uri="{FF2B5EF4-FFF2-40B4-BE49-F238E27FC236}">
                <a16:creationId xmlns:a16="http://schemas.microsoft.com/office/drawing/2014/main" id="{39E4BB50-0E74-486B-884A-9884BD43FAC1}"/>
              </a:ext>
            </a:extLst>
          </p:cNvPr>
          <p:cNvSpPr>
            <a:spLocks xmlns:a="http://schemas.openxmlformats.org/drawingml/2006/main" noGrp="1"/>
          </p:cNvSpPr>
          <p:nvPr/>
        </p:nvSpPr>
        <p:spPr>
          <a:xfrm xmlns:a="http://schemas.openxmlformats.org/drawingml/2006/main">
            <a:off x="2980087" y="5629275"/>
            <a:ext cx="30899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 β</a:t>
            </a:r>
          </a:p>
        </p:txBody>
      </p:sp>
      <p:sp>
        <p:nvSpPr>
          <p:cNvPr id="38" name="ℓ">
            <a:extLst xmlns:a="http://schemas.openxmlformats.org/drawingml/2006/main">
              <a:ext uri="{FF2B5EF4-FFF2-40B4-BE49-F238E27FC236}">
                <a16:creationId xmlns:a16="http://schemas.microsoft.com/office/drawing/2014/main" id="{8411E7F0-DCE0-4734-AD89-AF95732D6A8C}"/>
              </a:ext>
            </a:extLst>
          </p:cNvPr>
          <p:cNvSpPr>
            <a:spLocks xmlns:a="http://schemas.openxmlformats.org/drawingml/2006/main" noGrp="1"/>
          </p:cNvSpPr>
          <p:nvPr/>
        </p:nvSpPr>
        <p:spPr>
          <a:xfrm xmlns:a="http://schemas.openxmlformats.org/drawingml/2006/main">
            <a:off x="3250978" y="5756243"/>
            <a:ext cx="11820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ℓ</a:t>
            </a:r>
          </a:p>
        </p:txBody>
      </p:sp>
      <p:sp>
        <p:nvSpPr>
          <p:cNvPr id="39" name=" Δ">
            <a:extLst xmlns:a="http://schemas.openxmlformats.org/drawingml/2006/main">
              <a:ext uri="{FF2B5EF4-FFF2-40B4-BE49-F238E27FC236}">
                <a16:creationId xmlns:a16="http://schemas.microsoft.com/office/drawing/2014/main" id="{B42470FB-E3DA-4150-8A53-CC2E66031FDF}"/>
              </a:ext>
            </a:extLst>
          </p:cNvPr>
          <p:cNvSpPr>
            <a:spLocks xmlns:a="http://schemas.openxmlformats.org/drawingml/2006/main" noGrp="1"/>
          </p:cNvSpPr>
          <p:nvPr/>
        </p:nvSpPr>
        <p:spPr>
          <a:xfrm xmlns:a="http://schemas.openxmlformats.org/drawingml/2006/main">
            <a:off x="3331083" y="5629275"/>
            <a:ext cx="32013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 Δ</a:t>
            </a:r>
          </a:p>
        </p:txBody>
      </p:sp>
      <p:sp>
        <p:nvSpPr>
          <p:cNvPr id="40" name="Eℓ">
            <a:extLst xmlns:a="http://schemas.openxmlformats.org/drawingml/2006/main">
              <a:ext uri="{FF2B5EF4-FFF2-40B4-BE49-F238E27FC236}">
                <a16:creationId xmlns:a16="http://schemas.microsoft.com/office/drawing/2014/main" id="{6D9F2817-BF54-4C96-8195-44C36D5D30BA}"/>
              </a:ext>
            </a:extLst>
          </p:cNvPr>
          <p:cNvSpPr>
            <a:spLocks xmlns:a="http://schemas.openxmlformats.org/drawingml/2006/main" noGrp="1"/>
          </p:cNvSpPr>
          <p:nvPr/>
        </p:nvSpPr>
        <p:spPr>
          <a:xfrm xmlns:a="http://schemas.openxmlformats.org/drawingml/2006/main">
            <a:off x="3613118" y="5756243"/>
            <a:ext cx="24412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Eℓ</a:t>
            </a:r>
          </a:p>
        </p:txBody>
      </p:sp>
      <p:sp>
        <p:nvSpPr>
          <p:cNvPr id="41" name="(s)">
            <a:extLst xmlns:a="http://schemas.openxmlformats.org/drawingml/2006/main">
              <a:ext uri="{FF2B5EF4-FFF2-40B4-BE49-F238E27FC236}">
                <a16:creationId xmlns:a16="http://schemas.microsoft.com/office/drawing/2014/main" id="{89BEE88E-4CE4-436E-BFF1-47899C1A06EA}"/>
              </a:ext>
            </a:extLst>
          </p:cNvPr>
          <p:cNvSpPr>
            <a:spLocks xmlns:a="http://schemas.openxmlformats.org/drawingml/2006/main" noGrp="1"/>
          </p:cNvSpPr>
          <p:nvPr/>
        </p:nvSpPr>
        <p:spPr>
          <a:xfrm xmlns:a="http://schemas.openxmlformats.org/drawingml/2006/main">
            <a:off x="3819144" y="5629275"/>
            <a:ext cx="40147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(s)</a:t>
            </a:r>
          </a:p>
        </p:txBody>
      </p:sp>
      <p:sp>
        <p:nvSpPr>
          <p:cNvPr id="42" name="Layer::score returns the distance change.&#10;It checks only interactions ">
            <a:extLst xmlns:a="http://schemas.openxmlformats.org/drawingml/2006/main">
              <a:ext uri="{FF2B5EF4-FFF2-40B4-BE49-F238E27FC236}">
                <a16:creationId xmlns:a16="http://schemas.microsoft.com/office/drawing/2014/main" id="{7BC5BECB-E379-4AB6-A766-CB37A0BC3266}"/>
              </a:ext>
            </a:extLst>
          </p:cNvPr>
          <p:cNvSpPr>
            <a:spLocks xmlns:a="http://schemas.openxmlformats.org/drawingml/2006/main" noGrp="1"/>
          </p:cNvSpPr>
          <p:nvPr/>
        </p:nvSpPr>
        <p:spPr>
          <a:xfrm xmlns:a="http://schemas.openxmlformats.org/drawingml/2006/main">
            <a:off x="6877050" y="50101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Layer::score returns the distance change.</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It checks only interactions affected by s.</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A negative Δ improves the distance score.</a:t>
            </a:r>
          </a:p>
        </p:txBody>
      </p:sp>
      <p:sp>
        <p:nvSpPr>
          <p:cNvPr id="43" name="H₀ is absolute_score in the code. α and βℓ are the effective weights e">
            <a:extLst xmlns:a="http://schemas.openxmlformats.org/drawingml/2006/main">
              <a:ext uri="{FF2B5EF4-FFF2-40B4-BE49-F238E27FC236}">
                <a16:creationId xmlns:a16="http://schemas.microsoft.com/office/drawing/2014/main" id="{19D4C1EC-5A02-4A48-A05D-463C665F5F9B}"/>
              </a:ext>
            </a:extLst>
          </p:cNvPr>
          <p:cNvSpPr>
            <a:spLocks xmlns:a="http://schemas.openxmlformats.org/drawingml/2006/main" noGrp="1"/>
          </p:cNvSpPr>
          <p:nvPr/>
        </p:nvSpPr>
        <p:spPr>
          <a:xfrm xmlns:a="http://schemas.openxmlformats.org/drawingml/2006/main">
            <a:off x="552450" y="6200775"/>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H₀ is absolute_score in the code. α and βℓ are the effective weights explained on the next slide.</a:t>
            </a:r>
          </a:p>
        </p:txBody>
      </p:sp>
    </p:spTree>
    <p:extLst>
      <p:ext uri="{BB962C8B-B14F-4D97-AF65-F5344CB8AC3E}">
        <p14:creationId xmlns:p14="http://schemas.microsoft.com/office/powerpoint/2010/main" val="8485168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How the code selects a SWAP">
            <a:extLst xmlns:a="http://schemas.openxmlformats.org/drawingml/2006/main">
              <a:ext uri="{FF2B5EF4-FFF2-40B4-BE49-F238E27FC236}">
                <a16:creationId xmlns:a16="http://schemas.microsoft.com/office/drawing/2014/main" id="{D2E78DF1-E379-410C-B701-4107A64A2C02}"/>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How the code selects a SWAP</a:t>
            </a:r>
          </a:p>
        </p:txBody>
      </p:sp>
      <p:sp>
        <p:nvSpPr>
          <p:cNvPr id="2" name="Qold(s) names the score before fusion credit and wire readiness were a">
            <a:extLst xmlns:a="http://schemas.openxmlformats.org/drawingml/2006/main">
              <a:ext uri="{FF2B5EF4-FFF2-40B4-BE49-F238E27FC236}">
                <a16:creationId xmlns:a16="http://schemas.microsoft.com/office/drawing/2014/main" id="{A0AFEEB8-F4D3-493D-9350-9C96D97A95E6}"/>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Qold(s) names the score before fusion credit and wire readiness were added.</a:t>
            </a:r>
          </a:p>
        </p:txBody>
      </p:sp>
      <p:sp>
        <p:nvSpPr>
          <p:cNvPr id="3" name="3">
            <a:extLst xmlns:a="http://schemas.openxmlformats.org/drawingml/2006/main">
              <a:ext uri="{FF2B5EF4-FFF2-40B4-BE49-F238E27FC236}">
                <a16:creationId xmlns:a16="http://schemas.microsoft.com/office/drawing/2014/main" id="{70CCB660-C3C2-426F-BB4F-82C82C7B5FA1}"/>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4</a:t>
            </a:r>
          </a:p>
        </p:txBody>
      </p:sp>
      <p:graphicFrame>
        <p:nvGraphicFramePr>
          <p:cNvPr id="4" name="">
            <a:extLst xmlns:a="http://schemas.openxmlformats.org/drawingml/2006/main">
              <a:ext uri="{FF2B5EF4-FFF2-40B4-BE49-F238E27FC236}">
                <a16:creationId xmlns:a16="http://schemas.microsoft.com/office/drawing/2014/main" id="{09BE0500-C23D-4C3E-B6B6-C4A6A10E5A02}"/>
              </a:ext>
            </a:extLst>
          </p:cNvPr>
          <p:cNvGraphicFramePr/>
          <p:nvPr/>
        </p:nvGraphicFramePr>
        <p:xfrm>
          <a:off xmlns:a="http://schemas.openxmlformats.org/drawingml/2006/main" x="552450" y="1581150"/>
          <a:ext xmlns:a="http://schemas.openxmlformats.org/drawingml/2006/main" cx="11087100" cy="1571625"/>
        </p:xfrm>
        <a:graphic xmlns:a="http://schemas.openxmlformats.org/drawingml/2006/main">
          <a:graphicData uri="http://schemas.openxmlformats.org/drawingml/2006/table">
            <a:tbl>
              <a:tblPr/>
              <a:tblGrid>
                <a:gridCol w="2667000"/>
                <a:gridCol w="2381250"/>
                <a:gridCol w="3371850"/>
                <a:gridCol w="2667000"/>
              </a:tblGrid>
              <a:tr h="392906">
                <a:tc>
                  <a:txBody>
                    <a:bodyPr lIns="114300" tIns="66675" rIns="95250" bIns="66675">
                      <a:noAutofit/>
                    </a:bodyPr>
                    <a:lstStyle/>
                    <a:p>
                      <a:r>
                        <a:rPr sz="1800" b="1">
                          <a:solidFill>
                            <a:srgbClr val="13233D"/>
                          </a:solidFill>
                          <a:latin typeface="Arial"/>
                          <a:ea typeface="Arial"/>
                          <a:cs typeface="Arial"/>
                        </a:rPr>
                        <a:t>SabreSwap preset</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800" b="1">
                          <a:solidFill>
                            <a:srgbClr val="13233D"/>
                          </a:solidFill>
                          <a:latin typeface="Arial"/>
                          <a:ea typeface="Arial"/>
                          <a:cs typeface="Arial"/>
                        </a:rPr>
                        <a:t>Front weight α</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800" b="1">
                          <a:solidFill>
                            <a:srgbClr val="13233D"/>
                          </a:solidFill>
                          <a:latin typeface="Arial"/>
                          <a:ea typeface="Arial"/>
                          <a:cs typeface="Arial"/>
                        </a:rPr>
                        <a:t>Lookahead weight β₁</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800" b="1">
                          <a:solidFill>
                            <a:srgbClr val="13233D"/>
                          </a:solidFill>
                          <a:latin typeface="Arial"/>
                          <a:ea typeface="Arial"/>
                          <a:cs typeface="Arial"/>
                        </a:rPr>
                        <a:t>Decay multiplier</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92906">
                <a:tc>
                  <a:txBody>
                    <a:bodyPr lIns="114300" tIns="66675" rIns="95250" bIns="66675">
                      <a:noAutofit/>
                    </a:bodyPr>
                    <a:lstStyle/>
                    <a:p>
                      <a:r>
                        <a:rPr sz="1800" b="0">
                          <a:solidFill>
                            <a:srgbClr val="526479"/>
                          </a:solidFill>
                          <a:latin typeface="Arial"/>
                          <a:ea typeface="Arial"/>
                          <a:cs typeface="Arial"/>
                        </a:rPr>
                        <a:t>basic</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1 / |F|</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92906">
                <a:tc>
                  <a:txBody>
                    <a:bodyPr lIns="114300" tIns="66675" rIns="95250" bIns="66675">
                      <a:noAutofit/>
                    </a:bodyPr>
                    <a:lstStyle/>
                    <a:p>
                      <a:r>
                        <a:rPr sz="1800" b="0">
                          <a:solidFill>
                            <a:srgbClr val="526479"/>
                          </a:solidFill>
                          <a:latin typeface="Arial"/>
                          <a:ea typeface="Arial"/>
                          <a:cs typeface="Arial"/>
                        </a:rPr>
                        <a:t>lookahead</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0.5 / N</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92906">
                <a:tc>
                  <a:txBody>
                    <a:bodyPr lIns="114300" tIns="66675" rIns="95250" bIns="66675">
                      <a:noAutofit/>
                    </a:bodyPr>
                    <a:lstStyle/>
                    <a:p>
                      <a:r>
                        <a:rPr sz="1800" b="0">
                          <a:solidFill>
                            <a:srgbClr val="526479"/>
                          </a:solidFill>
                          <a:latin typeface="Arial"/>
                          <a:ea typeface="Arial"/>
                          <a:cs typeface="Arial"/>
                        </a:rPr>
                        <a:t>decay</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0.5 / N</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800" b="0">
                          <a:solidFill>
                            <a:srgbClr val="526479"/>
                          </a:solidFill>
                          <a:latin typeface="Arial"/>
                          <a:ea typeface="Arial"/>
                          <a:cs typeface="Arial"/>
                        </a:rPr>
                        <a:t>dₛ</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5" name="N = physical-qubit count. The named presets use one lookahead layer, e">
            <a:extLst xmlns:a="http://schemas.openxmlformats.org/drawingml/2006/main">
              <a:ext uri="{FF2B5EF4-FFF2-40B4-BE49-F238E27FC236}">
                <a16:creationId xmlns:a16="http://schemas.microsoft.com/office/drawing/2014/main" id="{4EFDF215-CB2B-42C7-9F01-6D0D15ABA331}"/>
              </a:ext>
            </a:extLst>
          </p:cNvPr>
          <p:cNvSpPr>
            <a:spLocks xmlns:a="http://schemas.openxmlformats.org/drawingml/2006/main" noGrp="1"/>
          </p:cNvSpPr>
          <p:nvPr/>
        </p:nvSpPr>
        <p:spPr>
          <a:xfrm xmlns:a="http://schemas.openxmlformats.org/drawingml/2006/main">
            <a:off x="552450" y="32670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N = physical-qubit count. The named presets use one lookahead layer, except basic.</a:t>
            </a:r>
          </a:p>
        </p:txBody>
      </p:sp>
      <p:sp>
        <p:nvSpPr>
          <p:cNvPr id="6" name="Custom Size scaling divides a weight by its layer size (empty: 0). Con">
            <a:extLst xmlns:a="http://schemas.openxmlformats.org/drawingml/2006/main">
              <a:ext uri="{FF2B5EF4-FFF2-40B4-BE49-F238E27FC236}">
                <a16:creationId xmlns:a16="http://schemas.microsoft.com/office/drawing/2014/main" id="{FC31CBEA-DC15-4240-A0DE-B9176DAC19A9}"/>
              </a:ext>
            </a:extLst>
          </p:cNvPr>
          <p:cNvSpPr>
            <a:spLocks xmlns:a="http://schemas.openxmlformats.org/drawingml/2006/main" noGrp="1"/>
          </p:cNvSpPr>
          <p:nvPr/>
        </p:nvSpPr>
        <p:spPr>
          <a:xfrm xmlns:a="http://schemas.openxmlformats.org/drawingml/2006/main">
            <a:off x="552450" y="35528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Custom Size scaling divides a weight by its layer size (empty: 0). Constant scaling keeps the weight.</a:t>
            </a:r>
          </a:p>
        </p:txBody>
      </p:sp>
      <p:sp>
        <p:nvSpPr>
          <p:cNvPr id="7" name="Without decay: basic or lookahead">
            <a:extLst xmlns:a="http://schemas.openxmlformats.org/drawingml/2006/main">
              <a:ext uri="{FF2B5EF4-FFF2-40B4-BE49-F238E27FC236}">
                <a16:creationId xmlns:a16="http://schemas.microsoft.com/office/drawing/2014/main" id="{4E935382-8955-4AF2-9C81-66B548107BD6}"/>
              </a:ext>
            </a:extLst>
          </p:cNvPr>
          <p:cNvSpPr>
            <a:spLocks xmlns:a="http://schemas.openxmlformats.org/drawingml/2006/main" noGrp="1"/>
          </p:cNvSpPr>
          <p:nvPr/>
        </p:nvSpPr>
        <p:spPr>
          <a:xfrm xmlns:a="http://schemas.openxmlformats.org/drawingml/2006/main">
            <a:off x="552450" y="4029075"/>
            <a:ext cx="561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2459C4"/>
                </a:solidFill>
                <a:latin typeface="Arial"/>
                <a:ea typeface="Arial"/>
                <a:cs typeface="Arial"/>
              </a:defRPr>
            </a:defPPr>
          </a:lstStyle>
          <a:p xmlns:a="http://schemas.openxmlformats.org/drawingml/2006/main">
            <a:pPr>
              <a:buNone/>
              <a:defRPr sz="1875" b="1">
                <a:solidFill>
                  <a:srgbClr val="2459C4"/>
                </a:solidFill>
                <a:latin typeface="Arial"/>
                <a:ea typeface="Arial"/>
                <a:cs typeface="Arial"/>
              </a:defRPr>
            </a:pPr>
            <a:r>
              <a:rPr sz="1875" b="1">
                <a:solidFill>
                  <a:srgbClr val="2459C4"/>
                </a:solidFill>
                <a:latin typeface="Arial"/>
                <a:ea typeface="Arial"/>
                <a:cs typeface="Arial"/>
              </a:rPr>
              <a:t>Without decay: basic or lookahead</a:t>
            </a:r>
          </a:p>
        </p:txBody>
      </p:sp>
      <p:sp>
        <p:nvSpPr>
          <p:cNvPr id="8" name="Q">
            <a:extLst xmlns:a="http://schemas.openxmlformats.org/drawingml/2006/main">
              <a:ext uri="{FF2B5EF4-FFF2-40B4-BE49-F238E27FC236}">
                <a16:creationId xmlns:a16="http://schemas.microsoft.com/office/drawing/2014/main" id="{19E6C02F-92B7-495C-83F2-4BE40F006D08}"/>
              </a:ext>
            </a:extLst>
          </p:cNvPr>
          <p:cNvSpPr>
            <a:spLocks xmlns:a="http://schemas.openxmlformats.org/drawingml/2006/main" noGrp="1"/>
          </p:cNvSpPr>
          <p:nvPr/>
        </p:nvSpPr>
        <p:spPr>
          <a:xfrm xmlns:a="http://schemas.openxmlformats.org/drawingml/2006/main">
            <a:off x="552450" y="4419600"/>
            <a:ext cx="294227"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0">
                <a:solidFill>
                  <a:srgbClr val="13233D"/>
                </a:solidFill>
                <a:latin typeface="Arial"/>
                <a:ea typeface="Arial"/>
                <a:cs typeface="Arial"/>
              </a:defRPr>
            </a:defPPr>
          </a:lstStyle>
          <a:p xmlns:a="http://schemas.openxmlformats.org/drawingml/2006/main">
            <a:pPr>
              <a:buNone/>
              <a:defRPr sz="2400" b="0">
                <a:solidFill>
                  <a:srgbClr val="13233D"/>
                </a:solidFill>
                <a:latin typeface="Arial"/>
                <a:ea typeface="Arial"/>
                <a:cs typeface="Arial"/>
              </a:defRPr>
            </a:pPr>
            <a:r>
              <a:rPr sz="2400" b="0">
                <a:solidFill>
                  <a:srgbClr val="13233D"/>
                </a:solidFill>
                <a:latin typeface="Arial"/>
                <a:ea typeface="Arial"/>
                <a:cs typeface="Arial"/>
              </a:rPr>
              <a:t>Q</a:t>
            </a:r>
          </a:p>
        </p:txBody>
      </p:sp>
      <p:sp>
        <p:nvSpPr>
          <p:cNvPr id="9" name="old">
            <a:extLst xmlns:a="http://schemas.openxmlformats.org/drawingml/2006/main">
              <a:ext uri="{FF2B5EF4-FFF2-40B4-BE49-F238E27FC236}">
                <a16:creationId xmlns:a16="http://schemas.microsoft.com/office/drawing/2014/main" id="{36CD9478-A149-46BC-992C-20CDE1D2C75B}"/>
              </a:ext>
            </a:extLst>
          </p:cNvPr>
          <p:cNvSpPr>
            <a:spLocks xmlns:a="http://schemas.openxmlformats.org/drawingml/2006/main" noGrp="1"/>
          </p:cNvSpPr>
          <p:nvPr/>
        </p:nvSpPr>
        <p:spPr>
          <a:xfrm xmlns:a="http://schemas.openxmlformats.org/drawingml/2006/main">
            <a:off x="808577" y="4550664"/>
            <a:ext cx="317278"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36" b="0">
                <a:solidFill>
                  <a:srgbClr val="13233D"/>
                </a:solidFill>
                <a:latin typeface="Arial"/>
                <a:ea typeface="Arial"/>
                <a:cs typeface="Arial"/>
              </a:defRPr>
            </a:defPPr>
          </a:lstStyle>
          <a:p xmlns:a="http://schemas.openxmlformats.org/drawingml/2006/main">
            <a:pPr>
              <a:buNone/>
              <a:defRPr sz="1536" b="0">
                <a:solidFill>
                  <a:srgbClr val="13233D"/>
                </a:solidFill>
                <a:latin typeface="Arial"/>
                <a:ea typeface="Arial"/>
                <a:cs typeface="Arial"/>
              </a:defRPr>
            </a:pPr>
            <a:r>
              <a:rPr sz="1536" b="0">
                <a:solidFill>
                  <a:srgbClr val="13233D"/>
                </a:solidFill>
                <a:latin typeface="Arial"/>
                <a:ea typeface="Arial"/>
                <a:cs typeface="Arial"/>
              </a:rPr>
              <a:t>old</a:t>
            </a:r>
          </a:p>
        </p:txBody>
      </p:sp>
      <p:sp>
        <p:nvSpPr>
          <p:cNvPr id="10" name="(s) = Δ(s)">
            <a:extLst xmlns:a="http://schemas.openxmlformats.org/drawingml/2006/main">
              <a:ext uri="{FF2B5EF4-FFF2-40B4-BE49-F238E27FC236}">
                <a16:creationId xmlns:a16="http://schemas.microsoft.com/office/drawing/2014/main" id="{70A227C7-CFC5-410D-9D9A-E38539989FA3}"/>
              </a:ext>
            </a:extLst>
          </p:cNvPr>
          <p:cNvSpPr>
            <a:spLocks xmlns:a="http://schemas.openxmlformats.org/drawingml/2006/main" noGrp="1"/>
          </p:cNvSpPr>
          <p:nvPr/>
        </p:nvSpPr>
        <p:spPr>
          <a:xfrm xmlns:a="http://schemas.openxmlformats.org/drawingml/2006/main">
            <a:off x="1087755" y="4419600"/>
            <a:ext cx="1318927"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0">
                <a:solidFill>
                  <a:srgbClr val="13233D"/>
                </a:solidFill>
                <a:latin typeface="Arial"/>
                <a:ea typeface="Arial"/>
                <a:cs typeface="Arial"/>
              </a:defRPr>
            </a:defPPr>
          </a:lstStyle>
          <a:p xmlns:a="http://schemas.openxmlformats.org/drawingml/2006/main">
            <a:pPr>
              <a:buNone/>
              <a:defRPr sz="2400" b="0">
                <a:solidFill>
                  <a:srgbClr val="13233D"/>
                </a:solidFill>
                <a:latin typeface="Arial"/>
                <a:ea typeface="Arial"/>
                <a:cs typeface="Arial"/>
              </a:defRPr>
            </a:pPr>
            <a:r>
              <a:rPr sz="2400" b="0">
                <a:solidFill>
                  <a:srgbClr val="13233D"/>
                </a:solidFill>
                <a:latin typeface="Arial"/>
                <a:ea typeface="Arial"/>
                <a:cs typeface="Arial"/>
              </a:rPr>
              <a:t>(s) = Δ(s)</a:t>
            </a:r>
          </a:p>
        </p:txBody>
      </p:sp>
      <p:sp>
        <p:nvSpPr>
          <p:cNvPr id="11" name="With decay enabled">
            <a:extLst xmlns:a="http://schemas.openxmlformats.org/drawingml/2006/main">
              <a:ext uri="{FF2B5EF4-FFF2-40B4-BE49-F238E27FC236}">
                <a16:creationId xmlns:a16="http://schemas.microsoft.com/office/drawing/2014/main" id="{E76E5769-5E06-4C26-8D02-6EADF920F086}"/>
              </a:ext>
            </a:extLst>
          </p:cNvPr>
          <p:cNvSpPr>
            <a:spLocks xmlns:a="http://schemas.openxmlformats.org/drawingml/2006/main" noGrp="1"/>
          </p:cNvSpPr>
          <p:nvPr/>
        </p:nvSpPr>
        <p:spPr>
          <a:xfrm xmlns:a="http://schemas.openxmlformats.org/drawingml/2006/main">
            <a:off x="6762750" y="4029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2459C4"/>
                </a:solidFill>
                <a:latin typeface="Arial"/>
                <a:ea typeface="Arial"/>
                <a:cs typeface="Arial"/>
              </a:defRPr>
            </a:defPPr>
          </a:lstStyle>
          <a:p xmlns:a="http://schemas.openxmlformats.org/drawingml/2006/main">
            <a:pPr>
              <a:buNone/>
              <a:defRPr sz="1875" b="1">
                <a:solidFill>
                  <a:srgbClr val="2459C4"/>
                </a:solidFill>
                <a:latin typeface="Arial"/>
                <a:ea typeface="Arial"/>
                <a:cs typeface="Arial"/>
              </a:defRPr>
            </a:pPr>
            <a:r>
              <a:rPr sz="1875" b="1">
                <a:solidFill>
                  <a:srgbClr val="2459C4"/>
                </a:solidFill>
                <a:latin typeface="Arial"/>
                <a:ea typeface="Arial"/>
                <a:cs typeface="Arial"/>
              </a:rPr>
              <a:t>With decay enabled</a:t>
            </a:r>
          </a:p>
        </p:txBody>
      </p:sp>
      <p:sp>
        <p:nvSpPr>
          <p:cNvPr id="12" name="Q">
            <a:extLst xmlns:a="http://schemas.openxmlformats.org/drawingml/2006/main">
              <a:ext uri="{FF2B5EF4-FFF2-40B4-BE49-F238E27FC236}">
                <a16:creationId xmlns:a16="http://schemas.microsoft.com/office/drawing/2014/main" id="{EE1371A8-D6DB-43F2-85E4-21F7E71550EB}"/>
              </a:ext>
            </a:extLst>
          </p:cNvPr>
          <p:cNvSpPr>
            <a:spLocks xmlns:a="http://schemas.openxmlformats.org/drawingml/2006/main" noGrp="1"/>
          </p:cNvSpPr>
          <p:nvPr/>
        </p:nvSpPr>
        <p:spPr>
          <a:xfrm xmlns:a="http://schemas.openxmlformats.org/drawingml/2006/main">
            <a:off x="6762750" y="4419600"/>
            <a:ext cx="294227"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0">
                <a:solidFill>
                  <a:srgbClr val="13233D"/>
                </a:solidFill>
                <a:latin typeface="Arial"/>
                <a:ea typeface="Arial"/>
                <a:cs typeface="Arial"/>
              </a:defRPr>
            </a:defPPr>
          </a:lstStyle>
          <a:p xmlns:a="http://schemas.openxmlformats.org/drawingml/2006/main">
            <a:pPr>
              <a:buNone/>
              <a:defRPr sz="2400" b="0">
                <a:solidFill>
                  <a:srgbClr val="13233D"/>
                </a:solidFill>
                <a:latin typeface="Arial"/>
                <a:ea typeface="Arial"/>
                <a:cs typeface="Arial"/>
              </a:defRPr>
            </a:pPr>
            <a:r>
              <a:rPr sz="2400" b="0">
                <a:solidFill>
                  <a:srgbClr val="13233D"/>
                </a:solidFill>
                <a:latin typeface="Arial"/>
                <a:ea typeface="Arial"/>
                <a:cs typeface="Arial"/>
              </a:rPr>
              <a:t>Q</a:t>
            </a:r>
          </a:p>
        </p:txBody>
      </p:sp>
      <p:sp>
        <p:nvSpPr>
          <p:cNvPr id="13" name="old">
            <a:extLst xmlns:a="http://schemas.openxmlformats.org/drawingml/2006/main">
              <a:ext uri="{FF2B5EF4-FFF2-40B4-BE49-F238E27FC236}">
                <a16:creationId xmlns:a16="http://schemas.microsoft.com/office/drawing/2014/main" id="{0423F43E-951F-4094-8B59-210E2F0B039F}"/>
              </a:ext>
            </a:extLst>
          </p:cNvPr>
          <p:cNvSpPr>
            <a:spLocks xmlns:a="http://schemas.openxmlformats.org/drawingml/2006/main" noGrp="1"/>
          </p:cNvSpPr>
          <p:nvPr/>
        </p:nvSpPr>
        <p:spPr>
          <a:xfrm xmlns:a="http://schemas.openxmlformats.org/drawingml/2006/main">
            <a:off x="7018877" y="4550664"/>
            <a:ext cx="317278"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36" b="0">
                <a:solidFill>
                  <a:srgbClr val="13233D"/>
                </a:solidFill>
                <a:latin typeface="Arial"/>
                <a:ea typeface="Arial"/>
                <a:cs typeface="Arial"/>
              </a:defRPr>
            </a:defPPr>
          </a:lstStyle>
          <a:p xmlns:a="http://schemas.openxmlformats.org/drawingml/2006/main">
            <a:pPr>
              <a:buNone/>
              <a:defRPr sz="1536" b="0">
                <a:solidFill>
                  <a:srgbClr val="13233D"/>
                </a:solidFill>
                <a:latin typeface="Arial"/>
                <a:ea typeface="Arial"/>
                <a:cs typeface="Arial"/>
              </a:defRPr>
            </a:pPr>
            <a:r>
              <a:rPr sz="1536" b="0">
                <a:solidFill>
                  <a:srgbClr val="13233D"/>
                </a:solidFill>
                <a:latin typeface="Arial"/>
                <a:ea typeface="Arial"/>
                <a:cs typeface="Arial"/>
              </a:rPr>
              <a:t>old</a:t>
            </a:r>
          </a:p>
        </p:txBody>
      </p:sp>
      <p:sp>
        <p:nvSpPr>
          <p:cNvPr id="14" name="(s) = d">
            <a:extLst xmlns:a="http://schemas.openxmlformats.org/drawingml/2006/main">
              <a:ext uri="{FF2B5EF4-FFF2-40B4-BE49-F238E27FC236}">
                <a16:creationId xmlns:a16="http://schemas.microsoft.com/office/drawing/2014/main" id="{3EC2BA11-30E1-451F-A49F-161C02F17FE7}"/>
              </a:ext>
            </a:extLst>
          </p:cNvPr>
          <p:cNvSpPr>
            <a:spLocks xmlns:a="http://schemas.openxmlformats.org/drawingml/2006/main" noGrp="1"/>
          </p:cNvSpPr>
          <p:nvPr/>
        </p:nvSpPr>
        <p:spPr>
          <a:xfrm xmlns:a="http://schemas.openxmlformats.org/drawingml/2006/main">
            <a:off x="7298055" y="4419600"/>
            <a:ext cx="92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0">
                <a:solidFill>
                  <a:srgbClr val="13233D"/>
                </a:solidFill>
                <a:latin typeface="Arial"/>
                <a:ea typeface="Arial"/>
                <a:cs typeface="Arial"/>
              </a:defRPr>
            </a:defPPr>
          </a:lstStyle>
          <a:p xmlns:a="http://schemas.openxmlformats.org/drawingml/2006/main">
            <a:pPr>
              <a:buNone/>
              <a:defRPr sz="2400" b="0">
                <a:solidFill>
                  <a:srgbClr val="13233D"/>
                </a:solidFill>
                <a:latin typeface="Arial"/>
                <a:ea typeface="Arial"/>
                <a:cs typeface="Arial"/>
              </a:defRPr>
            </a:pPr>
            <a:r>
              <a:rPr sz="2400" b="0">
                <a:solidFill>
                  <a:srgbClr val="13233D"/>
                </a:solidFill>
                <a:latin typeface="Arial"/>
                <a:ea typeface="Arial"/>
                <a:cs typeface="Arial"/>
              </a:rPr>
              <a:t>(s) = d</a:t>
            </a:r>
          </a:p>
        </p:txBody>
      </p:sp>
      <p:sp>
        <p:nvSpPr>
          <p:cNvPr id="15" name="s">
            <a:extLst xmlns:a="http://schemas.openxmlformats.org/drawingml/2006/main">
              <a:ext uri="{FF2B5EF4-FFF2-40B4-BE49-F238E27FC236}">
                <a16:creationId xmlns:a16="http://schemas.microsoft.com/office/drawing/2014/main" id="{367BB8C5-B7EF-41DF-BF34-68E4FA07650C}"/>
              </a:ext>
            </a:extLst>
          </p:cNvPr>
          <p:cNvSpPr>
            <a:spLocks xmlns:a="http://schemas.openxmlformats.org/drawingml/2006/main" noGrp="1"/>
          </p:cNvSpPr>
          <p:nvPr/>
        </p:nvSpPr>
        <p:spPr>
          <a:xfrm xmlns:a="http://schemas.openxmlformats.org/drawingml/2006/main">
            <a:off x="8189405" y="4550664"/>
            <a:ext cx="154591"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36" b="0">
                <a:solidFill>
                  <a:srgbClr val="13233D"/>
                </a:solidFill>
                <a:latin typeface="Arial"/>
                <a:ea typeface="Arial"/>
                <a:cs typeface="Arial"/>
              </a:defRPr>
            </a:defPPr>
          </a:lstStyle>
          <a:p xmlns:a="http://schemas.openxmlformats.org/drawingml/2006/main">
            <a:pPr>
              <a:buNone/>
              <a:defRPr sz="1536" b="0">
                <a:solidFill>
                  <a:srgbClr val="13233D"/>
                </a:solidFill>
                <a:latin typeface="Arial"/>
                <a:ea typeface="Arial"/>
                <a:cs typeface="Arial"/>
              </a:defRPr>
            </a:pPr>
            <a:r>
              <a:rPr sz="1536" b="0">
                <a:solidFill>
                  <a:srgbClr val="13233D"/>
                </a:solidFill>
                <a:latin typeface="Arial"/>
                <a:ea typeface="Arial"/>
                <a:cs typeface="Arial"/>
              </a:rPr>
              <a:t>s</a:t>
            </a:r>
          </a:p>
        </p:txBody>
      </p:sp>
      <p:sp>
        <p:nvSpPr>
          <p:cNvPr id="16" name=" [H₀ + Δ(s)]">
            <a:extLst xmlns:a="http://schemas.openxmlformats.org/drawingml/2006/main">
              <a:ext uri="{FF2B5EF4-FFF2-40B4-BE49-F238E27FC236}">
                <a16:creationId xmlns:a16="http://schemas.microsoft.com/office/drawing/2014/main" id="{38CC956F-F420-4CCD-B2B1-61957EDC6580}"/>
              </a:ext>
            </a:extLst>
          </p:cNvPr>
          <p:cNvSpPr>
            <a:spLocks xmlns:a="http://schemas.openxmlformats.org/drawingml/2006/main" noGrp="1"/>
          </p:cNvSpPr>
          <p:nvPr/>
        </p:nvSpPr>
        <p:spPr>
          <a:xfrm xmlns:a="http://schemas.openxmlformats.org/drawingml/2006/main">
            <a:off x="8305895" y="4419600"/>
            <a:ext cx="1666304"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0">
                <a:solidFill>
                  <a:srgbClr val="13233D"/>
                </a:solidFill>
                <a:latin typeface="Arial"/>
                <a:ea typeface="Arial"/>
                <a:cs typeface="Arial"/>
              </a:defRPr>
            </a:defPPr>
          </a:lstStyle>
          <a:p xmlns:a="http://schemas.openxmlformats.org/drawingml/2006/main">
            <a:pPr>
              <a:buNone/>
              <a:defRPr sz="2400" b="0">
                <a:solidFill>
                  <a:srgbClr val="13233D"/>
                </a:solidFill>
                <a:latin typeface="Arial"/>
                <a:ea typeface="Arial"/>
                <a:cs typeface="Arial"/>
              </a:defRPr>
            </a:pPr>
            <a:r>
              <a:rPr sz="2400" b="0">
                <a:solidFill>
                  <a:srgbClr val="13233D"/>
                </a:solidFill>
                <a:latin typeface="Arial"/>
                <a:ea typeface="Arial"/>
                <a:cs typeface="Arial"/>
              </a:rPr>
              <a:t> [H₀ + Δ(s)]</a:t>
            </a:r>
          </a:p>
        </p:txBody>
      </p:sp>
      <p:sp>
        <p:nvSpPr>
          <p:cNvPr id="17" name="Where Hlookahead and Hdecay fit">
            <a:extLst xmlns:a="http://schemas.openxmlformats.org/drawingml/2006/main">
              <a:ext uri="{FF2B5EF4-FFF2-40B4-BE49-F238E27FC236}">
                <a16:creationId xmlns:a16="http://schemas.microsoft.com/office/drawing/2014/main" id="{52B03810-2607-44E2-B72C-2F1DEDF2D44B}"/>
              </a:ext>
            </a:extLst>
          </p:cNvPr>
          <p:cNvSpPr>
            <a:spLocks xmlns:a="http://schemas.openxmlformats.org/drawingml/2006/main" noGrp="1"/>
          </p:cNvSpPr>
          <p:nvPr/>
        </p:nvSpPr>
        <p:spPr>
          <a:xfrm xmlns:a="http://schemas.openxmlformats.org/drawingml/2006/main">
            <a:off x="552450" y="50387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2459C4"/>
                </a:solidFill>
                <a:latin typeface="Arial"/>
                <a:ea typeface="Arial"/>
                <a:cs typeface="Arial"/>
              </a:defRPr>
            </a:defPPr>
          </a:lstStyle>
          <a:p xmlns:a="http://schemas.openxmlformats.org/drawingml/2006/main">
            <a:pPr>
              <a:buNone/>
              <a:defRPr sz="1875" b="1">
                <a:solidFill>
                  <a:srgbClr val="2459C4"/>
                </a:solidFill>
                <a:latin typeface="Arial"/>
                <a:ea typeface="Arial"/>
                <a:cs typeface="Arial"/>
              </a:defRPr>
            </a:pPr>
            <a:r>
              <a:rPr sz="1875" b="1">
                <a:solidFill>
                  <a:srgbClr val="2459C4"/>
                </a:solidFill>
                <a:latin typeface="Arial"/>
                <a:ea typeface="Arial"/>
                <a:cs typeface="Arial"/>
              </a:rPr>
              <a:t>Where Hlookahead and Hdecay fit</a:t>
            </a:r>
          </a:p>
        </p:txBody>
      </p:sp>
      <p:sp>
        <p:nvSpPr>
          <p:cNvPr id="18" name="For lookahead / decay presets, these labels describe code steps. They ">
            <a:extLst xmlns:a="http://schemas.openxmlformats.org/drawingml/2006/main">
              <a:ext uri="{FF2B5EF4-FFF2-40B4-BE49-F238E27FC236}">
                <a16:creationId xmlns:a16="http://schemas.microsoft.com/office/drawing/2014/main" id="{887DF00D-7A79-43E9-B7FC-524AF43DB1E3}"/>
              </a:ext>
            </a:extLst>
          </p:cNvPr>
          <p:cNvSpPr>
            <a:spLocks xmlns:a="http://schemas.openxmlformats.org/drawingml/2006/main" noGrp="1"/>
          </p:cNvSpPr>
          <p:nvPr/>
        </p:nvSpPr>
        <p:spPr>
          <a:xfrm xmlns:a="http://schemas.openxmlformats.org/drawingml/2006/main">
            <a:off x="552450" y="54292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For lookahead / decay presets, these labels describe code steps. They are not separate functions.</a:t>
            </a:r>
          </a:p>
        </p:txBody>
      </p:sp>
      <p:sp>
        <p:nvSpPr>
          <p:cNvPr id="19" name="H">
            <a:extLst xmlns:a="http://schemas.openxmlformats.org/drawingml/2006/main">
              <a:ext uri="{FF2B5EF4-FFF2-40B4-BE49-F238E27FC236}">
                <a16:creationId xmlns:a16="http://schemas.microsoft.com/office/drawing/2014/main" id="{B5E679EB-E776-4A52-BD79-8CC3AD3E091A}"/>
              </a:ext>
            </a:extLst>
          </p:cNvPr>
          <p:cNvSpPr>
            <a:spLocks xmlns:a="http://schemas.openxmlformats.org/drawingml/2006/main" noGrp="1"/>
          </p:cNvSpPr>
          <p:nvPr/>
        </p:nvSpPr>
        <p:spPr>
          <a:xfrm xmlns:a="http://schemas.openxmlformats.org/drawingml/2006/main">
            <a:off x="552450" y="5781675"/>
            <a:ext cx="256604"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H</a:t>
            </a:r>
          </a:p>
        </p:txBody>
      </p:sp>
      <p:sp>
        <p:nvSpPr>
          <p:cNvPr id="20" name="lookahead">
            <a:extLst xmlns:a="http://schemas.openxmlformats.org/drawingml/2006/main">
              <a:ext uri="{FF2B5EF4-FFF2-40B4-BE49-F238E27FC236}">
                <a16:creationId xmlns:a16="http://schemas.microsoft.com/office/drawing/2014/main" id="{0CC4A91E-339A-4A78-821A-C882EB7A253C}"/>
              </a:ext>
            </a:extLst>
          </p:cNvPr>
          <p:cNvSpPr>
            <a:spLocks xmlns:a="http://schemas.openxmlformats.org/drawingml/2006/main" noGrp="1"/>
          </p:cNvSpPr>
          <p:nvPr/>
        </p:nvSpPr>
        <p:spPr>
          <a:xfrm xmlns:a="http://schemas.openxmlformats.org/drawingml/2006/main">
            <a:off x="770954" y="5900452"/>
            <a:ext cx="87249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92" b="0">
                <a:solidFill>
                  <a:srgbClr val="13233D"/>
                </a:solidFill>
                <a:latin typeface="Arial"/>
                <a:ea typeface="Arial"/>
                <a:cs typeface="Arial"/>
              </a:defRPr>
            </a:defPPr>
          </a:lstStyle>
          <a:p xmlns:a="http://schemas.openxmlformats.org/drawingml/2006/main">
            <a:pPr>
              <a:buNone/>
              <a:defRPr sz="1392" b="0">
                <a:solidFill>
                  <a:srgbClr val="13233D"/>
                </a:solidFill>
                <a:latin typeface="Arial"/>
                <a:ea typeface="Arial"/>
                <a:cs typeface="Arial"/>
              </a:defRPr>
            </a:pPr>
            <a:r>
              <a:rPr sz="1392" b="0">
                <a:solidFill>
                  <a:srgbClr val="13233D"/>
                </a:solidFill>
                <a:latin typeface="Arial"/>
                <a:ea typeface="Arial"/>
                <a:cs typeface="Arial"/>
              </a:rPr>
              <a:t>lookahead</a:t>
            </a:r>
          </a:p>
        </p:txBody>
      </p:sp>
      <p:sp>
        <p:nvSpPr>
          <p:cNvPr id="21" name="(π">
            <a:extLst xmlns:a="http://schemas.openxmlformats.org/drawingml/2006/main">
              <a:ext uri="{FF2B5EF4-FFF2-40B4-BE49-F238E27FC236}">
                <a16:creationId xmlns:a16="http://schemas.microsoft.com/office/drawing/2014/main" id="{5D3E1D99-BCB6-4064-B804-C03ED364F3DA}"/>
              </a:ext>
            </a:extLst>
          </p:cNvPr>
          <p:cNvSpPr>
            <a:spLocks xmlns:a="http://schemas.openxmlformats.org/drawingml/2006/main" noGrp="1"/>
          </p:cNvSpPr>
          <p:nvPr/>
        </p:nvSpPr>
        <p:spPr>
          <a:xfrm xmlns:a="http://schemas.openxmlformats.org/drawingml/2006/main">
            <a:off x="1605343" y="5781675"/>
            <a:ext cx="33975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(π</a:t>
            </a:r>
          </a:p>
        </p:txBody>
      </p:sp>
      <p:sp>
        <p:nvSpPr>
          <p:cNvPr id="22" name="s">
            <a:extLst xmlns:a="http://schemas.openxmlformats.org/drawingml/2006/main">
              <a:ext uri="{FF2B5EF4-FFF2-40B4-BE49-F238E27FC236}">
                <a16:creationId xmlns:a16="http://schemas.microsoft.com/office/drawing/2014/main" id="{88B1A22B-FF63-4867-832A-88F266E4DD41}"/>
              </a:ext>
            </a:extLst>
          </p:cNvPr>
          <p:cNvSpPr>
            <a:spLocks xmlns:a="http://schemas.openxmlformats.org/drawingml/2006/main" noGrp="1"/>
          </p:cNvSpPr>
          <p:nvPr/>
        </p:nvSpPr>
        <p:spPr>
          <a:xfrm xmlns:a="http://schemas.openxmlformats.org/drawingml/2006/main">
            <a:off x="1907000" y="5900452"/>
            <a:ext cx="14544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92" b="0">
                <a:solidFill>
                  <a:srgbClr val="13233D"/>
                </a:solidFill>
                <a:latin typeface="Arial"/>
                <a:ea typeface="Arial"/>
                <a:cs typeface="Arial"/>
              </a:defRPr>
            </a:defPPr>
          </a:lstStyle>
          <a:p xmlns:a="http://schemas.openxmlformats.org/drawingml/2006/main">
            <a:pPr>
              <a:buNone/>
              <a:defRPr sz="1392" b="0">
                <a:solidFill>
                  <a:srgbClr val="13233D"/>
                </a:solidFill>
                <a:latin typeface="Arial"/>
                <a:ea typeface="Arial"/>
                <a:cs typeface="Arial"/>
              </a:defRPr>
            </a:pPr>
            <a:r>
              <a:rPr sz="1392" b="0">
                <a:solidFill>
                  <a:srgbClr val="13233D"/>
                </a:solidFill>
                <a:latin typeface="Arial"/>
                <a:ea typeface="Arial"/>
                <a:cs typeface="Arial"/>
              </a:rPr>
              <a:t>s</a:t>
            </a:r>
          </a:p>
        </p:txBody>
      </p:sp>
      <p:sp>
        <p:nvSpPr>
          <p:cNvPr id="23" name=") = H₀ + Δ(s)">
            <a:extLst xmlns:a="http://schemas.openxmlformats.org/drawingml/2006/main">
              <a:ext uri="{FF2B5EF4-FFF2-40B4-BE49-F238E27FC236}">
                <a16:creationId xmlns:a16="http://schemas.microsoft.com/office/drawing/2014/main" id="{FA2D5B22-C655-4BF6-BB22-2198A7BA9B11}"/>
              </a:ext>
            </a:extLst>
          </p:cNvPr>
          <p:cNvSpPr>
            <a:spLocks xmlns:a="http://schemas.openxmlformats.org/drawingml/2006/main" noGrp="1"/>
          </p:cNvSpPr>
          <p:nvPr/>
        </p:nvSpPr>
        <p:spPr>
          <a:xfrm xmlns:a="http://schemas.openxmlformats.org/drawingml/2006/main">
            <a:off x="2014347" y="5781675"/>
            <a:ext cx="1692021"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 = H₀ + Δ(s)</a:t>
            </a:r>
          </a:p>
        </p:txBody>
      </p:sp>
      <p:sp>
        <p:nvSpPr>
          <p:cNvPr id="24" name="H">
            <a:extLst xmlns:a="http://schemas.openxmlformats.org/drawingml/2006/main">
              <a:ext uri="{FF2B5EF4-FFF2-40B4-BE49-F238E27FC236}">
                <a16:creationId xmlns:a16="http://schemas.microsoft.com/office/drawing/2014/main" id="{93149F0B-919B-46A7-80DB-A07905E3B5AB}"/>
              </a:ext>
            </a:extLst>
          </p:cNvPr>
          <p:cNvSpPr>
            <a:spLocks xmlns:a="http://schemas.openxmlformats.org/drawingml/2006/main" noGrp="1"/>
          </p:cNvSpPr>
          <p:nvPr/>
        </p:nvSpPr>
        <p:spPr>
          <a:xfrm xmlns:a="http://schemas.openxmlformats.org/drawingml/2006/main">
            <a:off x="6543675" y="5781675"/>
            <a:ext cx="256604"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H</a:t>
            </a:r>
          </a:p>
        </p:txBody>
      </p:sp>
      <p:sp>
        <p:nvSpPr>
          <p:cNvPr id="25" name="decay">
            <a:extLst xmlns:a="http://schemas.openxmlformats.org/drawingml/2006/main">
              <a:ext uri="{FF2B5EF4-FFF2-40B4-BE49-F238E27FC236}">
                <a16:creationId xmlns:a16="http://schemas.microsoft.com/office/drawing/2014/main" id="{90FD41C5-ABBD-463D-8D1A-341DDD2352CC}"/>
              </a:ext>
            </a:extLst>
          </p:cNvPr>
          <p:cNvSpPr>
            <a:spLocks xmlns:a="http://schemas.openxmlformats.org/drawingml/2006/main" noGrp="1"/>
          </p:cNvSpPr>
          <p:nvPr/>
        </p:nvSpPr>
        <p:spPr>
          <a:xfrm xmlns:a="http://schemas.openxmlformats.org/drawingml/2006/main">
            <a:off x="6762179" y="5900452"/>
            <a:ext cx="52854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92" b="0">
                <a:solidFill>
                  <a:srgbClr val="13233D"/>
                </a:solidFill>
                <a:latin typeface="Arial"/>
                <a:ea typeface="Arial"/>
                <a:cs typeface="Arial"/>
              </a:defRPr>
            </a:defPPr>
          </a:lstStyle>
          <a:p xmlns:a="http://schemas.openxmlformats.org/drawingml/2006/main">
            <a:pPr>
              <a:buNone/>
              <a:defRPr sz="1392" b="0">
                <a:solidFill>
                  <a:srgbClr val="13233D"/>
                </a:solidFill>
                <a:latin typeface="Arial"/>
                <a:ea typeface="Arial"/>
                <a:cs typeface="Arial"/>
              </a:defRPr>
            </a:pPr>
            <a:r>
              <a:rPr sz="1392" b="0">
                <a:solidFill>
                  <a:srgbClr val="13233D"/>
                </a:solidFill>
                <a:latin typeface="Arial"/>
                <a:ea typeface="Arial"/>
                <a:cs typeface="Arial"/>
              </a:rPr>
              <a:t>decay</a:t>
            </a:r>
          </a:p>
        </p:txBody>
      </p:sp>
      <p:sp>
        <p:nvSpPr>
          <p:cNvPr id="26" name="(s) = d">
            <a:extLst xmlns:a="http://schemas.openxmlformats.org/drawingml/2006/main">
              <a:ext uri="{FF2B5EF4-FFF2-40B4-BE49-F238E27FC236}">
                <a16:creationId xmlns:a16="http://schemas.microsoft.com/office/drawing/2014/main" id="{00C0634E-94BE-46D1-AB28-BF207B064C4E}"/>
              </a:ext>
            </a:extLst>
          </p:cNvPr>
          <p:cNvSpPr>
            <a:spLocks xmlns:a="http://schemas.openxmlformats.org/drawingml/2006/main" noGrp="1"/>
          </p:cNvSpPr>
          <p:nvPr/>
        </p:nvSpPr>
        <p:spPr>
          <a:xfrm xmlns:a="http://schemas.openxmlformats.org/drawingml/2006/main">
            <a:off x="7252621" y="5781675"/>
            <a:ext cx="84763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(s) = d</a:t>
            </a:r>
          </a:p>
        </p:txBody>
      </p:sp>
      <p:sp>
        <p:nvSpPr>
          <p:cNvPr id="27" name="s">
            <a:extLst xmlns:a="http://schemas.openxmlformats.org/drawingml/2006/main">
              <a:ext uri="{FF2B5EF4-FFF2-40B4-BE49-F238E27FC236}">
                <a16:creationId xmlns:a16="http://schemas.microsoft.com/office/drawing/2014/main" id="{DB68DF14-62D4-445D-9F63-034728FE944F}"/>
              </a:ext>
            </a:extLst>
          </p:cNvPr>
          <p:cNvSpPr>
            <a:spLocks xmlns:a="http://schemas.openxmlformats.org/drawingml/2006/main" noGrp="1"/>
          </p:cNvSpPr>
          <p:nvPr/>
        </p:nvSpPr>
        <p:spPr>
          <a:xfrm xmlns:a="http://schemas.openxmlformats.org/drawingml/2006/main">
            <a:off x="8062151" y="5900452"/>
            <a:ext cx="14544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92" b="0">
                <a:solidFill>
                  <a:srgbClr val="13233D"/>
                </a:solidFill>
                <a:latin typeface="Arial"/>
                <a:ea typeface="Arial"/>
                <a:cs typeface="Arial"/>
              </a:defRPr>
            </a:defPPr>
          </a:lstStyle>
          <a:p xmlns:a="http://schemas.openxmlformats.org/drawingml/2006/main">
            <a:pPr>
              <a:buNone/>
              <a:defRPr sz="1392" b="0">
                <a:solidFill>
                  <a:srgbClr val="13233D"/>
                </a:solidFill>
                <a:latin typeface="Arial"/>
                <a:ea typeface="Arial"/>
                <a:cs typeface="Arial"/>
              </a:defRPr>
            </a:pPr>
            <a:r>
              <a:rPr sz="1392" b="0">
                <a:solidFill>
                  <a:srgbClr val="13233D"/>
                </a:solidFill>
                <a:latin typeface="Arial"/>
                <a:ea typeface="Arial"/>
                <a:cs typeface="Arial"/>
              </a:rPr>
              <a:t>s</a:t>
            </a:r>
          </a:p>
        </p:txBody>
      </p:sp>
      <p:sp>
        <p:nvSpPr>
          <p:cNvPr id="28" name=" H">
            <a:extLst xmlns:a="http://schemas.openxmlformats.org/drawingml/2006/main">
              <a:ext uri="{FF2B5EF4-FFF2-40B4-BE49-F238E27FC236}">
                <a16:creationId xmlns:a16="http://schemas.microsoft.com/office/drawing/2014/main" id="{F712DCF3-67BB-40C5-BA12-DE81B0051E33}"/>
              </a:ext>
            </a:extLst>
          </p:cNvPr>
          <p:cNvSpPr>
            <a:spLocks xmlns:a="http://schemas.openxmlformats.org/drawingml/2006/main" noGrp="1"/>
          </p:cNvSpPr>
          <p:nvPr/>
        </p:nvSpPr>
        <p:spPr>
          <a:xfrm xmlns:a="http://schemas.openxmlformats.org/drawingml/2006/main">
            <a:off x="8169497" y="5781675"/>
            <a:ext cx="333375"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 H</a:t>
            </a:r>
          </a:p>
        </p:txBody>
      </p:sp>
      <p:sp>
        <p:nvSpPr>
          <p:cNvPr id="29" name="lookahead">
            <a:extLst xmlns:a="http://schemas.openxmlformats.org/drawingml/2006/main">
              <a:ext uri="{FF2B5EF4-FFF2-40B4-BE49-F238E27FC236}">
                <a16:creationId xmlns:a16="http://schemas.microsoft.com/office/drawing/2014/main" id="{1021736D-5C8F-4E78-B32F-8A324DDDDA64}"/>
              </a:ext>
            </a:extLst>
          </p:cNvPr>
          <p:cNvSpPr>
            <a:spLocks xmlns:a="http://schemas.openxmlformats.org/drawingml/2006/main" noGrp="1"/>
          </p:cNvSpPr>
          <p:nvPr/>
        </p:nvSpPr>
        <p:spPr>
          <a:xfrm xmlns:a="http://schemas.openxmlformats.org/drawingml/2006/main">
            <a:off x="8464772" y="5900452"/>
            <a:ext cx="87249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92" b="0">
                <a:solidFill>
                  <a:srgbClr val="13233D"/>
                </a:solidFill>
                <a:latin typeface="Arial"/>
                <a:ea typeface="Arial"/>
                <a:cs typeface="Arial"/>
              </a:defRPr>
            </a:defPPr>
          </a:lstStyle>
          <a:p xmlns:a="http://schemas.openxmlformats.org/drawingml/2006/main">
            <a:pPr>
              <a:buNone/>
              <a:defRPr sz="1392" b="0">
                <a:solidFill>
                  <a:srgbClr val="13233D"/>
                </a:solidFill>
                <a:latin typeface="Arial"/>
                <a:ea typeface="Arial"/>
                <a:cs typeface="Arial"/>
              </a:defRPr>
            </a:pPr>
            <a:r>
              <a:rPr sz="1392" b="0">
                <a:solidFill>
                  <a:srgbClr val="13233D"/>
                </a:solidFill>
                <a:latin typeface="Arial"/>
                <a:ea typeface="Arial"/>
                <a:cs typeface="Arial"/>
              </a:rPr>
              <a:t>lookahead</a:t>
            </a:r>
          </a:p>
        </p:txBody>
      </p:sp>
      <p:sp>
        <p:nvSpPr>
          <p:cNvPr id="30" name="(π">
            <a:extLst xmlns:a="http://schemas.openxmlformats.org/drawingml/2006/main">
              <a:ext uri="{FF2B5EF4-FFF2-40B4-BE49-F238E27FC236}">
                <a16:creationId xmlns:a16="http://schemas.microsoft.com/office/drawing/2014/main" id="{C10F4B0C-6E27-43F2-A36D-ACDA4C9B2C3C}"/>
              </a:ext>
            </a:extLst>
          </p:cNvPr>
          <p:cNvSpPr>
            <a:spLocks xmlns:a="http://schemas.openxmlformats.org/drawingml/2006/main" noGrp="1"/>
          </p:cNvSpPr>
          <p:nvPr/>
        </p:nvSpPr>
        <p:spPr>
          <a:xfrm xmlns:a="http://schemas.openxmlformats.org/drawingml/2006/main">
            <a:off x="9299162" y="5781675"/>
            <a:ext cx="33975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(π</a:t>
            </a:r>
          </a:p>
        </p:txBody>
      </p:sp>
      <p:sp>
        <p:nvSpPr>
          <p:cNvPr id="31" name="s">
            <a:extLst xmlns:a="http://schemas.openxmlformats.org/drawingml/2006/main">
              <a:ext uri="{FF2B5EF4-FFF2-40B4-BE49-F238E27FC236}">
                <a16:creationId xmlns:a16="http://schemas.microsoft.com/office/drawing/2014/main" id="{52BDE807-DD64-4DFA-ABF7-004043D2E59A}"/>
              </a:ext>
            </a:extLst>
          </p:cNvPr>
          <p:cNvSpPr>
            <a:spLocks xmlns:a="http://schemas.openxmlformats.org/drawingml/2006/main" noGrp="1"/>
          </p:cNvSpPr>
          <p:nvPr/>
        </p:nvSpPr>
        <p:spPr>
          <a:xfrm xmlns:a="http://schemas.openxmlformats.org/drawingml/2006/main">
            <a:off x="9600819" y="5900452"/>
            <a:ext cx="14544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92" b="0">
                <a:solidFill>
                  <a:srgbClr val="13233D"/>
                </a:solidFill>
                <a:latin typeface="Arial"/>
                <a:ea typeface="Arial"/>
                <a:cs typeface="Arial"/>
              </a:defRPr>
            </a:defPPr>
          </a:lstStyle>
          <a:p xmlns:a="http://schemas.openxmlformats.org/drawingml/2006/main">
            <a:pPr>
              <a:buNone/>
              <a:defRPr sz="1392" b="0">
                <a:solidFill>
                  <a:srgbClr val="13233D"/>
                </a:solidFill>
                <a:latin typeface="Arial"/>
                <a:ea typeface="Arial"/>
                <a:cs typeface="Arial"/>
              </a:defRPr>
            </a:pPr>
            <a:r>
              <a:rPr sz="1392" b="0">
                <a:solidFill>
                  <a:srgbClr val="13233D"/>
                </a:solidFill>
                <a:latin typeface="Arial"/>
                <a:ea typeface="Arial"/>
                <a:cs typeface="Arial"/>
              </a:rPr>
              <a:t>s</a:t>
            </a:r>
          </a:p>
        </p:txBody>
      </p:sp>
      <p:sp>
        <p:nvSpPr>
          <p:cNvPr id="32" name=")">
            <a:extLst xmlns:a="http://schemas.openxmlformats.org/drawingml/2006/main">
              <a:ext uri="{FF2B5EF4-FFF2-40B4-BE49-F238E27FC236}">
                <a16:creationId xmlns:a16="http://schemas.microsoft.com/office/drawing/2014/main" id="{E38E22D6-8B14-43AA-B7E5-F34F44F1DE29}"/>
              </a:ext>
            </a:extLst>
          </p:cNvPr>
          <p:cNvSpPr>
            <a:spLocks xmlns:a="http://schemas.openxmlformats.org/drawingml/2006/main" noGrp="1"/>
          </p:cNvSpPr>
          <p:nvPr/>
        </p:nvSpPr>
        <p:spPr>
          <a:xfrm xmlns:a="http://schemas.openxmlformats.org/drawingml/2006/main">
            <a:off x="9708166" y="5781675"/>
            <a:ext cx="149161"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a:t>
            </a:r>
          </a:p>
        </p:txBody>
      </p:sp>
      <p:sp>
        <p:nvSpPr>
          <p:cNvPr id="33" name="Lookahead compares the change Δ. Decay compares the multiplied total. ">
            <a:extLst xmlns:a="http://schemas.openxmlformats.org/drawingml/2006/main">
              <a:ext uri="{FF2B5EF4-FFF2-40B4-BE49-F238E27FC236}">
                <a16:creationId xmlns:a16="http://schemas.microsoft.com/office/drawing/2014/main" id="{1E3F0224-768D-4B70-9338-A01C8430FF62}"/>
              </a:ext>
            </a:extLst>
          </p:cNvPr>
          <p:cNvSpPr>
            <a:spLocks xmlns:a="http://schemas.openxmlformats.org/drawingml/2006/main" noGrp="1"/>
          </p:cNvSpPr>
          <p:nvPr/>
        </p:nvSpPr>
        <p:spPr>
          <a:xfrm xmlns:a="http://schemas.openxmlformats.org/drawingml/2006/main">
            <a:off x="552450" y="62388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Lookahead compares the change Δ. Decay compares the multiplied total. Lowest score wins.</a:t>
            </a:r>
          </a:p>
        </p:txBody>
      </p:sp>
    </p:spTree>
    <p:extLst>
      <p:ext uri="{BB962C8B-B14F-4D97-AF65-F5344CB8AC3E}">
        <p14:creationId xmlns:p14="http://schemas.microsoft.com/office/powerpoint/2010/main" val="4035825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Decay calculation and a worked example">
            <a:extLst xmlns:a="http://schemas.openxmlformats.org/drawingml/2006/main">
              <a:ext uri="{FF2B5EF4-FFF2-40B4-BE49-F238E27FC236}">
                <a16:creationId xmlns:a16="http://schemas.microsoft.com/office/drawing/2014/main" id="{9FFA7A6C-3E08-4636-A634-F520271BB4E0}"/>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Decay calculation and a worked example</a:t>
            </a:r>
          </a:p>
        </p:txBody>
      </p:sp>
      <p:sp>
        <p:nvSpPr>
          <p:cNvPr id="2" name="Decay penalizes recent wire reuse. The separate readiness term Tₛ esti">
            <a:extLst xmlns:a="http://schemas.openxmlformats.org/drawingml/2006/main">
              <a:ext uri="{FF2B5EF4-FFF2-40B4-BE49-F238E27FC236}">
                <a16:creationId xmlns:a16="http://schemas.microsoft.com/office/drawing/2014/main" id="{204FA0D2-B7EC-4DF7-AB35-6C95CC64C6EB}"/>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Decay penalizes recent wire reuse. The separate readiness term Tₛ estimates SWAP start time.</a:t>
            </a:r>
          </a:p>
        </p:txBody>
      </p:sp>
      <p:sp>
        <p:nvSpPr>
          <p:cNvPr id="3" name="4">
            <a:extLst xmlns:a="http://schemas.openxmlformats.org/drawingml/2006/main">
              <a:ext uri="{FF2B5EF4-FFF2-40B4-BE49-F238E27FC236}">
                <a16:creationId xmlns:a16="http://schemas.microsoft.com/office/drawing/2014/main" id="{F9A81C0F-B2C2-4DA4-AC3F-8E74EF306375}"/>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5</a:t>
            </a:r>
          </a:p>
        </p:txBody>
      </p:sp>
      <p:sp>
        <p:nvSpPr>
          <p:cNvPr id="4" name="Decay state in the code">
            <a:extLst xmlns:a="http://schemas.openxmlformats.org/drawingml/2006/main">
              <a:ext uri="{FF2B5EF4-FFF2-40B4-BE49-F238E27FC236}">
                <a16:creationId xmlns:a16="http://schemas.microsoft.com/office/drawing/2014/main" id="{DF43E14A-282C-4C46-8F2D-AE85CBEE254D}"/>
              </a:ext>
            </a:extLst>
          </p:cNvPr>
          <p:cNvSpPr>
            <a:spLocks xmlns:a="http://schemas.openxmlformats.org/drawingml/2006/main" noGrp="1"/>
          </p:cNvSpPr>
          <p:nvPr/>
        </p:nvSpPr>
        <p:spPr>
          <a:xfrm xmlns:a="http://schemas.openxmlformats.org/drawingml/2006/main">
            <a:off x="552450" y="1628775"/>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Decay state in the code</a:t>
            </a:r>
          </a:p>
        </p:txBody>
      </p:sp>
      <p:sp>
        <p:nvSpPr>
          <p:cNvPr id="5" name="d">
            <a:extLst xmlns:a="http://schemas.openxmlformats.org/drawingml/2006/main">
              <a:ext uri="{FF2B5EF4-FFF2-40B4-BE49-F238E27FC236}">
                <a16:creationId xmlns:a16="http://schemas.microsoft.com/office/drawing/2014/main" id="{F702A9FA-ADE1-4E68-83E1-16DDE65C2EE8}"/>
              </a:ext>
            </a:extLst>
          </p:cNvPr>
          <p:cNvSpPr>
            <a:spLocks xmlns:a="http://schemas.openxmlformats.org/drawingml/2006/main" noGrp="1"/>
          </p:cNvSpPr>
          <p:nvPr/>
        </p:nvSpPr>
        <p:spPr>
          <a:xfrm xmlns:a="http://schemas.openxmlformats.org/drawingml/2006/main">
            <a:off x="552450" y="2066925"/>
            <a:ext cx="22136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d</a:t>
            </a:r>
          </a:p>
        </p:txBody>
      </p:sp>
      <p:sp>
        <p:nvSpPr>
          <p:cNvPr id="6" name="s">
            <a:extLst xmlns:a="http://schemas.openxmlformats.org/drawingml/2006/main">
              <a:ext uri="{FF2B5EF4-FFF2-40B4-BE49-F238E27FC236}">
                <a16:creationId xmlns:a16="http://schemas.microsoft.com/office/drawing/2014/main" id="{9CBD23BE-849D-4A15-8917-A2CF3431710D}"/>
              </a:ext>
            </a:extLst>
          </p:cNvPr>
          <p:cNvSpPr>
            <a:spLocks xmlns:a="http://schemas.openxmlformats.org/drawingml/2006/main" noGrp="1"/>
          </p:cNvSpPr>
          <p:nvPr/>
        </p:nvSpPr>
        <p:spPr>
          <a:xfrm xmlns:a="http://schemas.openxmlformats.org/drawingml/2006/main">
            <a:off x="735711" y="2193893"/>
            <a:ext cx="15154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s</a:t>
            </a:r>
          </a:p>
        </p:txBody>
      </p:sp>
      <p:sp>
        <p:nvSpPr>
          <p:cNvPr id="7" name=" = max(decay[a], decay[b])">
            <a:extLst xmlns:a="http://schemas.openxmlformats.org/drawingml/2006/main">
              <a:ext uri="{FF2B5EF4-FFF2-40B4-BE49-F238E27FC236}">
                <a16:creationId xmlns:a16="http://schemas.microsoft.com/office/drawing/2014/main" id="{53459193-CD9D-4241-9D4C-F8F54726B33D}"/>
              </a:ext>
            </a:extLst>
          </p:cNvPr>
          <p:cNvSpPr>
            <a:spLocks xmlns:a="http://schemas.openxmlformats.org/drawingml/2006/main" noGrp="1"/>
          </p:cNvSpPr>
          <p:nvPr/>
        </p:nvSpPr>
        <p:spPr>
          <a:xfrm xmlns:a="http://schemas.openxmlformats.org/drawingml/2006/main">
            <a:off x="849154" y="2066925"/>
            <a:ext cx="354463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 = max(decay[a], decay[b])</a:t>
            </a:r>
          </a:p>
        </p:txBody>
      </p:sp>
      <p:sp>
        <p:nvSpPr>
          <p:cNvPr id="8" name="Start every decay[q] at 1.0.&#10;After a chosen SWAP, add 0.001 to&#10;its end">
            <a:extLst xmlns:a="http://schemas.openxmlformats.org/drawingml/2006/main">
              <a:ext uri="{FF2B5EF4-FFF2-40B4-BE49-F238E27FC236}">
                <a16:creationId xmlns:a16="http://schemas.microsoft.com/office/drawing/2014/main" id="{B4B90657-038F-497F-8A8D-6B9253EB00A3}"/>
              </a:ext>
            </a:extLst>
          </p:cNvPr>
          <p:cNvSpPr>
            <a:spLocks xmlns:a="http://schemas.openxmlformats.org/drawingml/2006/main" noGrp="1"/>
          </p:cNvSpPr>
          <p:nvPr/>
        </p:nvSpPr>
        <p:spPr>
          <a:xfrm xmlns:a="http://schemas.openxmlformats.org/drawingml/2006/main">
            <a:off x="552450" y="2600325"/>
            <a:ext cx="53149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Start every decay[q] at 1.0.</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After a chosen SWAP, add 0.001 to</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its endpoints, unless that step resets.</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Reset all values to 1.0 every 5 search</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SWAPs and after routing makes progress.</a:t>
            </a:r>
          </a:p>
        </p:txBody>
      </p:sp>
      <p:sp>
        <p:nvSpPr>
          <p:cNvPr id="9" name="decay[q] = 1 + 0.001 n">
            <a:extLst xmlns:a="http://schemas.openxmlformats.org/drawingml/2006/main">
              <a:ext uri="{FF2B5EF4-FFF2-40B4-BE49-F238E27FC236}">
                <a16:creationId xmlns:a16="http://schemas.microsoft.com/office/drawing/2014/main" id="{12D96286-0BCA-480D-A54F-D4B53D898A3F}"/>
              </a:ext>
            </a:extLst>
          </p:cNvPr>
          <p:cNvSpPr>
            <a:spLocks xmlns:a="http://schemas.openxmlformats.org/drawingml/2006/main" noGrp="1"/>
          </p:cNvSpPr>
          <p:nvPr/>
        </p:nvSpPr>
        <p:spPr>
          <a:xfrm xmlns:a="http://schemas.openxmlformats.org/drawingml/2006/main">
            <a:off x="552450" y="4248150"/>
            <a:ext cx="299580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3233D"/>
                </a:solidFill>
                <a:latin typeface="Arial"/>
                <a:ea typeface="Arial"/>
                <a:cs typeface="Arial"/>
              </a:defRPr>
            </a:defPPr>
          </a:lstStyle>
          <a:p xmlns:a="http://schemas.openxmlformats.org/drawingml/2006/main">
            <a:pPr>
              <a:buNone/>
              <a:defRPr sz="2325" b="0">
                <a:solidFill>
                  <a:srgbClr val="13233D"/>
                </a:solidFill>
                <a:latin typeface="Arial"/>
                <a:ea typeface="Arial"/>
                <a:cs typeface="Arial"/>
              </a:defRPr>
            </a:pPr>
            <a:r>
              <a:rPr sz="2325" b="0">
                <a:solidFill>
                  <a:srgbClr val="13233D"/>
                </a:solidFill>
                <a:latin typeface="Arial"/>
                <a:ea typeface="Arial"/>
                <a:cs typeface="Arial"/>
              </a:rPr>
              <a:t>decay[q] = 1 + 0.001 n</a:t>
            </a:r>
          </a:p>
        </p:txBody>
      </p:sp>
      <p:sp>
        <p:nvSpPr>
          <p:cNvPr id="10" name="q">
            <a:extLst xmlns:a="http://schemas.openxmlformats.org/drawingml/2006/main">
              <a:ext uri="{FF2B5EF4-FFF2-40B4-BE49-F238E27FC236}">
                <a16:creationId xmlns:a16="http://schemas.microsoft.com/office/drawing/2014/main" id="{EFC687AC-881E-4A3F-B465-1DE33FC34670}"/>
              </a:ext>
            </a:extLst>
          </p:cNvPr>
          <p:cNvSpPr>
            <a:spLocks xmlns:a="http://schemas.openxmlformats.org/drawingml/2006/main" noGrp="1"/>
          </p:cNvSpPr>
          <p:nvPr/>
        </p:nvSpPr>
        <p:spPr>
          <a:xfrm xmlns:a="http://schemas.openxmlformats.org/drawingml/2006/main">
            <a:off x="3510153" y="4375118"/>
            <a:ext cx="16221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88" b="0">
                <a:solidFill>
                  <a:srgbClr val="13233D"/>
                </a:solidFill>
                <a:latin typeface="Arial"/>
                <a:ea typeface="Arial"/>
                <a:cs typeface="Arial"/>
              </a:defRPr>
            </a:defPPr>
          </a:lstStyle>
          <a:p xmlns:a="http://schemas.openxmlformats.org/drawingml/2006/main">
            <a:pPr>
              <a:buNone/>
              <a:defRPr sz="1488" b="0">
                <a:solidFill>
                  <a:srgbClr val="13233D"/>
                </a:solidFill>
                <a:latin typeface="Arial"/>
                <a:ea typeface="Arial"/>
                <a:cs typeface="Arial"/>
              </a:defRPr>
            </a:pPr>
            <a:r>
              <a:rPr sz="1488" b="0">
                <a:solidFill>
                  <a:srgbClr val="13233D"/>
                </a:solidFill>
                <a:latin typeface="Arial"/>
                <a:ea typeface="Arial"/>
                <a:cs typeface="Arial"/>
              </a:rPr>
              <a:t>q</a:t>
            </a:r>
          </a:p>
        </p:txBody>
      </p:sp>
      <p:sp>
        <p:nvSpPr>
          <p:cNvPr id="11" name="nq counts endpoint increments since the last reset.&#10;For two increments">
            <a:extLst xmlns:a="http://schemas.openxmlformats.org/drawingml/2006/main">
              <a:ext uri="{FF2B5EF4-FFF2-40B4-BE49-F238E27FC236}">
                <a16:creationId xmlns:a16="http://schemas.microsoft.com/office/drawing/2014/main" id="{02691738-A066-4951-8A72-15342E0CF427}"/>
              </a:ext>
            </a:extLst>
          </p:cNvPr>
          <p:cNvSpPr>
            <a:spLocks xmlns:a="http://schemas.openxmlformats.org/drawingml/2006/main" noGrp="1"/>
          </p:cNvSpPr>
          <p:nvPr/>
        </p:nvSpPr>
        <p:spPr>
          <a:xfrm xmlns:a="http://schemas.openxmlformats.org/drawingml/2006/main">
            <a:off x="552450" y="4724400"/>
            <a:ext cx="5381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nq counts endpoint increments since the last reset.</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For two increments: decay[q] = 1.002.</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Decay is a dimensionless multiplier.</a:t>
            </a:r>
          </a:p>
        </p:txBody>
      </p:sp>
      <p:sp>
        <p:nvSpPr>
          <p:cNvPr id="12" name="Example before fusion / readiness">
            <a:extLst xmlns:a="http://schemas.openxmlformats.org/drawingml/2006/main">
              <a:ext uri="{FF2B5EF4-FFF2-40B4-BE49-F238E27FC236}">
                <a16:creationId xmlns:a16="http://schemas.microsoft.com/office/drawing/2014/main" id="{2C1F7A7D-6543-4AA8-9D5D-95409C631E43}"/>
              </a:ext>
            </a:extLst>
          </p:cNvPr>
          <p:cNvSpPr>
            <a:spLocks xmlns:a="http://schemas.openxmlformats.org/drawingml/2006/main" noGrp="1"/>
          </p:cNvSpPr>
          <p:nvPr/>
        </p:nvSpPr>
        <p:spPr>
          <a:xfrm xmlns:a="http://schemas.openxmlformats.org/drawingml/2006/main">
            <a:off x="6457950" y="1628775"/>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Example before fusion / readiness</a:t>
            </a:r>
          </a:p>
        </p:txBody>
      </p:sp>
      <p:sp>
        <p:nvSpPr>
          <p:cNvPr id="13" name="Illustrative layer sums, N = 5 and α = 1.&#10;β₁ = 0.5 / 5 = 0.1. Current ">
            <a:extLst xmlns:a="http://schemas.openxmlformats.org/drawingml/2006/main">
              <a:ext uri="{FF2B5EF4-FFF2-40B4-BE49-F238E27FC236}">
                <a16:creationId xmlns:a16="http://schemas.microsoft.com/office/drawing/2014/main" id="{D31501E5-FE4A-4C0D-9C38-B8A449B19779}"/>
              </a:ext>
            </a:extLst>
          </p:cNvPr>
          <p:cNvSpPr>
            <a:spLocks xmlns:a="http://schemas.openxmlformats.org/drawingml/2006/main" noGrp="1"/>
          </p:cNvSpPr>
          <p:nvPr/>
        </p:nvSpPr>
        <p:spPr>
          <a:xfrm xmlns:a="http://schemas.openxmlformats.org/drawingml/2006/main">
            <a:off x="6457950" y="2085975"/>
            <a:ext cx="52482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Illustrative layer sums, N = 5 and α = 1.</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β₁ = 0.5 / 5 = 0.1. Current S_F = 5, S_E = 2.</a:t>
            </a:r>
          </a:p>
        </p:txBody>
      </p:sp>
      <p:sp>
        <p:nvSpPr>
          <p:cNvPr id="14" name="H₀ = 1 × 5 + 0.1 × 2 = 5.2">
            <a:extLst xmlns:a="http://schemas.openxmlformats.org/drawingml/2006/main">
              <a:ext uri="{FF2B5EF4-FFF2-40B4-BE49-F238E27FC236}">
                <a16:creationId xmlns:a16="http://schemas.microsoft.com/office/drawing/2014/main" id="{81D40880-2B46-48D9-8A64-89E271D07C04}"/>
              </a:ext>
            </a:extLst>
          </p:cNvPr>
          <p:cNvSpPr>
            <a:spLocks xmlns:a="http://schemas.openxmlformats.org/drawingml/2006/main" noGrp="1"/>
          </p:cNvSpPr>
          <p:nvPr/>
        </p:nvSpPr>
        <p:spPr>
          <a:xfrm xmlns:a="http://schemas.openxmlformats.org/drawingml/2006/main">
            <a:off x="6457950" y="2857500"/>
            <a:ext cx="337727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0">
                <a:solidFill>
                  <a:srgbClr val="13233D"/>
                </a:solidFill>
                <a:latin typeface="Arial"/>
                <a:ea typeface="Arial"/>
                <a:cs typeface="Arial"/>
              </a:defRPr>
            </a:defPPr>
          </a:lstStyle>
          <a:p xmlns:a="http://schemas.openxmlformats.org/drawingml/2006/main">
            <a:pPr>
              <a:buNone/>
              <a:defRPr sz="2250" b="0">
                <a:solidFill>
                  <a:srgbClr val="13233D"/>
                </a:solidFill>
                <a:latin typeface="Arial"/>
                <a:ea typeface="Arial"/>
                <a:cs typeface="Arial"/>
              </a:defRPr>
            </a:pPr>
            <a:r>
              <a:rPr sz="2250" b="0">
                <a:solidFill>
                  <a:srgbClr val="13233D"/>
                </a:solidFill>
                <a:latin typeface="Arial"/>
                <a:ea typeface="Arial"/>
                <a:cs typeface="Arial"/>
              </a:rPr>
              <a:t>H₀ = 1 × 5 + 0.1 × 2 = 5.2</a:t>
            </a:r>
          </a:p>
        </p:txBody>
      </p:sp>
      <p:sp>
        <p:nvSpPr>
          <p:cNvPr id="15" name="Both candidates: ΔF = −1, ΔE = 0, so Δ = −1.">
            <a:extLst xmlns:a="http://schemas.openxmlformats.org/drawingml/2006/main">
              <a:ext uri="{FF2B5EF4-FFF2-40B4-BE49-F238E27FC236}">
                <a16:creationId xmlns:a16="http://schemas.microsoft.com/office/drawing/2014/main" id="{9715F833-7070-4654-A9E8-B07D86D1B204}"/>
              </a:ext>
            </a:extLst>
          </p:cNvPr>
          <p:cNvSpPr>
            <a:spLocks xmlns:a="http://schemas.openxmlformats.org/drawingml/2006/main" noGrp="1"/>
          </p:cNvSpPr>
          <p:nvPr/>
        </p:nvSpPr>
        <p:spPr>
          <a:xfrm xmlns:a="http://schemas.openxmlformats.org/drawingml/2006/main">
            <a:off x="6457950" y="3343275"/>
            <a:ext cx="5200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Both candidates: ΔF = −1, ΔE = 0, so Δ = −1.</a:t>
            </a:r>
          </a:p>
        </p:txBody>
      </p:sp>
      <p:graphicFrame>
        <p:nvGraphicFramePr>
          <p:cNvPr id="16" name="">
            <a:extLst xmlns:a="http://schemas.openxmlformats.org/drawingml/2006/main">
              <a:ext uri="{FF2B5EF4-FFF2-40B4-BE49-F238E27FC236}">
                <a16:creationId xmlns:a16="http://schemas.microsoft.com/office/drawing/2014/main" id="{52B3DE23-DAD9-46D6-A0B5-069274FFDA4E}"/>
              </a:ext>
            </a:extLst>
          </p:cNvPr>
          <p:cNvGraphicFramePr/>
          <p:nvPr/>
        </p:nvGraphicFramePr>
        <p:xfrm>
          <a:off xmlns:a="http://schemas.openxmlformats.org/drawingml/2006/main" x="6457950" y="3800475"/>
          <a:ext xmlns:a="http://schemas.openxmlformats.org/drawingml/2006/main" cx="5181600" cy="1238250"/>
        </p:xfrm>
        <a:graphic xmlns:a="http://schemas.openxmlformats.org/drawingml/2006/main">
          <a:graphicData uri="http://schemas.openxmlformats.org/drawingml/2006/table">
            <a:tbl>
              <a:tblPr/>
              <a:tblGrid>
                <a:gridCol w="1752600"/>
                <a:gridCol w="1047750"/>
                <a:gridCol w="1152525"/>
                <a:gridCol w="1228725"/>
              </a:tblGrid>
              <a:tr h="412750">
                <a:tc>
                  <a:txBody>
                    <a:bodyPr lIns="114300" tIns="66675" rIns="95250" bIns="66675">
                      <a:noAutofit/>
                    </a:bodyPr>
                    <a:lstStyle/>
                    <a:p>
                      <a:r>
                        <a:rPr sz="1650" b="1">
                          <a:solidFill>
                            <a:srgbClr val="13233D"/>
                          </a:solidFill>
                          <a:latin typeface="Arial"/>
                          <a:ea typeface="Arial"/>
                          <a:cs typeface="Arial"/>
                        </a:rPr>
                        <a:t>Candidate</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650" b="1">
                          <a:solidFill>
                            <a:srgbClr val="13233D"/>
                          </a:solidFill>
                          <a:latin typeface="Arial"/>
                          <a:ea typeface="Arial"/>
                          <a:cs typeface="Arial"/>
                        </a:rPr>
                        <a:t>dₛ</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650" b="1">
                          <a:solidFill>
                            <a:srgbClr val="13233D"/>
                          </a:solidFill>
                          <a:latin typeface="Arial"/>
                          <a:ea typeface="Arial"/>
                          <a:cs typeface="Arial"/>
                        </a:rPr>
                        <a:t>H₀ + Δ</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650" b="1">
                          <a:solidFill>
                            <a:srgbClr val="13233D"/>
                          </a:solidFill>
                          <a:latin typeface="Arial"/>
                          <a:ea typeface="Arial"/>
                          <a:cs typeface="Arial"/>
                        </a:rPr>
                        <a:t>Qold</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412750">
                <a:tc>
                  <a:txBody>
                    <a:bodyPr lIns="114300" tIns="66675" rIns="95250" bIns="66675">
                      <a:noAutofit/>
                    </a:bodyPr>
                    <a:lstStyle/>
                    <a:p>
                      <a:r>
                        <a:rPr sz="1650" b="0">
                          <a:solidFill>
                            <a:srgbClr val="526479"/>
                          </a:solidFill>
                          <a:latin typeface="Arial"/>
                          <a:ea typeface="Arial"/>
                          <a:cs typeface="Arial"/>
                        </a:rPr>
                        <a:t>A: reused</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1.002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4.2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4.2084</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12750">
                <a:tc>
                  <a:txBody>
                    <a:bodyPr lIns="114300" tIns="66675" rIns="95250" bIns="66675">
                      <a:noAutofit/>
                    </a:bodyPr>
                    <a:lstStyle/>
                    <a:p>
                      <a:r>
                        <a:rPr sz="1650" b="0">
                          <a:solidFill>
                            <a:srgbClr val="526479"/>
                          </a:solidFill>
                          <a:latin typeface="Arial"/>
                          <a:ea typeface="Arial"/>
                          <a:cs typeface="Arial"/>
                        </a:rPr>
                        <a:t>B: fresh</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1.000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4.2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4.2000</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17" name="B wins: 4.2000 &lt; 4.2084">
            <a:extLst xmlns:a="http://schemas.openxmlformats.org/drawingml/2006/main">
              <a:ext uri="{FF2B5EF4-FFF2-40B4-BE49-F238E27FC236}">
                <a16:creationId xmlns:a16="http://schemas.microsoft.com/office/drawing/2014/main" id="{A19AECC8-9B78-4B31-8ED0-CBE86F4B67D3}"/>
              </a:ext>
            </a:extLst>
          </p:cNvPr>
          <p:cNvSpPr>
            <a:spLocks xmlns:a="http://schemas.openxmlformats.org/drawingml/2006/main" noGrp="1"/>
          </p:cNvSpPr>
          <p:nvPr/>
        </p:nvSpPr>
        <p:spPr>
          <a:xfrm xmlns:a="http://schemas.openxmlformats.org/drawingml/2006/main">
            <a:off x="6457950" y="521970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87C69"/>
                </a:solidFill>
                <a:latin typeface="Arial"/>
                <a:ea typeface="Arial"/>
                <a:cs typeface="Arial"/>
              </a:defRPr>
            </a:defPPr>
          </a:lstStyle>
          <a:p xmlns:a="http://schemas.openxmlformats.org/drawingml/2006/main">
            <a:pPr>
              <a:buNone/>
              <a:defRPr sz="1950" b="1">
                <a:solidFill>
                  <a:srgbClr val="087C69"/>
                </a:solidFill>
                <a:latin typeface="Arial"/>
                <a:ea typeface="Arial"/>
                <a:cs typeface="Arial"/>
              </a:defRPr>
            </a:pPr>
            <a:r>
              <a:rPr sz="1950" b="1">
                <a:solidFill>
                  <a:srgbClr val="087C69"/>
                </a:solidFill>
                <a:latin typeface="Arial"/>
                <a:ea typeface="Arial"/>
                <a:cs typeface="Arial"/>
              </a:rPr>
              <a:t>B wins: 4.2000 &lt; 4.2084</a:t>
            </a:r>
          </a:p>
        </p:txBody>
      </p:sp>
      <p:sp>
        <p:nvSpPr>
          <p:cNvPr id="18" name="Why keep H₀? Multiplying Δ alone gives A = −1.002 and B = −1, which wo">
            <a:extLst xmlns:a="http://schemas.openxmlformats.org/drawingml/2006/main">
              <a:ext uri="{FF2B5EF4-FFF2-40B4-BE49-F238E27FC236}">
                <a16:creationId xmlns:a16="http://schemas.microsoft.com/office/drawing/2014/main" id="{D8D2AB04-EC7F-4A40-852C-9418A6A65CC9}"/>
              </a:ext>
            </a:extLst>
          </p:cNvPr>
          <p:cNvSpPr>
            <a:spLocks xmlns:a="http://schemas.openxmlformats.org/drawingml/2006/main" noGrp="1"/>
          </p:cNvSpPr>
          <p:nvPr/>
        </p:nvSpPr>
        <p:spPr>
          <a:xfrm xmlns:a="http://schemas.openxmlformats.org/drawingml/2006/main">
            <a:off x="552450" y="583882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3233D"/>
                </a:solidFill>
                <a:latin typeface="Arial"/>
                <a:ea typeface="Arial"/>
                <a:cs typeface="Arial"/>
              </a:defRPr>
            </a:defPPr>
          </a:lstStyle>
          <a:p xmlns:a="http://schemas.openxmlformats.org/drawingml/2006/main">
            <a:pPr>
              <a:buNone/>
              <a:defRPr sz="1650" b="0">
                <a:solidFill>
                  <a:srgbClr val="13233D"/>
                </a:solidFill>
                <a:latin typeface="Arial"/>
                <a:ea typeface="Arial"/>
                <a:cs typeface="Arial"/>
              </a:defRPr>
            </a:pPr>
            <a:r>
              <a:rPr sz="1650" b="0">
                <a:solidFill>
                  <a:srgbClr val="13233D"/>
                </a:solidFill>
                <a:latin typeface="Arial"/>
                <a:ea typeface="Arial"/>
                <a:cs typeface="Arial"/>
              </a:rPr>
              <a:t>Why keep H₀? Multiplying Δ alone gives A = −1.002 and B = −1, which would favor the reused wires.</a:t>
            </a:r>
          </a:p>
        </p:txBody>
      </p:sp>
      <p:sp>
        <p:nvSpPr>
          <p:cNvPr id="19" name="The new score keeps this decay step and adds λTₛ afterward, outside th">
            <a:extLst xmlns:a="http://schemas.openxmlformats.org/drawingml/2006/main">
              <a:ext uri="{FF2B5EF4-FFF2-40B4-BE49-F238E27FC236}">
                <a16:creationId xmlns:a16="http://schemas.microsoft.com/office/drawing/2014/main" id="{1A9DC48F-D96E-4B27-809A-6C016ECFAC6B}"/>
              </a:ext>
            </a:extLst>
          </p:cNvPr>
          <p:cNvSpPr>
            <a:spLocks xmlns:a="http://schemas.openxmlformats.org/drawingml/2006/main" noGrp="1"/>
          </p:cNvSpPr>
          <p:nvPr/>
        </p:nvSpPr>
        <p:spPr>
          <a:xfrm xmlns:a="http://schemas.openxmlformats.org/drawingml/2006/main">
            <a:off x="552450" y="6219825"/>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The new score keeps this decay step and adds λTₛ afterward, outside the multiplier (slide 19).</a:t>
            </a:r>
          </a:p>
        </p:txBody>
      </p:sp>
    </p:spTree>
    <p:extLst>
      <p:ext uri="{BB962C8B-B14F-4D97-AF65-F5344CB8AC3E}">
        <p14:creationId xmlns:p14="http://schemas.microsoft.com/office/powerpoint/2010/main" val="17838571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s, c, and fusion credit">
            <a:extLst xmlns:a="http://schemas.openxmlformats.org/drawingml/2006/main">
              <a:ext uri="{FF2B5EF4-FFF2-40B4-BE49-F238E27FC236}">
                <a16:creationId xmlns:a16="http://schemas.microsoft.com/office/drawing/2014/main" id="{259B697F-33F0-47CA-A2E1-71964ADF30CD}"/>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Blocks, c, and fusion credit</a:t>
            </a:r>
          </a:p>
        </p:txBody>
      </p:sp>
      <p:sp>
        <p:nvSpPr>
          <p:cNvPr id="2" name="A block is a consecutive run on one physical pair. Single-qubit gates ">
            <a:extLst xmlns:a="http://schemas.openxmlformats.org/drawingml/2006/main">
              <a:ext uri="{FF2B5EF4-FFF2-40B4-BE49-F238E27FC236}">
                <a16:creationId xmlns:a16="http://schemas.microsoft.com/office/drawing/2014/main" id="{7D82B489-C594-46AF-AAA0-3E0FC655FC1B}"/>
              </a:ext>
            </a:extLst>
          </p:cNvPr>
          <p:cNvSpPr>
            <a:spLocks xmlns:a="http://schemas.openxmlformats.org/drawingml/2006/main" noGrp="1"/>
          </p:cNvSpPr>
          <p:nvPr/>
        </p:nvSpPr>
        <p:spPr>
          <a:xfrm xmlns:a="http://schemas.openxmlformats.org/drawingml/2006/main">
            <a:off x="552450" y="10287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A block is a consecutive run on one physical pair. Single-qubit gates can be inside it.</a:t>
            </a:r>
          </a:p>
        </p:txBody>
      </p:sp>
      <p:sp>
        <p:nvSpPr>
          <p:cNvPr id="3" name="3">
            <a:extLst xmlns:a="http://schemas.openxmlformats.org/drawingml/2006/main">
              <a:ext uri="{FF2B5EF4-FFF2-40B4-BE49-F238E27FC236}">
                <a16:creationId xmlns:a16="http://schemas.microsoft.com/office/drawing/2014/main" id="{ABBE179E-56FC-408E-A68F-56751A65F144}"/>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6</a:t>
            </a:r>
          </a:p>
        </p:txBody>
      </p:sp>
      <p:pic>
        <p:nvPicPr>
          <p:cNvPr id="4" name="">
            <a:extLst xmlns:a="http://schemas.openxmlformats.org/drawingml/2006/main">
              <a:ext uri="{FF2B5EF4-FFF2-40B4-BE49-F238E27FC236}">
                <a16:creationId xmlns:a16="http://schemas.microsoft.com/office/drawing/2014/main" id="{BF018D04-D368-40F4-87AD-FC7E4042DE9A}"/>
              </a:ext>
            </a:extLst>
          </p:cNvPr>
          <p:cNvPicPr>
            <a:picLocks xmlns:a="http://schemas.openxmlformats.org/drawingml/2006/main" noChangeAspect="1"/>
          </p:cNvPicPr>
          <p:nvPr/>
        </p:nvPicPr>
        <p:blipFill>
          <a:blip xmlns:r="http://schemas.openxmlformats.org/officeDocument/2006/relationships" xmlns:a="http://schemas.openxmlformats.org/drawingml/2006/main" r:embed="R283cc9bb985c4311">
            <a:extLst>
              <a:ext uri="{96DAC541-7B7A-43D3-8B79-37D633B846F1}">
                <asvg:svgBlip xmlns:asvg="http://schemas.microsoft.com/office/drawing/2016/SVG/main" r:embed="R768651bfd42b4e1e"/>
              </a:ext>
            </a:extLst>
          </a:blip>
          <a:stretch xmlns:a="http://schemas.openxmlformats.org/drawingml/2006/main"/>
        </p:blipFill>
        <p:spPr>
          <a:xfrm xmlns:a="http://schemas.openxmlformats.org/drawingml/2006/main">
            <a:off x="552450" y="1676400"/>
            <a:ext cx="5762625" cy="2343150"/>
          </a:xfrm>
          <a:prstGeom xmlns:a="http://schemas.openxmlformats.org/drawingml/2006/main" prst="rect">
            <a:avLst/>
          </a:prstGeom>
        </p:spPr>
      </p:pic>
      <p:sp>
        <p:nvSpPr>
          <p:cNvPr id="5" name="c = estimated native 2q cost">
            <a:extLst xmlns:a="http://schemas.openxmlformats.org/drawingml/2006/main">
              <a:ext uri="{FF2B5EF4-FFF2-40B4-BE49-F238E27FC236}">
                <a16:creationId xmlns:a16="http://schemas.microsoft.com/office/drawing/2014/main" id="{2D5F6CA9-34B0-4317-B63D-74607A11DCD6}"/>
              </a:ext>
            </a:extLst>
          </p:cNvPr>
          <p:cNvSpPr>
            <a:spLocks xmlns:a="http://schemas.openxmlformats.org/drawingml/2006/main" noGrp="1"/>
          </p:cNvSpPr>
          <p:nvPr/>
        </p:nvSpPr>
        <p:spPr>
          <a:xfrm xmlns:a="http://schemas.openxmlformats.org/drawingml/2006/main">
            <a:off x="6791325" y="16764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087C69"/>
                </a:solidFill>
                <a:latin typeface="Arial"/>
                <a:ea typeface="Arial"/>
                <a:cs typeface="Arial"/>
              </a:defRPr>
            </a:defPPr>
          </a:lstStyle>
          <a:p xmlns:a="http://schemas.openxmlformats.org/drawingml/2006/main">
            <a:pPr>
              <a:buNone/>
              <a:defRPr sz="2025" b="1">
                <a:solidFill>
                  <a:srgbClr val="087C69"/>
                </a:solidFill>
                <a:latin typeface="Arial"/>
                <a:ea typeface="Arial"/>
                <a:cs typeface="Arial"/>
              </a:defRPr>
            </a:pPr>
            <a:r>
              <a:rPr sz="2025" b="1">
                <a:solidFill>
                  <a:srgbClr val="087C69"/>
                </a:solidFill>
                <a:latin typeface="Arial"/>
                <a:ea typeface="Arial"/>
                <a:cs typeface="Arial"/>
              </a:rPr>
              <a:t>c = estimated native 2q cost</a:t>
            </a:r>
          </a:p>
        </p:txBody>
      </p:sp>
      <p:sp>
        <p:nvSpPr>
          <p:cNvPr id="6" name="Stored cost is 1, 2, or 3.&#10;It is capped at three CX-like gates.&#10;It is ">
            <a:extLst xmlns:a="http://schemas.openxmlformats.org/drawingml/2006/main">
              <a:ext uri="{FF2B5EF4-FFF2-40B4-BE49-F238E27FC236}">
                <a16:creationId xmlns:a16="http://schemas.microsoft.com/office/drawing/2014/main" id="{04F755BC-AA32-4513-935A-9F21D38F1DC6}"/>
              </a:ext>
            </a:extLst>
          </p:cNvPr>
          <p:cNvSpPr>
            <a:spLocks xmlns:a="http://schemas.openxmlformats.org/drawingml/2006/main" noGrp="1"/>
          </p:cNvSpPr>
          <p:nvPr/>
        </p:nvSpPr>
        <p:spPr>
          <a:xfrm xmlns:a="http://schemas.openxmlformats.org/drawingml/2006/main">
            <a:off x="6791325" y="2105025"/>
            <a:ext cx="485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Stored cost is 1, 2, or 3.</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It is capped at three CX-like gates.</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It is an estimate of the block cost.</a:t>
            </a:r>
          </a:p>
        </p:txBody>
      </p:sp>
      <p:sp>
        <p:nvSpPr>
          <p:cNvPr id="7" name="Open means both endpoints agree">
            <a:extLst xmlns:a="http://schemas.openxmlformats.org/drawingml/2006/main">
              <a:ext uri="{FF2B5EF4-FFF2-40B4-BE49-F238E27FC236}">
                <a16:creationId xmlns:a16="http://schemas.microsoft.com/office/drawing/2014/main" id="{90C32E27-96D8-4434-B63A-A09F43CA639C}"/>
              </a:ext>
            </a:extLst>
          </p:cNvPr>
          <p:cNvSpPr>
            <a:spLocks xmlns:a="http://schemas.openxmlformats.org/drawingml/2006/main" noGrp="1"/>
          </p:cNvSpPr>
          <p:nvPr/>
        </p:nvSpPr>
        <p:spPr>
          <a:xfrm xmlns:a="http://schemas.openxmlformats.org/drawingml/2006/main">
            <a:off x="6791325" y="32956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13233D"/>
                </a:solidFill>
                <a:latin typeface="Arial"/>
                <a:ea typeface="Arial"/>
                <a:cs typeface="Arial"/>
              </a:defRPr>
            </a:defPPr>
          </a:lstStyle>
          <a:p xmlns:a="http://schemas.openxmlformats.org/drawingml/2006/main">
            <a:pPr>
              <a:buNone/>
              <a:defRPr sz="1875" b="1">
                <a:solidFill>
                  <a:srgbClr val="13233D"/>
                </a:solidFill>
                <a:latin typeface="Arial"/>
                <a:ea typeface="Arial"/>
                <a:cs typeface="Arial"/>
              </a:defRPr>
            </a:pPr>
            <a:r>
              <a:rPr sz="1875" b="1">
                <a:solidFill>
                  <a:srgbClr val="13233D"/>
                </a:solidFill>
                <a:latin typeface="Arial"/>
                <a:ea typeface="Arial"/>
                <a:cs typeface="Arial"/>
              </a:rPr>
              <a:t>Open means both endpoints agree</a:t>
            </a:r>
          </a:p>
        </p:txBody>
      </p:sp>
      <p:sp>
        <p:nvSpPr>
          <p:cNvPr id="8" name="last_block[a] = (b, c)&#10;last_block[b] = (a, c)">
            <a:extLst xmlns:a="http://schemas.openxmlformats.org/drawingml/2006/main">
              <a:ext uri="{FF2B5EF4-FFF2-40B4-BE49-F238E27FC236}">
                <a16:creationId xmlns:a16="http://schemas.microsoft.com/office/drawing/2014/main" id="{C6D14916-4BAD-4CC1-90EF-83D2673D8A32}"/>
              </a:ext>
            </a:extLst>
          </p:cNvPr>
          <p:cNvSpPr>
            <a:spLocks xmlns:a="http://schemas.openxmlformats.org/drawingml/2006/main" noGrp="1"/>
          </p:cNvSpPr>
          <p:nvPr/>
        </p:nvSpPr>
        <p:spPr>
          <a:xfrm xmlns:a="http://schemas.openxmlformats.org/drawingml/2006/main">
            <a:off x="6791325" y="37147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3233D"/>
                </a:solidFill>
                <a:latin typeface="Arial"/>
                <a:ea typeface="Arial"/>
                <a:cs typeface="Arial"/>
              </a:defRPr>
            </a:defPPr>
          </a:lstStyle>
          <a:p xmlns:a="http://schemas.openxmlformats.org/drawingml/2006/main">
            <a:pPr>
              <a:buNone/>
              <a:defRPr sz="1950" b="0">
                <a:solidFill>
                  <a:srgbClr val="13233D"/>
                </a:solidFill>
                <a:latin typeface="Arial"/>
                <a:ea typeface="Arial"/>
                <a:cs typeface="Arial"/>
              </a:defRPr>
            </a:pPr>
            <a:r>
              <a:rPr sz="1950" b="0">
                <a:solidFill>
                  <a:srgbClr val="13233D"/>
                </a:solidFill>
                <a:latin typeface="Arial"/>
                <a:ea typeface="Arial"/>
                <a:cs typeface="Arial"/>
              </a:rPr>
              <a:t>last_block[a] = (b, c)</a:t>
            </a:r>
          </a:p>
          <a:p xmlns:a="http://schemas.openxmlformats.org/drawingml/2006/main">
            <a:pPr>
              <a:buNone/>
              <a:defRPr sz="1950" b="0">
                <a:solidFill>
                  <a:srgbClr val="13233D"/>
                </a:solidFill>
                <a:latin typeface="Arial"/>
                <a:ea typeface="Arial"/>
                <a:cs typeface="Arial"/>
              </a:defRPr>
            </a:pPr>
            <a:r>
              <a:rPr sz="1950" b="0">
                <a:solidFill>
                  <a:srgbClr val="13233D"/>
                </a:solidFill>
                <a:latin typeface="Arial"/>
                <a:ea typeface="Arial"/>
                <a:cs typeface="Arial"/>
              </a:rPr>
              <a:t>last_block[b] = (a, c)</a:t>
            </a:r>
          </a:p>
        </p:txBody>
      </p:sp>
      <p:sp>
        <p:nvSpPr>
          <p:cNvPr id="9" name="Fusion credit C(s) = −[3 − (min(3, c + 1) − c)] / 3">
            <a:extLst xmlns:a="http://schemas.openxmlformats.org/drawingml/2006/main">
              <a:ext uri="{FF2B5EF4-FFF2-40B4-BE49-F238E27FC236}">
                <a16:creationId xmlns:a16="http://schemas.microsoft.com/office/drawing/2014/main" id="{35C1608A-6B14-4FD3-B59F-CC4DB6719DEF}"/>
              </a:ext>
            </a:extLst>
          </p:cNvPr>
          <p:cNvSpPr>
            <a:spLocks xmlns:a="http://schemas.openxmlformats.org/drawingml/2006/main" noGrp="1"/>
          </p:cNvSpPr>
          <p:nvPr/>
        </p:nvSpPr>
        <p:spPr>
          <a:xfrm xmlns:a="http://schemas.openxmlformats.org/drawingml/2006/main">
            <a:off x="552450" y="4381500"/>
            <a:ext cx="1100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087C69"/>
                </a:solidFill>
                <a:latin typeface="Arial"/>
                <a:ea typeface="Arial"/>
                <a:cs typeface="Arial"/>
              </a:defRPr>
            </a:defPPr>
          </a:lstStyle>
          <a:p xmlns:a="http://schemas.openxmlformats.org/drawingml/2006/main">
            <a:pPr>
              <a:buNone/>
              <a:defRPr sz="2250" b="1">
                <a:solidFill>
                  <a:srgbClr val="087C69"/>
                </a:solidFill>
                <a:latin typeface="Arial"/>
                <a:ea typeface="Arial"/>
                <a:cs typeface="Arial"/>
              </a:defRPr>
            </a:pPr>
            <a:r>
              <a:rPr sz="2250" b="1">
                <a:solidFill>
                  <a:srgbClr val="087C69"/>
                </a:solidFill>
                <a:latin typeface="Arial"/>
                <a:ea typeface="Arial"/>
                <a:cs typeface="Arial"/>
              </a:rPr>
              <a:t>Fusion credit C(s) = −[3 − (min(3, c + 1) − c)] / 3</a:t>
            </a:r>
          </a:p>
        </p:txBody>
      </p:sp>
      <p:graphicFrame>
        <p:nvGraphicFramePr>
          <p:cNvPr id="10" name="">
            <a:extLst xmlns:a="http://schemas.openxmlformats.org/drawingml/2006/main">
              <a:ext uri="{FF2B5EF4-FFF2-40B4-BE49-F238E27FC236}">
                <a16:creationId xmlns:a16="http://schemas.microsoft.com/office/drawing/2014/main" id="{9790798A-5937-4BBE-B911-DD4DD5E55855}"/>
              </a:ext>
            </a:extLst>
          </p:cNvPr>
          <p:cNvGraphicFramePr/>
          <p:nvPr/>
        </p:nvGraphicFramePr>
        <p:xfrm>
          <a:off xmlns:a="http://schemas.openxmlformats.org/drawingml/2006/main" x="552450" y="4924425"/>
          <a:ext xmlns:a="http://schemas.openxmlformats.org/drawingml/2006/main" cx="6191250" cy="1476375"/>
        </p:xfrm>
        <a:graphic xmlns:a="http://schemas.openxmlformats.org/drawingml/2006/main">
          <a:graphicData uri="http://schemas.openxmlformats.org/drawingml/2006/table">
            <a:tbl>
              <a:tblPr/>
              <a:tblGrid>
                <a:gridCol w="714375"/>
                <a:gridCol w="1924050"/>
                <a:gridCol w="1952625"/>
                <a:gridCol w="1600200"/>
              </a:tblGrid>
              <a:tr h="369094">
                <a:tc>
                  <a:txBody>
                    <a:bodyPr lIns="114300" tIns="95250" rIns="95250" bIns="76200">
                      <a:noAutofit/>
                    </a:bodyPr>
                    <a:lstStyle/>
                    <a:p>
                      <a:r>
                        <a:rPr sz="1725" b="1">
                          <a:solidFill>
                            <a:srgbClr val="13233D"/>
                          </a:solidFill>
                          <a:latin typeface="Arial"/>
                          <a:ea typeface="Arial"/>
                          <a:cs typeface="Arial"/>
                        </a:rPr>
                        <a:t>c</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95250" rIns="95250" bIns="76200">
                      <a:noAutofit/>
                    </a:bodyPr>
                    <a:lstStyle/>
                    <a:p>
                      <a:r>
                        <a:rPr sz="1725" b="1">
                          <a:solidFill>
                            <a:srgbClr val="13233D"/>
                          </a:solidFill>
                          <a:latin typeface="Arial"/>
                          <a:ea typeface="Arial"/>
                          <a:cs typeface="Arial"/>
                        </a:rPr>
                        <a:t>Separate cost</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95250" rIns="95250" bIns="76200">
                      <a:noAutofit/>
                    </a:bodyPr>
                    <a:lstStyle/>
                    <a:p>
                      <a:r>
                        <a:rPr sz="1725" b="1">
                          <a:solidFill>
                            <a:srgbClr val="13233D"/>
                          </a:solidFill>
                          <a:latin typeface="Arial"/>
                          <a:ea typeface="Arial"/>
                          <a:cs typeface="Arial"/>
                        </a:rPr>
                        <a:t>Fused estimate</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95250" rIns="95250" bIns="76200">
                      <a:noAutofit/>
                    </a:bodyPr>
                    <a:lstStyle/>
                    <a:p>
                      <a:r>
                        <a:rPr sz="1725" b="1">
                          <a:solidFill>
                            <a:srgbClr val="13233D"/>
                          </a:solidFill>
                          <a:latin typeface="Arial"/>
                          <a:ea typeface="Arial"/>
                          <a:cs typeface="Arial"/>
                        </a:rPr>
                        <a:t>Credit C(s)</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69094">
                <a:tc>
                  <a:txBody>
                    <a:bodyPr lIns="114300" tIns="95250" rIns="95250" bIns="76200">
                      <a:noAutofit/>
                    </a:bodyPr>
                    <a:lstStyle/>
                    <a:p>
                      <a:r>
                        <a:rPr sz="1725" b="0">
                          <a:solidFill>
                            <a:srgbClr val="526479"/>
                          </a:solidFill>
                          <a:latin typeface="Arial"/>
                          <a:ea typeface="Arial"/>
                          <a:cs typeface="Arial"/>
                        </a:rPr>
                        <a:t>1</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1 + 3 = 4</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−2/3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69094">
                <a:tc>
                  <a:txBody>
                    <a:bodyPr lIns="114300" tIns="95250" rIns="95250" bIns="76200">
                      <a:noAutofit/>
                    </a:bodyPr>
                    <a:lstStyle/>
                    <a:p>
                      <a:r>
                        <a:rPr sz="1725" b="0">
                          <a:solidFill>
                            <a:srgbClr val="526479"/>
                          </a:solidFill>
                          <a:latin typeface="Arial"/>
                          <a:ea typeface="Arial"/>
                          <a:cs typeface="Arial"/>
                        </a:rPr>
                        <a:t>2</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2 + 3 = 5</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3</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−2/3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69094">
                <a:tc>
                  <a:txBody>
                    <a:bodyPr lIns="114300" tIns="95250" rIns="95250" bIns="76200">
                      <a:noAutofit/>
                    </a:bodyPr>
                    <a:lstStyle/>
                    <a:p>
                      <a:r>
                        <a:rPr sz="1725" b="0">
                          <a:solidFill>
                            <a:srgbClr val="526479"/>
                          </a:solidFill>
                          <a:latin typeface="Arial"/>
                          <a:ea typeface="Arial"/>
                          <a:cs typeface="Arial"/>
                        </a:rPr>
                        <a:t>3</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3 + 3 = 6</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3</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11" name="A third-wire interaction or a boundary&#10;(measurement, reset, barrier, e">
            <a:extLst xmlns:a="http://schemas.openxmlformats.org/drawingml/2006/main">
              <a:ext uri="{FF2B5EF4-FFF2-40B4-BE49-F238E27FC236}">
                <a16:creationId xmlns:a16="http://schemas.microsoft.com/office/drawing/2014/main" id="{375F5A3D-6B93-4613-8C88-2C17B76A5B4A}"/>
              </a:ext>
            </a:extLst>
          </p:cNvPr>
          <p:cNvSpPr>
            <a:spLocks xmlns:a="http://schemas.openxmlformats.org/drawingml/2006/main" noGrp="1"/>
          </p:cNvSpPr>
          <p:nvPr/>
        </p:nvSpPr>
        <p:spPr>
          <a:xfrm xmlns:a="http://schemas.openxmlformats.org/drawingml/2006/main">
            <a:off x="7153275" y="5086350"/>
            <a:ext cx="457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A third-wire interaction or a boundary</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(measurement, reset, barrier, etc.)</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closes the block. No eligible block: C = 0.</a:t>
            </a:r>
          </a:p>
        </p:txBody>
      </p:sp>
    </p:spTree>
    <p:extLst>
      <p:ext uri="{BB962C8B-B14F-4D97-AF65-F5344CB8AC3E}">
        <p14:creationId xmlns:p14="http://schemas.microsoft.com/office/powerpoint/2010/main" val="18314930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usion credit, step by step">
            <a:extLst xmlns:a="http://schemas.openxmlformats.org/drawingml/2006/main">
              <a:ext uri="{FF2B5EF4-FFF2-40B4-BE49-F238E27FC236}">
                <a16:creationId xmlns:a16="http://schemas.microsoft.com/office/drawing/2014/main" id="{64179CF2-6850-467F-9BBD-F7A260F4D114}"/>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Fusion credit, step by step</a:t>
            </a:r>
          </a:p>
        </p:txBody>
      </p:sp>
      <p:sp>
        <p:nvSpPr>
          <p:cNvPr id="2" name="A discount for the CX-like gates we expect to save by combining a bloc">
            <a:extLst xmlns:a="http://schemas.openxmlformats.org/drawingml/2006/main">
              <a:ext uri="{FF2B5EF4-FFF2-40B4-BE49-F238E27FC236}">
                <a16:creationId xmlns:a16="http://schemas.microsoft.com/office/drawing/2014/main" id="{733FC1F8-7495-444E-9172-9E4E9F839275}"/>
              </a:ext>
            </a:extLst>
          </p:cNvPr>
          <p:cNvSpPr>
            <a:spLocks xmlns:a="http://schemas.openxmlformats.org/drawingml/2006/main" noGrp="1"/>
          </p:cNvSpPr>
          <p:nvPr/>
        </p:nvSpPr>
        <p:spPr>
          <a:xfrm xmlns:a="http://schemas.openxmlformats.org/drawingml/2006/main">
            <a:off x="552450" y="10287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A discount for the CX-like gates we expect to save by combining a block with its next SWAP.</a:t>
            </a:r>
          </a:p>
        </p:txBody>
      </p:sp>
      <p:sp>
        <p:nvSpPr>
          <p:cNvPr id="3" name="C(s) = [estimated combined cost − separate cost] / 3">
            <a:extLst xmlns:a="http://schemas.openxmlformats.org/drawingml/2006/main">
              <a:ext uri="{FF2B5EF4-FFF2-40B4-BE49-F238E27FC236}">
                <a16:creationId xmlns:a16="http://schemas.microsoft.com/office/drawing/2014/main" id="{1AEB29F9-ABF1-476A-851F-BFCC40EFC86C}"/>
              </a:ext>
            </a:extLst>
          </p:cNvPr>
          <p:cNvSpPr>
            <a:spLocks xmlns:a="http://schemas.openxmlformats.org/drawingml/2006/main" noGrp="1"/>
          </p:cNvSpPr>
          <p:nvPr/>
        </p:nvSpPr>
        <p:spPr>
          <a:xfrm xmlns:a="http://schemas.openxmlformats.org/drawingml/2006/main">
            <a:off x="552450" y="1666875"/>
            <a:ext cx="1109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1">
                <a:solidFill>
                  <a:srgbClr val="087C69"/>
                </a:solidFill>
                <a:latin typeface="Arial"/>
                <a:ea typeface="Arial"/>
                <a:cs typeface="Arial"/>
              </a:defRPr>
            </a:defPPr>
          </a:lstStyle>
          <a:p xmlns:a="http://schemas.openxmlformats.org/drawingml/2006/main">
            <a:pPr>
              <a:buNone/>
              <a:defRPr sz="2700" b="1">
                <a:solidFill>
                  <a:srgbClr val="087C69"/>
                </a:solidFill>
                <a:latin typeface="Arial"/>
                <a:ea typeface="Arial"/>
                <a:cs typeface="Arial"/>
              </a:defRPr>
            </a:pPr>
            <a:r>
              <a:rPr sz="2700" b="1">
                <a:solidFill>
                  <a:srgbClr val="087C69"/>
                </a:solidFill>
                <a:latin typeface="Arial"/>
                <a:ea typeface="Arial"/>
                <a:cs typeface="Arial"/>
              </a:rPr>
              <a:t>C(s) = [estimated combined cost − separate cost] / 3</a:t>
            </a:r>
          </a:p>
        </p:txBody>
      </p:sp>
      <p:sp>
        <p:nvSpPr>
          <p:cNvPr id="4" name="C(s) = [min(3, c + 1) − (c + 3)] / 3">
            <a:extLst xmlns:a="http://schemas.openxmlformats.org/drawingml/2006/main">
              <a:ext uri="{FF2B5EF4-FFF2-40B4-BE49-F238E27FC236}">
                <a16:creationId xmlns:a16="http://schemas.microsoft.com/office/drawing/2014/main" id="{53E42873-CC0C-4442-BD57-22BE3F409C3E}"/>
              </a:ext>
            </a:extLst>
          </p:cNvPr>
          <p:cNvSpPr>
            <a:spLocks xmlns:a="http://schemas.openxmlformats.org/drawingml/2006/main" noGrp="1"/>
          </p:cNvSpPr>
          <p:nvPr/>
        </p:nvSpPr>
        <p:spPr>
          <a:xfrm xmlns:a="http://schemas.openxmlformats.org/drawingml/2006/main">
            <a:off x="552450" y="2228850"/>
            <a:ext cx="1109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0">
                <a:solidFill>
                  <a:srgbClr val="13233D"/>
                </a:solidFill>
                <a:latin typeface="Arial"/>
                <a:ea typeface="Arial"/>
                <a:cs typeface="Arial"/>
              </a:defRPr>
            </a:defPPr>
          </a:lstStyle>
          <a:p xmlns:a="http://schemas.openxmlformats.org/drawingml/2006/main">
            <a:pPr>
              <a:buNone/>
              <a:defRPr sz="2250" b="0">
                <a:solidFill>
                  <a:srgbClr val="13233D"/>
                </a:solidFill>
                <a:latin typeface="Arial"/>
                <a:ea typeface="Arial"/>
                <a:cs typeface="Arial"/>
              </a:defRPr>
            </a:pPr>
            <a:r>
              <a:rPr sz="2250" b="0">
                <a:solidFill>
                  <a:srgbClr val="13233D"/>
                </a:solidFill>
                <a:latin typeface="Arial"/>
                <a:ea typeface="Arial"/>
                <a:cs typeface="Arial"/>
              </a:rPr>
              <a:t>C(s) = [min(3, c + 1) − (c + 3)] / 3</a:t>
            </a:r>
          </a:p>
        </p:txBody>
      </p:sp>
      <p:sp>
        <p:nvSpPr>
          <p:cNvPr id="5" name="Separate cost: c + 3">
            <a:extLst xmlns:a="http://schemas.openxmlformats.org/drawingml/2006/main">
              <a:ext uri="{FF2B5EF4-FFF2-40B4-BE49-F238E27FC236}">
                <a16:creationId xmlns:a16="http://schemas.microsoft.com/office/drawing/2014/main" id="{F1D00A29-64C4-420F-A208-6F7FCFE33AFF}"/>
              </a:ext>
            </a:extLst>
          </p:cNvPr>
          <p:cNvSpPr>
            <a:spLocks xmlns:a="http://schemas.openxmlformats.org/drawingml/2006/main" noGrp="1"/>
          </p:cNvSpPr>
          <p:nvPr/>
        </p:nvSpPr>
        <p:spPr>
          <a:xfrm xmlns:a="http://schemas.openxmlformats.org/drawingml/2006/main">
            <a:off x="552450" y="30480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459C4"/>
                </a:solidFill>
                <a:latin typeface="Arial"/>
                <a:ea typeface="Arial"/>
                <a:cs typeface="Arial"/>
              </a:defRPr>
            </a:defPPr>
          </a:lstStyle>
          <a:p xmlns:a="http://schemas.openxmlformats.org/drawingml/2006/main">
            <a:pPr>
              <a:buNone/>
              <a:defRPr sz="2100" b="1">
                <a:solidFill>
                  <a:srgbClr val="2459C4"/>
                </a:solidFill>
                <a:latin typeface="Arial"/>
                <a:ea typeface="Arial"/>
                <a:cs typeface="Arial"/>
              </a:defRPr>
            </a:pPr>
            <a:r>
              <a:rPr sz="2100" b="1">
                <a:solidFill>
                  <a:srgbClr val="2459C4"/>
                </a:solidFill>
                <a:latin typeface="Arial"/>
                <a:ea typeface="Arial"/>
                <a:cs typeface="Arial"/>
              </a:rPr>
              <a:t>Separate cost: c + 3</a:t>
            </a:r>
          </a:p>
        </p:txBody>
      </p:sp>
      <p:sp>
        <p:nvSpPr>
          <p:cNvPr id="6" name="c = cost of the preceding block&#10;3 = cost of a standalone SWAP">
            <a:extLst xmlns:a="http://schemas.openxmlformats.org/drawingml/2006/main">
              <a:ext uri="{FF2B5EF4-FFF2-40B4-BE49-F238E27FC236}">
                <a16:creationId xmlns:a16="http://schemas.microsoft.com/office/drawing/2014/main" id="{D7D7F909-A94F-4870-B281-62849C38F87C}"/>
              </a:ext>
            </a:extLst>
          </p:cNvPr>
          <p:cNvSpPr>
            <a:spLocks xmlns:a="http://schemas.openxmlformats.org/drawingml/2006/main" noGrp="1"/>
          </p:cNvSpPr>
          <p:nvPr/>
        </p:nvSpPr>
        <p:spPr>
          <a:xfrm xmlns:a="http://schemas.openxmlformats.org/drawingml/2006/main">
            <a:off x="552450" y="350520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526479"/>
                </a:solidFill>
                <a:latin typeface="Arial"/>
                <a:ea typeface="Arial"/>
                <a:cs typeface="Arial"/>
              </a:defRPr>
            </a:defPPr>
          </a:lstStyle>
          <a:p xmlns:a="http://schemas.openxmlformats.org/drawingml/2006/main">
            <a:pPr>
              <a:buNone/>
              <a:defRPr sz="1875" b="0">
                <a:solidFill>
                  <a:srgbClr val="526479"/>
                </a:solidFill>
                <a:latin typeface="Arial"/>
                <a:ea typeface="Arial"/>
                <a:cs typeface="Arial"/>
              </a:defRPr>
            </a:pPr>
            <a:r>
              <a:rPr sz="1875" b="0">
                <a:solidFill>
                  <a:srgbClr val="526479"/>
                </a:solidFill>
                <a:latin typeface="Arial"/>
                <a:ea typeface="Arial"/>
                <a:cs typeface="Arial"/>
              </a:rPr>
              <a:t>c = cost of the preceding block</a:t>
            </a:r>
          </a:p>
          <a:p xmlns:a="http://schemas.openxmlformats.org/drawingml/2006/main">
            <a:pPr>
              <a:buNone/>
              <a:defRPr sz="1875" b="0">
                <a:solidFill>
                  <a:srgbClr val="526479"/>
                </a:solidFill>
                <a:latin typeface="Arial"/>
                <a:ea typeface="Arial"/>
                <a:cs typeface="Arial"/>
              </a:defRPr>
            </a:pPr>
            <a:r>
              <a:rPr sz="1875" b="0">
                <a:solidFill>
                  <a:srgbClr val="526479"/>
                </a:solidFill>
                <a:latin typeface="Arial"/>
                <a:ea typeface="Arial"/>
                <a:cs typeface="Arial"/>
              </a:rPr>
              <a:t>3 = cost of a standalone SWAP</a:t>
            </a:r>
          </a:p>
        </p:txBody>
      </p:sp>
      <p:sp>
        <p:nvSpPr>
          <p:cNvPr id="7" name="Combined estimate: min(3, c + 1)">
            <a:extLst xmlns:a="http://schemas.openxmlformats.org/drawingml/2006/main">
              <a:ext uri="{FF2B5EF4-FFF2-40B4-BE49-F238E27FC236}">
                <a16:creationId xmlns:a16="http://schemas.microsoft.com/office/drawing/2014/main" id="{EB243196-349A-4F80-9894-7D10D8F4FB1B}"/>
              </a:ext>
            </a:extLst>
          </p:cNvPr>
          <p:cNvSpPr>
            <a:spLocks xmlns:a="http://schemas.openxmlformats.org/drawingml/2006/main" noGrp="1"/>
          </p:cNvSpPr>
          <p:nvPr/>
        </p:nvSpPr>
        <p:spPr>
          <a:xfrm xmlns:a="http://schemas.openxmlformats.org/drawingml/2006/main">
            <a:off x="552450" y="4562475"/>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087C69"/>
                </a:solidFill>
                <a:latin typeface="Arial"/>
                <a:ea typeface="Arial"/>
                <a:cs typeface="Arial"/>
              </a:defRPr>
            </a:defPPr>
          </a:lstStyle>
          <a:p xmlns:a="http://schemas.openxmlformats.org/drawingml/2006/main">
            <a:pPr>
              <a:buNone/>
              <a:defRPr sz="2100" b="1">
                <a:solidFill>
                  <a:srgbClr val="087C69"/>
                </a:solidFill>
                <a:latin typeface="Arial"/>
                <a:ea typeface="Arial"/>
                <a:cs typeface="Arial"/>
              </a:defRPr>
            </a:pPr>
            <a:r>
              <a:rPr sz="2100" b="1">
                <a:solidFill>
                  <a:srgbClr val="087C69"/>
                </a:solidFill>
                <a:latin typeface="Arial"/>
                <a:ea typeface="Arial"/>
                <a:cs typeface="Arial"/>
              </a:rPr>
              <a:t>Combined estimate: min(3, c + 1)</a:t>
            </a:r>
          </a:p>
        </p:txBody>
      </p:sp>
      <p:sp>
        <p:nvSpPr>
          <p:cNvPr id="8" name="The model adds one gate to the block,&#10;then caps the total at three.">
            <a:extLst xmlns:a="http://schemas.openxmlformats.org/drawingml/2006/main">
              <a:ext uri="{FF2B5EF4-FFF2-40B4-BE49-F238E27FC236}">
                <a16:creationId xmlns:a16="http://schemas.microsoft.com/office/drawing/2014/main" id="{7AD54F74-24CC-4DD7-B8A9-D57B8A7B49C5}"/>
              </a:ext>
            </a:extLst>
          </p:cNvPr>
          <p:cNvSpPr>
            <a:spLocks xmlns:a="http://schemas.openxmlformats.org/drawingml/2006/main" noGrp="1"/>
          </p:cNvSpPr>
          <p:nvPr/>
        </p:nvSpPr>
        <p:spPr>
          <a:xfrm xmlns:a="http://schemas.openxmlformats.org/drawingml/2006/main">
            <a:off x="552450" y="50196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526479"/>
                </a:solidFill>
                <a:latin typeface="Arial"/>
                <a:ea typeface="Arial"/>
                <a:cs typeface="Arial"/>
              </a:defRPr>
            </a:defPPr>
          </a:lstStyle>
          <a:p xmlns:a="http://schemas.openxmlformats.org/drawingml/2006/main">
            <a:pPr>
              <a:buNone/>
              <a:defRPr sz="1875" b="0">
                <a:solidFill>
                  <a:srgbClr val="526479"/>
                </a:solidFill>
                <a:latin typeface="Arial"/>
                <a:ea typeface="Arial"/>
                <a:cs typeface="Arial"/>
              </a:defRPr>
            </a:pPr>
            <a:r>
              <a:rPr sz="1875" b="0">
                <a:solidFill>
                  <a:srgbClr val="526479"/>
                </a:solidFill>
                <a:latin typeface="Arial"/>
                <a:ea typeface="Arial"/>
                <a:cs typeface="Arial"/>
              </a:rPr>
              <a:t>The model adds one gate to the block,</a:t>
            </a:r>
          </a:p>
          <a:p xmlns:a="http://schemas.openxmlformats.org/drawingml/2006/main">
            <a:pPr>
              <a:buNone/>
              <a:defRPr sz="1875" b="0">
                <a:solidFill>
                  <a:srgbClr val="526479"/>
                </a:solidFill>
                <a:latin typeface="Arial"/>
                <a:ea typeface="Arial"/>
                <a:cs typeface="Arial"/>
              </a:defRPr>
            </a:pPr>
            <a:r>
              <a:rPr sz="1875" b="0">
                <a:solidFill>
                  <a:srgbClr val="526479"/>
                </a:solidFill>
                <a:latin typeface="Arial"/>
                <a:ea typeface="Arial"/>
                <a:cs typeface="Arial"/>
              </a:rPr>
              <a:t>then caps the total at three.</a:t>
            </a:r>
          </a:p>
        </p:txBody>
      </p:sp>
      <p:pic>
        <p:nvPicPr>
          <p:cNvPr id="9" name="">
            <a:extLst xmlns:a="http://schemas.openxmlformats.org/drawingml/2006/main">
              <a:ext uri="{FF2B5EF4-FFF2-40B4-BE49-F238E27FC236}">
                <a16:creationId xmlns:a16="http://schemas.microsoft.com/office/drawing/2014/main" id="{33EEEDFD-C102-4B5F-A5C7-A524033FD11B}"/>
              </a:ext>
            </a:extLst>
          </p:cNvPr>
          <p:cNvPicPr>
            <a:picLocks xmlns:a="http://schemas.openxmlformats.org/drawingml/2006/main" noChangeAspect="1"/>
          </p:cNvPicPr>
          <p:nvPr/>
        </p:nvPicPr>
        <p:blipFill>
          <a:blip xmlns:r="http://schemas.openxmlformats.org/officeDocument/2006/relationships" xmlns:a="http://schemas.openxmlformats.org/drawingml/2006/main" r:embed="Rbad5d0a95a764581">
            <a:extLst>
              <a:ext uri="{96DAC541-7B7A-43D3-8B79-37D633B846F1}">
                <asvg:svgBlip xmlns:asvg="http://schemas.microsoft.com/office/drawing/2016/SVG/main" r:embed="R4a52b86ffb5f434e"/>
              </a:ext>
            </a:extLst>
          </a:blip>
          <a:stretch xmlns:a="http://schemas.openxmlformats.org/drawingml/2006/main"/>
        </p:blipFill>
        <p:spPr>
          <a:xfrm xmlns:a="http://schemas.openxmlformats.org/drawingml/2006/main">
            <a:off x="6524625" y="2962275"/>
            <a:ext cx="5095875" cy="3190875"/>
          </a:xfrm>
          <a:prstGeom xmlns:a="http://schemas.openxmlformats.org/drawingml/2006/main" prst="rect">
            <a:avLst/>
          </a:prstGeom>
        </p:spPr>
      </p:pic>
      <p:sp>
        <p:nvSpPr>
          <p:cNvPr id="10" name="Negative rewards savings. Dividing by 3 expresses the saving in units ">
            <a:extLst xmlns:a="http://schemas.openxmlformats.org/drawingml/2006/main">
              <a:ext uri="{FF2B5EF4-FFF2-40B4-BE49-F238E27FC236}">
                <a16:creationId xmlns:a16="http://schemas.microsoft.com/office/drawing/2014/main" id="{A500AD3A-5856-4695-A35B-CACB93618C05}"/>
              </a:ext>
            </a:extLst>
          </p:cNvPr>
          <p:cNvSpPr>
            <a:spLocks xmlns:a="http://schemas.openxmlformats.org/drawingml/2006/main" noGrp="1"/>
          </p:cNvSpPr>
          <p:nvPr/>
        </p:nvSpPr>
        <p:spPr>
          <a:xfrm xmlns:a="http://schemas.openxmlformats.org/drawingml/2006/main">
            <a:off x="552450" y="61912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Negative rewards savings. Dividing by 3 expresses the saving in units of one standalone SWAP.</a:t>
            </a:r>
          </a:p>
        </p:txBody>
      </p:sp>
      <p:sp>
        <p:nvSpPr>
          <p:cNvPr id="11" name="4">
            <a:extLst xmlns:a="http://schemas.openxmlformats.org/drawingml/2006/main">
              <a:ext uri="{FF2B5EF4-FFF2-40B4-BE49-F238E27FC236}">
                <a16:creationId xmlns:a16="http://schemas.microsoft.com/office/drawing/2014/main" id="{F418DEB0-534E-4BFD-84C7-F60889DD4DFE}"/>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7</a:t>
            </a:r>
          </a:p>
        </p:txBody>
      </p:sp>
    </p:spTree>
    <p:extLst>
      <p:ext uri="{BB962C8B-B14F-4D97-AF65-F5344CB8AC3E}">
        <p14:creationId xmlns:p14="http://schemas.microsoft.com/office/powerpoint/2010/main" val="7314528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ow circuit gates become a SABRE node">
            <a:extLst xmlns:a="http://schemas.openxmlformats.org/drawingml/2006/main">
              <a:ext uri="{FF2B5EF4-FFF2-40B4-BE49-F238E27FC236}">
                <a16:creationId xmlns:a16="http://schemas.microsoft.com/office/drawing/2014/main" id="{C2738118-FB7E-4BE8-9459-6581A3ED8F46}"/>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How circuit gates become a SABRE node</a:t>
            </a:r>
          </a:p>
        </p:txBody>
      </p:sp>
      <p:sp>
        <p:nvSpPr>
          <p:cNvPr id="2" name="The builder groups logical operations before routing. One node can hol">
            <a:extLst xmlns:a="http://schemas.openxmlformats.org/drawingml/2006/main">
              <a:ext uri="{FF2B5EF4-FFF2-40B4-BE49-F238E27FC236}">
                <a16:creationId xmlns:a16="http://schemas.microsoft.com/office/drawing/2014/main" id="{FE2B92CF-5C3E-4CFF-AC55-754780F3CDC7}"/>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The builder groups logical operations before routing. One node can hold many original gates.</a:t>
            </a:r>
          </a:p>
        </p:txBody>
      </p:sp>
      <p:sp>
        <p:nvSpPr>
          <p:cNvPr id="3" name="8">
            <a:extLst xmlns:a="http://schemas.openxmlformats.org/drawingml/2006/main">
              <a:ext uri="{FF2B5EF4-FFF2-40B4-BE49-F238E27FC236}">
                <a16:creationId xmlns:a16="http://schemas.microsoft.com/office/drawing/2014/main" id="{164D2CD6-8571-4EF4-8F96-EFE3E506763B}"/>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8</a:t>
            </a:r>
          </a:p>
        </p:txBody>
      </p:sp>
      <p:graphicFrame>
        <p:nvGraphicFramePr>
          <p:cNvPr id="4" name="">
            <a:extLst xmlns:a="http://schemas.openxmlformats.org/drawingml/2006/main">
              <a:ext uri="{FF2B5EF4-FFF2-40B4-BE49-F238E27FC236}">
                <a16:creationId xmlns:a16="http://schemas.microsoft.com/office/drawing/2014/main" id="{4DAE50FF-0F46-4682-B6E6-9E2A1BBCD839}"/>
              </a:ext>
            </a:extLst>
          </p:cNvPr>
          <p:cNvGraphicFramePr/>
          <p:nvPr/>
        </p:nvGraphicFramePr>
        <p:xfrm>
          <a:off xmlns:a="http://schemas.openxmlformats.org/drawingml/2006/main" x="552450" y="1638300"/>
          <a:ext xmlns:a="http://schemas.openxmlformats.org/drawingml/2006/main" cx="11087100" cy="1562100"/>
        </p:xfrm>
        <a:graphic xmlns:a="http://schemas.openxmlformats.org/drawingml/2006/main">
          <a:graphicData uri="http://schemas.openxmlformats.org/drawingml/2006/table">
            <a:tbl>
              <a:tblPr/>
              <a:tblGrid>
                <a:gridCol w="2333625"/>
                <a:gridCol w="8753475"/>
              </a:tblGrid>
              <a:tr h="390525">
                <a:tc>
                  <a:txBody>
                    <a:bodyPr lIns="114300" tIns="66675" rIns="95250" bIns="66675">
                      <a:noAutofit/>
                    </a:bodyPr>
                    <a:lstStyle/>
                    <a:p>
                      <a:pPr>
                        <a:lnSpc>
                          <a:spcPct val="100000"/>
                        </a:lnSpc>
                        <a:buNone/>
                      </a:pPr>
                      <a:r>
                        <a:rPr sz="1725" b="1">
                          <a:solidFill>
                            <a:srgbClr val="13233D"/>
                          </a:solidFill>
                          <a:latin typeface="Arial"/>
                          <a:ea typeface="Arial"/>
                          <a:cs typeface="Arial"/>
                        </a:rPr>
                        <a:t>SabreNode field</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pPr>
                        <a:lnSpc>
                          <a:spcPct val="100000"/>
                        </a:lnSpc>
                        <a:buNone/>
                      </a:pPr>
                      <a:r>
                        <a:rPr sz="1725" b="1">
                          <a:solidFill>
                            <a:srgbClr val="13233D"/>
                          </a:solidFill>
                          <a:latin typeface="Arial"/>
                          <a:ea typeface="Arial"/>
                          <a:cs typeface="Arial"/>
                        </a:rPr>
                        <a:t>What it stores</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90525">
                <a:tc>
                  <a:txBody>
                    <a:bodyPr lIns="114300" tIns="66675" rIns="95250" bIns="66675">
                      <a:noAutofit/>
                    </a:bodyPr>
                    <a:lstStyle/>
                    <a:p>
                      <a:pPr>
                        <a:lnSpc>
                          <a:spcPct val="100000"/>
                        </a:lnSpc>
                        <a:buNone/>
                      </a:pPr>
                      <a:r>
                        <a:rPr sz="1725" b="0">
                          <a:solidFill>
                            <a:srgbClr val="526479"/>
                          </a:solidFill>
                          <a:latin typeface="Arial"/>
                          <a:ea typeface="Arial"/>
                          <a:cs typeface="Arial"/>
                        </a:rPr>
                        <a:t>indices</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725" b="0">
                          <a:solidFill>
                            <a:srgbClr val="526479"/>
                          </a:solidFill>
                          <a:latin typeface="Arial"/>
                          <a:ea typeface="Arial"/>
                          <a:cs typeface="Arial"/>
                        </a:rPr>
                        <a:t>Ordered IDs of the original circuit operations inside the node.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90525">
                <a:tc>
                  <a:txBody>
                    <a:bodyPr lIns="114300" tIns="66675" rIns="95250" bIns="66675">
                      <a:noAutofit/>
                    </a:bodyPr>
                    <a:lstStyle/>
                    <a:p>
                      <a:pPr>
                        <a:lnSpc>
                          <a:spcPct val="100000"/>
                        </a:lnSpc>
                        <a:buNone/>
                      </a:pPr>
                      <a:r>
                        <a:rPr sz="1725" b="0">
                          <a:solidFill>
                            <a:srgbClr val="526479"/>
                          </a:solidFill>
                          <a:latin typeface="Arial"/>
                          <a:ea typeface="Arial"/>
                          <a:cs typeface="Arial"/>
                        </a:rPr>
                        <a:t>kind</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725" b="0">
                          <a:solidFill>
                            <a:srgbClr val="526479"/>
                          </a:solidFill>
                          <a:latin typeface="Arial"/>
                          <a:ea typeface="Arial"/>
                          <a:cs typeface="Arial"/>
                        </a:rPr>
                        <a:t>TwoQ([q0,q1]) identifies the logical pair that must become adjacent.</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90525">
                <a:tc>
                  <a:txBody>
                    <a:bodyPr lIns="114300" tIns="66675" rIns="95250" bIns="66675">
                      <a:noAutofit/>
                    </a:bodyPr>
                    <a:lstStyle/>
                    <a:p>
                      <a:pPr>
                        <a:lnSpc>
                          <a:spcPct val="100000"/>
                        </a:lnSpc>
                        <a:buNone/>
                      </a:pPr>
                      <a:r>
                        <a:rPr sz="1725" b="0">
                          <a:solidFill>
                            <a:srgbClr val="526479"/>
                          </a:solidFill>
                          <a:latin typeface="Arial"/>
                          <a:ea typeface="Arial"/>
                          <a:cs typeface="Arial"/>
                        </a:rPr>
                        <a:t>block</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725" b="0">
                          <a:solidFill>
                            <a:srgbClr val="526479"/>
                          </a:solidFill>
                          <a:latin typeface="Arial"/>
                          <a:ea typeface="Arial"/>
                          <a:cs typeface="Arial"/>
                        </a:rPr>
                        <a:t>Some(n): estimated 2q contribution n. None: contains a fusion boundary.</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5" name="The builder scans gates in dependency order">
            <a:extLst xmlns:a="http://schemas.openxmlformats.org/drawingml/2006/main">
              <a:ext uri="{FF2B5EF4-FFF2-40B4-BE49-F238E27FC236}">
                <a16:creationId xmlns:a16="http://schemas.microsoft.com/office/drawing/2014/main" id="{A65D2891-8915-4C84-B327-2ED37D5BBF6D}"/>
              </a:ext>
            </a:extLst>
          </p:cNvPr>
          <p:cNvSpPr>
            <a:spLocks xmlns:a="http://schemas.openxmlformats.org/drawingml/2006/main" noGrp="1"/>
          </p:cNvSpPr>
          <p:nvPr/>
        </p:nvSpPr>
        <p:spPr>
          <a:xfrm xmlns:a="http://schemas.openxmlformats.org/drawingml/2006/main">
            <a:off x="552450" y="347662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The builder scans gates in dependency order</a:t>
            </a:r>
          </a:p>
        </p:txBody>
      </p:sp>
      <p:sp>
        <p:nvSpPr>
          <p:cNvPr id="6" name="It checks which existing SABRE node precedes the gate on each incoming">
            <a:extLst xmlns:a="http://schemas.openxmlformats.org/drawingml/2006/main">
              <a:ext uri="{FF2B5EF4-FFF2-40B4-BE49-F238E27FC236}">
                <a16:creationId xmlns:a16="http://schemas.microsoft.com/office/drawing/2014/main" id="{0642E022-A92F-4D31-8C62-DF95B08007A1}"/>
              </a:ext>
            </a:extLst>
          </p:cNvPr>
          <p:cNvSpPr>
            <a:spLocks xmlns:a="http://schemas.openxmlformats.org/drawingml/2006/main" noGrp="1"/>
          </p:cNvSpPr>
          <p:nvPr/>
        </p:nvSpPr>
        <p:spPr>
          <a:xfrm xmlns:a="http://schemas.openxmlformats.org/drawingml/2006/main">
            <a:off x="552450" y="3876675"/>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It checks which existing SABRE node precedes the gate on each incoming wire.</a:t>
            </a:r>
          </a:p>
        </p:txBody>
      </p:sp>
      <p:sp>
        <p:nvSpPr>
          <p:cNvPr id="7" name="All wires point to one node: fold a Synchronize operation (such as a 1">
            <a:extLst xmlns:a="http://schemas.openxmlformats.org/drawingml/2006/main">
              <a:ext uri="{FF2B5EF4-FFF2-40B4-BE49-F238E27FC236}">
                <a16:creationId xmlns:a16="http://schemas.microsoft.com/office/drawing/2014/main" id="{549DEA4F-EEF0-49C5-B915-62025B071442}"/>
              </a:ext>
            </a:extLst>
          </p:cNvPr>
          <p:cNvSpPr>
            <a:spLocks xmlns:a="http://schemas.openxmlformats.org/drawingml/2006/main" noGrp="1"/>
          </p:cNvSpPr>
          <p:nvPr/>
        </p:nvSpPr>
        <p:spPr>
          <a:xfrm xmlns:a="http://schemas.openxmlformats.org/drawingml/2006/main">
            <a:off x="552450" y="4314825"/>
            <a:ext cx="11087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All wires point to one node: fold a Synchronize operation (such as a 1q gate or barrier),</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or fold a TwoQ operation after a TwoQ node. Append the gate ID and update block.</a:t>
            </a:r>
          </a:p>
        </p:txBody>
      </p:sp>
      <p:sp>
        <p:nvSpPr>
          <p:cNvPr id="8" name="Different predecessors, or a kind that cannot fold: create a new node ">
            <a:extLst xmlns:a="http://schemas.openxmlformats.org/drawingml/2006/main">
              <a:ext uri="{FF2B5EF4-FFF2-40B4-BE49-F238E27FC236}">
                <a16:creationId xmlns:a16="http://schemas.microsoft.com/office/drawing/2014/main" id="{C79738D7-82F2-47BA-B18D-D4CC49E17B08}"/>
              </a:ext>
            </a:extLst>
          </p:cNvPr>
          <p:cNvSpPr>
            <a:spLocks xmlns:a="http://schemas.openxmlformats.org/drawingml/2006/main" noGrp="1"/>
          </p:cNvSpPr>
          <p:nvPr/>
        </p:nvSpPr>
        <p:spPr>
          <a:xfrm xmlns:a="http://schemas.openxmlformats.org/drawingml/2006/main">
            <a:off x="552450" y="5095875"/>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Different predecessors, or a kind that cannot fold: create a new node and dependency edges.</a:t>
            </a:r>
          </a:p>
        </p:txBody>
      </p:sp>
      <p:sp>
        <p:nvSpPr>
          <p:cNvPr id="9" name="A first 2q gate starts a node. Leading 1q gates go into the initial op">
            <a:extLst xmlns:a="http://schemas.openxmlformats.org/drawingml/2006/main">
              <a:ext uri="{FF2B5EF4-FFF2-40B4-BE49-F238E27FC236}">
                <a16:creationId xmlns:a16="http://schemas.microsoft.com/office/drawing/2014/main" id="{AF0A357A-56EB-4CBB-9443-AD306C793411}"/>
              </a:ext>
            </a:extLst>
          </p:cNvPr>
          <p:cNvSpPr>
            <a:spLocks xmlns:a="http://schemas.openxmlformats.org/drawingml/2006/main" noGrp="1"/>
          </p:cNvSpPr>
          <p:nvPr/>
        </p:nvSpPr>
        <p:spPr>
          <a:xfrm xmlns:a="http://schemas.openxmlformats.org/drawingml/2006/main">
            <a:off x="552450" y="5514975"/>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A first 2q gate starts a node. Leading 1q gates go into the initial operations list.</a:t>
            </a:r>
          </a:p>
        </p:txBody>
      </p:sp>
      <p:sp>
        <p:nvSpPr>
          <p:cNvPr id="10" name="Some(0) is a valid zero contribution. None prevents that node from pro">
            <a:extLst xmlns:a="http://schemas.openxmlformats.org/drawingml/2006/main">
              <a:ext uri="{FF2B5EF4-FFF2-40B4-BE49-F238E27FC236}">
                <a16:creationId xmlns:a16="http://schemas.microsoft.com/office/drawing/2014/main" id="{5F50FBD5-A1E1-4609-8A2A-ED5E74C3FFE5}"/>
              </a:ext>
            </a:extLst>
          </p:cNvPr>
          <p:cNvSpPr>
            <a:spLocks xmlns:a="http://schemas.openxmlformats.org/drawingml/2006/main" noGrp="1"/>
          </p:cNvSpPr>
          <p:nvPr/>
        </p:nvSpPr>
        <p:spPr>
          <a:xfrm xmlns:a="http://schemas.openxmlformats.org/drawingml/2006/main">
            <a:off x="552450" y="5972175"/>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Some(0) is a valid zero contribution. None prevents that node from providing a fusion credit.</a:t>
            </a:r>
          </a:p>
        </p:txBody>
      </p:sp>
      <p:sp>
        <p:nvSpPr>
          <p:cNvPr id="11" name="Folding retains every original gate. The router later emits the stored">
            <a:extLst xmlns:a="http://schemas.openxmlformats.org/drawingml/2006/main">
              <a:ext uri="{FF2B5EF4-FFF2-40B4-BE49-F238E27FC236}">
                <a16:creationId xmlns:a16="http://schemas.microsoft.com/office/drawing/2014/main" id="{12E8A909-286C-4EEF-B746-1FF9502FBC90}"/>
              </a:ext>
            </a:extLst>
          </p:cNvPr>
          <p:cNvSpPr>
            <a:spLocks xmlns:a="http://schemas.openxmlformats.org/drawingml/2006/main" noGrp="1"/>
          </p:cNvSpPr>
          <p:nvPr/>
        </p:nvSpPr>
        <p:spPr>
          <a:xfrm xmlns:a="http://schemas.openxmlformats.org/drawingml/2006/main">
            <a:off x="552450" y="63055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Folding retains every original gate. The router later emits the stored indices in order.</a:t>
            </a:r>
          </a:p>
        </p:txBody>
      </p:sp>
    </p:spTree>
    <p:extLst>
      <p:ext uri="{BB962C8B-B14F-4D97-AF65-F5344CB8AC3E}">
        <p14:creationId xmlns:p14="http://schemas.microsoft.com/office/powerpoint/2010/main" val="12070651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wo cost updates: construction and routing">
            <a:extLst xmlns:a="http://schemas.openxmlformats.org/drawingml/2006/main">
              <a:ext uri="{FF2B5EF4-FFF2-40B4-BE49-F238E27FC236}">
                <a16:creationId xmlns:a16="http://schemas.microsoft.com/office/drawing/2014/main" id="{2AD8EB62-D3E6-413F-93C5-060E2A59FDC1}"/>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Two cost updates: construction and routing</a:t>
            </a:r>
          </a:p>
        </p:txBody>
      </p:sp>
      <p:sp>
        <p:nvSpPr>
          <p:cNvPr id="2" name="node.block is built on logical qubits. Routing uses it to update c on ">
            <a:extLst xmlns:a="http://schemas.openxmlformats.org/drawingml/2006/main">
              <a:ext uri="{FF2B5EF4-FFF2-40B4-BE49-F238E27FC236}">
                <a16:creationId xmlns:a16="http://schemas.microsoft.com/office/drawing/2014/main" id="{F1575018-4734-40FB-AD2A-6177FBF2C563}"/>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node.block is built on logical qubits. Routing uses it to update c on a physical pair.</a:t>
            </a:r>
          </a:p>
        </p:txBody>
      </p:sp>
      <p:sp>
        <p:nvSpPr>
          <p:cNvPr id="3" name="9">
            <a:extLst xmlns:a="http://schemas.openxmlformats.org/drawingml/2006/main">
              <a:ext uri="{FF2B5EF4-FFF2-40B4-BE49-F238E27FC236}">
                <a16:creationId xmlns:a16="http://schemas.microsoft.com/office/drawing/2014/main" id="{2A1BC6FF-9D76-43B8-B360-937A9EB9F932}"/>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9</a:t>
            </a:r>
          </a:p>
        </p:txBody>
      </p:sp>
      <p:sp>
        <p:nvSpPr>
          <p:cNvPr id="4" name="1. Build the contribution node.block">
            <a:extLst xmlns:a="http://schemas.openxmlformats.org/drawingml/2006/main">
              <a:ext uri="{FF2B5EF4-FFF2-40B4-BE49-F238E27FC236}">
                <a16:creationId xmlns:a16="http://schemas.microsoft.com/office/drawing/2014/main" id="{7D4A6D3A-629F-41FE-9B4A-5548D7B40A71}"/>
              </a:ext>
            </a:extLst>
          </p:cNvPr>
          <p:cNvSpPr>
            <a:spLocks xmlns:a="http://schemas.openxmlformats.org/drawingml/2006/main" noGrp="1"/>
          </p:cNvSpPr>
          <p:nvPr/>
        </p:nvSpPr>
        <p:spPr>
          <a:xfrm xmlns:a="http://schemas.openxmlformats.org/drawingml/2006/main">
            <a:off x="552450" y="1619250"/>
            <a:ext cx="544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1. Build the contribution node.block</a:t>
            </a:r>
          </a:p>
        </p:txBody>
      </p:sp>
      <p:sp>
        <p:nvSpPr>
          <p:cNvPr id="5" name="CX / CY / CZ / ECR → Some(1)&#10;Other 2q gates → Some(3)&#10;A 1q gate → Some">
            <a:extLst xmlns:a="http://schemas.openxmlformats.org/drawingml/2006/main">
              <a:ext uri="{FF2B5EF4-FFF2-40B4-BE49-F238E27FC236}">
                <a16:creationId xmlns:a16="http://schemas.microsoft.com/office/drawing/2014/main" id="{50E5B984-5971-4FD6-B7EA-374E6CA238D0}"/>
              </a:ext>
            </a:extLst>
          </p:cNvPr>
          <p:cNvSpPr>
            <a:spLocks xmlns:a="http://schemas.openxmlformats.org/drawingml/2006/main" noGrp="1"/>
          </p:cNvSpPr>
          <p:nvPr/>
        </p:nvSpPr>
        <p:spPr>
          <a:xfrm xmlns:a="http://schemas.openxmlformats.org/drawingml/2006/main">
            <a:off x="552450" y="2066925"/>
            <a:ext cx="54483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CX / CY / CZ / ECR → Some(1)</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Other 2q gates → Some(3)</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A 1q gate → Some(0); a boundary → None</a:t>
            </a:r>
          </a:p>
        </p:txBody>
      </p:sp>
      <p:sp>
        <p:nvSpPr>
          <p:cNvPr id="6" name="When a gate folds into an existing node:">
            <a:extLst xmlns:a="http://schemas.openxmlformats.org/drawingml/2006/main">
              <a:ext uri="{FF2B5EF4-FFF2-40B4-BE49-F238E27FC236}">
                <a16:creationId xmlns:a16="http://schemas.microsoft.com/office/drawing/2014/main" id="{85767CC3-EF6D-4ADB-B7F7-36B46168F834}"/>
              </a:ext>
            </a:extLst>
          </p:cNvPr>
          <p:cNvSpPr>
            <a:spLocks xmlns:a="http://schemas.openxmlformats.org/drawingml/2006/main" noGrp="1"/>
          </p:cNvSpPr>
          <p:nvPr/>
        </p:nvSpPr>
        <p:spPr>
          <a:xfrm xmlns:a="http://schemas.openxmlformats.org/drawingml/2006/main">
            <a:off x="552450" y="3190875"/>
            <a:ext cx="5448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When a gate folds into an existing node:</a:t>
            </a:r>
          </a:p>
        </p:txBody>
      </p:sp>
      <p:sp>
        <p:nvSpPr>
          <p:cNvPr id="7" name="Some(n) + Some(g) → Some(min(3, n + g))&#10;If either value is None → None">
            <a:extLst xmlns:a="http://schemas.openxmlformats.org/drawingml/2006/main">
              <a:ext uri="{FF2B5EF4-FFF2-40B4-BE49-F238E27FC236}">
                <a16:creationId xmlns:a16="http://schemas.microsoft.com/office/drawing/2014/main" id="{A22941B7-8430-4E3C-8FEC-EE5231515334}"/>
              </a:ext>
            </a:extLst>
          </p:cNvPr>
          <p:cNvSpPr>
            <a:spLocks xmlns:a="http://schemas.openxmlformats.org/drawingml/2006/main" noGrp="1"/>
          </p:cNvSpPr>
          <p:nvPr/>
        </p:nvSpPr>
        <p:spPr>
          <a:xfrm xmlns:a="http://schemas.openxmlformats.org/drawingml/2006/main">
            <a:off x="552450" y="3590925"/>
            <a:ext cx="552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3233D"/>
                </a:solidFill>
                <a:latin typeface="Arial"/>
                <a:ea typeface="Arial"/>
                <a:cs typeface="Arial"/>
              </a:defRPr>
            </a:defPPr>
          </a:lstStyle>
          <a:p xmlns:a="http://schemas.openxmlformats.org/drawingml/2006/main">
            <a:pPr>
              <a:buNone/>
              <a:defRPr sz="1800" b="0">
                <a:solidFill>
                  <a:srgbClr val="13233D"/>
                </a:solidFill>
                <a:latin typeface="Arial"/>
                <a:ea typeface="Arial"/>
                <a:cs typeface="Arial"/>
              </a:defRPr>
            </a:pPr>
            <a:r>
              <a:rPr sz="1800" b="0">
                <a:solidFill>
                  <a:srgbClr val="13233D"/>
                </a:solidFill>
                <a:latin typeface="Arial"/>
                <a:ea typeface="Arial"/>
                <a:cs typeface="Arial"/>
              </a:rPr>
              <a:t>Some(n) + Some(g) → Some(min(3, n + g))</a:t>
            </a:r>
          </a:p>
          <a:p xmlns:a="http://schemas.openxmlformats.org/drawingml/2006/main">
            <a:pPr>
              <a:buNone/>
              <a:defRPr sz="1800" b="0">
                <a:solidFill>
                  <a:srgbClr val="13233D"/>
                </a:solidFill>
                <a:latin typeface="Arial"/>
                <a:ea typeface="Arial"/>
                <a:cs typeface="Arial"/>
              </a:defRPr>
            </a:pPr>
            <a:r>
              <a:rPr sz="1800" b="0">
                <a:solidFill>
                  <a:srgbClr val="13233D"/>
                </a:solidFill>
                <a:latin typeface="Arial"/>
                <a:ea typeface="Arial"/>
                <a:cs typeface="Arial"/>
              </a:rPr>
              <a:t>If either value is None → None</a:t>
            </a:r>
          </a:p>
        </p:txBody>
      </p:sp>
      <p:sp>
        <p:nvSpPr>
          <p:cNvPr id="8" name="2. Route the node and update physical c">
            <a:extLst xmlns:a="http://schemas.openxmlformats.org/drawingml/2006/main">
              <a:ext uri="{FF2B5EF4-FFF2-40B4-BE49-F238E27FC236}">
                <a16:creationId xmlns:a16="http://schemas.microsoft.com/office/drawing/2014/main" id="{FF14EAD6-19FD-48D7-A944-F3363BBCE98E}"/>
              </a:ext>
            </a:extLst>
          </p:cNvPr>
          <p:cNvSpPr>
            <a:spLocks xmlns:a="http://schemas.openxmlformats.org/drawingml/2006/main" noGrp="1"/>
          </p:cNvSpPr>
          <p:nvPr/>
        </p:nvSpPr>
        <p:spPr>
          <a:xfrm xmlns:a="http://schemas.openxmlformats.org/drawingml/2006/main">
            <a:off x="6457950" y="161925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2. Route the node and update physical c</a:t>
            </a:r>
          </a:p>
        </p:txBody>
      </p:sp>
      <p:sp>
        <p:nvSpPr>
          <p:cNvPr id="9" name="Use its physical endpoints a and b.&#10;open = old c if the stored partner">
            <a:extLst xmlns:a="http://schemas.openxmlformats.org/drawingml/2006/main">
              <a:ext uri="{FF2B5EF4-FFF2-40B4-BE49-F238E27FC236}">
                <a16:creationId xmlns:a16="http://schemas.microsoft.com/office/drawing/2014/main" id="{6B6FC8D4-5183-4C30-B150-0634EF3E417A}"/>
              </a:ext>
            </a:extLst>
          </p:cNvPr>
          <p:cNvSpPr>
            <a:spLocks xmlns:a="http://schemas.openxmlformats.org/drawingml/2006/main" noGrp="1"/>
          </p:cNvSpPr>
          <p:nvPr/>
        </p:nvSpPr>
        <p:spPr>
          <a:xfrm xmlns:a="http://schemas.openxmlformats.org/drawingml/2006/main">
            <a:off x="6457950" y="2066925"/>
            <a:ext cx="52197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Use its physical endpoints a and b.</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open = old c if the stored partners agree;</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otherwise, open = 0.</a:t>
            </a:r>
          </a:p>
        </p:txBody>
      </p:sp>
      <p:sp>
        <p:nvSpPr>
          <p:cNvPr id="10" name="node.block = Some(g): c = min(3, open + g)&#10;node.block = None: c = 0">
            <a:extLst xmlns:a="http://schemas.openxmlformats.org/drawingml/2006/main">
              <a:ext uri="{FF2B5EF4-FFF2-40B4-BE49-F238E27FC236}">
                <a16:creationId xmlns:a16="http://schemas.microsoft.com/office/drawing/2014/main" id="{58CBA54B-A8DA-4A1E-86B5-A7E485C66786}"/>
              </a:ext>
            </a:extLst>
          </p:cNvPr>
          <p:cNvSpPr>
            <a:spLocks xmlns:a="http://schemas.openxmlformats.org/drawingml/2006/main" noGrp="1"/>
          </p:cNvSpPr>
          <p:nvPr/>
        </p:nvSpPr>
        <p:spPr>
          <a:xfrm xmlns:a="http://schemas.openxmlformats.org/drawingml/2006/main">
            <a:off x="6457950" y="3190875"/>
            <a:ext cx="5219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3233D"/>
                </a:solidFill>
                <a:latin typeface="Arial"/>
                <a:ea typeface="Arial"/>
                <a:cs typeface="Arial"/>
              </a:defRPr>
            </a:defPPr>
          </a:lstStyle>
          <a:p xmlns:a="http://schemas.openxmlformats.org/drawingml/2006/main">
            <a:pPr>
              <a:buNone/>
              <a:defRPr sz="1800" b="0">
                <a:solidFill>
                  <a:srgbClr val="13233D"/>
                </a:solidFill>
                <a:latin typeface="Arial"/>
                <a:ea typeface="Arial"/>
                <a:cs typeface="Arial"/>
              </a:defRPr>
            </a:pPr>
            <a:r>
              <a:rPr sz="1800" b="0">
                <a:solidFill>
                  <a:srgbClr val="13233D"/>
                </a:solidFill>
                <a:latin typeface="Arial"/>
                <a:ea typeface="Arial"/>
                <a:cs typeface="Arial"/>
              </a:rPr>
              <a:t>node.block = Some(g): c = min(3, open + g)</a:t>
            </a:r>
          </a:p>
          <a:p xmlns:a="http://schemas.openxmlformats.org/drawingml/2006/main">
            <a:pPr>
              <a:buNone/>
              <a:defRPr sz="1800" b="0">
                <a:solidFill>
                  <a:srgbClr val="13233D"/>
                </a:solidFill>
                <a:latin typeface="Arial"/>
                <a:ea typeface="Arial"/>
                <a:cs typeface="Arial"/>
              </a:defRPr>
            </a:pPr>
            <a:r>
              <a:rPr sz="1800" b="0">
                <a:solidFill>
                  <a:srgbClr val="13233D"/>
                </a:solidFill>
                <a:latin typeface="Arial"/>
                <a:ea typeface="Arial"/>
                <a:cs typeface="Arial"/>
              </a:rPr>
              <a:t>node.block = None: c = 0</a:t>
            </a:r>
          </a:p>
        </p:txBody>
      </p:sp>
      <p:sp>
        <p:nvSpPr>
          <p:cNvPr id="11" name="For c &gt; 0, store reciprocal (partner, c) entries.&#10;For c = 0, clear bot">
            <a:extLst xmlns:a="http://schemas.openxmlformats.org/drawingml/2006/main">
              <a:ext uri="{FF2B5EF4-FFF2-40B4-BE49-F238E27FC236}">
                <a16:creationId xmlns:a16="http://schemas.microsoft.com/office/drawing/2014/main" id="{8059CE36-5FFA-4BCC-AA56-8AD58C62B945}"/>
              </a:ext>
            </a:extLst>
          </p:cNvPr>
          <p:cNvSpPr>
            <a:spLocks xmlns:a="http://schemas.openxmlformats.org/drawingml/2006/main" noGrp="1"/>
          </p:cNvSpPr>
          <p:nvPr/>
        </p:nvSpPr>
        <p:spPr>
          <a:xfrm xmlns:a="http://schemas.openxmlformats.org/drawingml/2006/main">
            <a:off x="6457950" y="398145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For c &gt; 0, store reciprocal (partner, c) entries.</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For c = 0, clear both entries to None.</a:t>
            </a:r>
          </a:p>
        </p:txBody>
      </p:sp>
      <p:graphicFrame>
        <p:nvGraphicFramePr>
          <p:cNvPr id="12" name="">
            <a:extLst xmlns:a="http://schemas.openxmlformats.org/drawingml/2006/main">
              <a:ext uri="{FF2B5EF4-FFF2-40B4-BE49-F238E27FC236}">
                <a16:creationId xmlns:a16="http://schemas.microsoft.com/office/drawing/2014/main" id="{82402639-3475-4ACF-A8BC-09DB181AEA28}"/>
              </a:ext>
            </a:extLst>
          </p:cNvPr>
          <p:cNvGraphicFramePr/>
          <p:nvPr/>
        </p:nvGraphicFramePr>
        <p:xfrm>
          <a:off xmlns:a="http://schemas.openxmlformats.org/drawingml/2006/main" x="552450" y="4876800"/>
          <a:ext xmlns:a="http://schemas.openxmlformats.org/drawingml/2006/main" cx="11087100" cy="1333500"/>
        </p:xfrm>
        <a:graphic xmlns:a="http://schemas.openxmlformats.org/drawingml/2006/main">
          <a:graphicData uri="http://schemas.openxmlformats.org/drawingml/2006/table">
            <a:tbl>
              <a:tblPr/>
              <a:tblGrid>
                <a:gridCol w="4095750"/>
                <a:gridCol w="1104900"/>
                <a:gridCol w="2476500"/>
                <a:gridCol w="3409950"/>
              </a:tblGrid>
              <a:tr h="333375">
                <a:tc>
                  <a:txBody>
                    <a:bodyPr lIns="114300" tIns="47625" rIns="95250" bIns="47625">
                      <a:noAutofit/>
                    </a:bodyPr>
                    <a:lstStyle/>
                    <a:p>
                      <a:pPr>
                        <a:lnSpc>
                          <a:spcPct val="100000"/>
                        </a:lnSpc>
                        <a:buNone/>
                      </a:pPr>
                      <a:r>
                        <a:rPr sz="1650" b="1">
                          <a:solidFill>
                            <a:srgbClr val="13233D"/>
                          </a:solidFill>
                          <a:latin typeface="Arial"/>
                          <a:ea typeface="Arial"/>
                          <a:cs typeface="Arial"/>
                        </a:rPr>
                        <a:t>Previous physical history</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47625" rIns="95250" bIns="47625">
                      <a:noAutofit/>
                    </a:bodyPr>
                    <a:lstStyle/>
                    <a:p>
                      <a:pPr>
                        <a:lnSpc>
                          <a:spcPct val="100000"/>
                        </a:lnSpc>
                        <a:buNone/>
                      </a:pPr>
                      <a:r>
                        <a:rPr sz="1650" b="1">
                          <a:solidFill>
                            <a:srgbClr val="13233D"/>
                          </a:solidFill>
                          <a:latin typeface="Arial"/>
                          <a:ea typeface="Arial"/>
                          <a:cs typeface="Arial"/>
                        </a:rPr>
                        <a:t>open</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47625" rIns="95250" bIns="47625">
                      <a:noAutofit/>
                    </a:bodyPr>
                    <a:lstStyle/>
                    <a:p>
                      <a:pPr>
                        <a:lnSpc>
                          <a:spcPct val="100000"/>
                        </a:lnSpc>
                        <a:buNone/>
                      </a:pPr>
                      <a:r>
                        <a:rPr sz="1650" b="1">
                          <a:solidFill>
                            <a:srgbClr val="13233D"/>
                          </a:solidFill>
                          <a:latin typeface="Arial"/>
                          <a:ea typeface="Arial"/>
                          <a:cs typeface="Arial"/>
                        </a:rPr>
                        <a:t>node.block</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47625" rIns="95250" bIns="47625">
                      <a:noAutofit/>
                    </a:bodyPr>
                    <a:lstStyle/>
                    <a:p>
                      <a:pPr>
                        <a:lnSpc>
                          <a:spcPct val="100000"/>
                        </a:lnSpc>
                        <a:buNone/>
                      </a:pPr>
                      <a:r>
                        <a:rPr sz="1650" b="1">
                          <a:solidFill>
                            <a:srgbClr val="13233D"/>
                          </a:solidFill>
                          <a:latin typeface="Arial"/>
                          <a:ea typeface="Arial"/>
                          <a:cs typeface="Arial"/>
                        </a:rPr>
                        <a:t>New c</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33375">
                <a:tc>
                  <a:txBody>
                    <a:bodyPr lIns="114300" tIns="47625" rIns="95250" bIns="47625">
                      <a:noAutofit/>
                    </a:bodyPr>
                    <a:lstStyle/>
                    <a:p>
                      <a:pPr>
                        <a:lnSpc>
                          <a:spcPct val="100000"/>
                        </a:lnSpc>
                        <a:buNone/>
                      </a:pPr>
                      <a:r>
                        <a:rPr sz="1650" b="0">
                          <a:solidFill>
                            <a:srgbClr val="526479"/>
                          </a:solidFill>
                          <a:latin typeface="Arial"/>
                          <a:ea typeface="Arial"/>
                          <a:cs typeface="Arial"/>
                        </a:rPr>
                        <a:t>No reciprocal block</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2</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33375">
                <a:tc>
                  <a:txBody>
                    <a:bodyPr lIns="114300" tIns="47625" rIns="95250" bIns="47625">
                      <a:noAutofit/>
                    </a:bodyPr>
                    <a:lstStyle/>
                    <a:p>
                      <a:pPr>
                        <a:lnSpc>
                          <a:spcPct val="100000"/>
                        </a:lnSpc>
                        <a:buNone/>
                      </a:pPr>
                      <a:r>
                        <a:rPr sz="1650" b="0">
                          <a:solidFill>
                            <a:srgbClr val="526479"/>
                          </a:solidFill>
                          <a:latin typeface="Arial"/>
                          <a:ea typeface="Arial"/>
                          <a:cs typeface="Arial"/>
                        </a:rPr>
                        <a:t>Same pair, old c = 2</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3 (capped)</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33375">
                <a:tc>
                  <a:txBody>
                    <a:bodyPr lIns="114300" tIns="47625" rIns="95250" bIns="47625">
                      <a:noAutofit/>
                    </a:bodyPr>
                    <a:lstStyle/>
                    <a:p>
                      <a:pPr>
                        <a:lnSpc>
                          <a:spcPct val="100000"/>
                        </a:lnSpc>
                        <a:buNone/>
                      </a:pPr>
                      <a:r>
                        <a:rPr sz="1650" b="0">
                          <a:solidFill>
                            <a:srgbClr val="526479"/>
                          </a:solidFill>
                          <a:latin typeface="Arial"/>
                          <a:ea typeface="Arial"/>
                          <a:cs typeface="Arial"/>
                        </a:rPr>
                        <a:t>Boundary inside the node</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Any</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0 (clear both)</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13" name="Other routed node kinds clear block history on their affected wires. R">
            <a:extLst xmlns:a="http://schemas.openxmlformats.org/drawingml/2006/main">
              <a:ext uri="{FF2B5EF4-FFF2-40B4-BE49-F238E27FC236}">
                <a16:creationId xmlns:a16="http://schemas.microsoft.com/office/drawing/2014/main" id="{C219C861-9577-4E14-98E2-005B88C2E257}"/>
              </a:ext>
            </a:extLst>
          </p:cNvPr>
          <p:cNvSpPr>
            <a:spLocks xmlns:a="http://schemas.openxmlformats.org/drawingml/2006/main" noGrp="1"/>
          </p:cNvSpPr>
          <p:nvPr/>
        </p:nvSpPr>
        <p:spPr>
          <a:xfrm xmlns:a="http://schemas.openxmlformats.org/drawingml/2006/main">
            <a:off x="552450" y="635317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26479"/>
                </a:solidFill>
                <a:latin typeface="Arial"/>
                <a:ea typeface="Arial"/>
                <a:cs typeface="Arial"/>
              </a:defRPr>
            </a:defPPr>
          </a:lstStyle>
          <a:p xmlns:a="http://schemas.openxmlformats.org/drawingml/2006/main">
            <a:pPr>
              <a:buNone/>
              <a:defRPr sz="1575" b="0">
                <a:solidFill>
                  <a:srgbClr val="526479"/>
                </a:solidFill>
                <a:latin typeface="Arial"/>
                <a:ea typeface="Arial"/>
                <a:cs typeface="Arial"/>
              </a:defRPr>
            </a:pPr>
            <a:r>
              <a:rPr sz="1575" b="0">
                <a:solidFill>
                  <a:srgbClr val="526479"/>
                </a:solidFill>
                <a:latin typeface="Arial"/>
                <a:ea typeface="Arial"/>
                <a:cs typeface="Arial"/>
              </a:rPr>
              <a:t>Other routed node kinds clear block history on their affected wires. Readiness is updated separately.</a:t>
            </a:r>
          </a:p>
        </p:txBody>
      </p:sp>
    </p:spTree>
    <p:extLst>
      <p:ext uri="{BB962C8B-B14F-4D97-AF65-F5344CB8AC3E}">
        <p14:creationId xmlns:p14="http://schemas.microsoft.com/office/powerpoint/2010/main" val="1440449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ong block: build node A gate by gate">
            <a:extLst xmlns:a="http://schemas.openxmlformats.org/drawingml/2006/main">
              <a:ext uri="{FF2B5EF4-FFF2-40B4-BE49-F238E27FC236}">
                <a16:creationId xmlns:a16="http://schemas.microsoft.com/office/drawing/2014/main" id="{9F159A1B-F045-46BC-8CA5-23D0A7732200}"/>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Long block: build node A gate by gate</a:t>
            </a:r>
          </a:p>
        </p:txBody>
      </p:sp>
      <p:sp>
        <p:nvSpPr>
          <p:cNvPr id="2" name="An append updates A.block to Some(min(3, old value + gate contribution">
            <a:extLst xmlns:a="http://schemas.openxmlformats.org/drawingml/2006/main">
              <a:ext uri="{FF2B5EF4-FFF2-40B4-BE49-F238E27FC236}">
                <a16:creationId xmlns:a16="http://schemas.microsoft.com/office/drawing/2014/main" id="{3ABC35B3-5A56-4D57-85F1-258741304229}"/>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An append updates A.block to Some(min(3, old value + gate contribution)).</a:t>
            </a:r>
          </a:p>
        </p:txBody>
      </p:sp>
      <p:sp>
        <p:nvSpPr>
          <p:cNvPr id="3" name="10">
            <a:extLst xmlns:a="http://schemas.openxmlformats.org/drawingml/2006/main">
              <a:ext uri="{FF2B5EF4-FFF2-40B4-BE49-F238E27FC236}">
                <a16:creationId xmlns:a16="http://schemas.microsoft.com/office/drawing/2014/main" id="{1664F5B9-AA67-4A20-BA86-7C9848BCE544}"/>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10</a:t>
            </a:r>
          </a:p>
        </p:txBody>
      </p:sp>
      <p:sp>
        <p:nvSpPr>
          <p:cNvPr id="4" name="g1 creates A. Every later gate below has A as its only preceding routi">
            <a:extLst xmlns:a="http://schemas.openxmlformats.org/drawingml/2006/main">
              <a:ext uri="{FF2B5EF4-FFF2-40B4-BE49-F238E27FC236}">
                <a16:creationId xmlns:a16="http://schemas.microsoft.com/office/drawing/2014/main" id="{E20EFE94-021E-4967-87C0-CCC904B59C3A}"/>
              </a:ext>
            </a:extLst>
          </p:cNvPr>
          <p:cNvSpPr>
            <a:spLocks xmlns:a="http://schemas.openxmlformats.org/drawingml/2006/main" noGrp="1"/>
          </p:cNvSpPr>
          <p:nvPr/>
        </p:nvSpPr>
        <p:spPr>
          <a:xfrm xmlns:a="http://schemas.openxmlformats.org/drawingml/2006/main">
            <a:off x="552450" y="1438275"/>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g1 creates A. Every later gate below has A as its only preceding routing node.</a:t>
            </a:r>
          </a:p>
        </p:txBody>
      </p:sp>
      <p:graphicFrame>
        <p:nvGraphicFramePr>
          <p:cNvPr id="5" name="">
            <a:extLst xmlns:a="http://schemas.openxmlformats.org/drawingml/2006/main">
              <a:ext uri="{FF2B5EF4-FFF2-40B4-BE49-F238E27FC236}">
                <a16:creationId xmlns:a16="http://schemas.microsoft.com/office/drawing/2014/main" id="{96628934-3C99-4A87-9C18-6D9916628ECB}"/>
              </a:ext>
            </a:extLst>
          </p:cNvPr>
          <p:cNvGraphicFramePr/>
          <p:nvPr/>
        </p:nvGraphicFramePr>
        <p:xfrm>
          <a:off xmlns:a="http://schemas.openxmlformats.org/drawingml/2006/main" x="552450" y="1828800"/>
          <a:ext xmlns:a="http://schemas.openxmlformats.org/drawingml/2006/main" cx="11087100" cy="3876675"/>
        </p:xfrm>
        <a:graphic xmlns:a="http://schemas.openxmlformats.org/drawingml/2006/main">
          <a:graphicData uri="http://schemas.openxmlformats.org/drawingml/2006/table">
            <a:tbl>
              <a:tblPr/>
              <a:tblGrid>
                <a:gridCol w="1047750"/>
                <a:gridCol w="4238625"/>
                <a:gridCol w="2057400"/>
                <a:gridCol w="3743325"/>
              </a:tblGrid>
              <a:tr h="352425">
                <a:tc>
                  <a:txBody>
                    <a:bodyPr lIns="114300" tIns="47625" rIns="95250" bIns="47625">
                      <a:noAutofit/>
                    </a:bodyPr>
                    <a:lstStyle/>
                    <a:p>
                      <a:pPr>
                        <a:lnSpc>
                          <a:spcPct val="100000"/>
                        </a:lnSpc>
                        <a:buNone/>
                      </a:pPr>
                      <a:r>
                        <a:rPr sz="1650" b="1">
                          <a:solidFill>
                            <a:srgbClr val="13233D"/>
                          </a:solidFill>
                          <a:latin typeface="Arial"/>
                          <a:ea typeface="Arial"/>
                          <a:cs typeface="Arial"/>
                        </a:rPr>
                        <a:t>Step</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47625" rIns="95250" bIns="47625">
                      <a:noAutofit/>
                    </a:bodyPr>
                    <a:lstStyle/>
                    <a:p>
                      <a:pPr>
                        <a:lnSpc>
                          <a:spcPct val="100000"/>
                        </a:lnSpc>
                        <a:buNone/>
                      </a:pPr>
                      <a:r>
                        <a:rPr sz="1650" b="1">
                          <a:solidFill>
                            <a:srgbClr val="13233D"/>
                          </a:solidFill>
                          <a:latin typeface="Arial"/>
                          <a:ea typeface="Arial"/>
                          <a:cs typeface="Arial"/>
                        </a:rPr>
                        <a:t>Original circuit operation</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47625" rIns="95250" bIns="47625">
                      <a:noAutofit/>
                    </a:bodyPr>
                    <a:lstStyle/>
                    <a:p>
                      <a:pPr>
                        <a:lnSpc>
                          <a:spcPct val="100000"/>
                        </a:lnSpc>
                        <a:buNone/>
                      </a:pPr>
                      <a:r>
                        <a:rPr sz="1650" b="1">
                          <a:solidFill>
                            <a:srgbClr val="13233D"/>
                          </a:solidFill>
                          <a:latin typeface="Arial"/>
                          <a:ea typeface="Arial"/>
                          <a:cs typeface="Arial"/>
                        </a:rPr>
                        <a:t>Added cost</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47625" rIns="95250" bIns="47625">
                      <a:noAutofit/>
                    </a:bodyPr>
                    <a:lstStyle/>
                    <a:p>
                      <a:pPr>
                        <a:lnSpc>
                          <a:spcPct val="100000"/>
                        </a:lnSpc>
                        <a:buNone/>
                      </a:pPr>
                      <a:r>
                        <a:rPr sz="1650" b="1">
                          <a:solidFill>
                            <a:srgbClr val="13233D"/>
                          </a:solidFill>
                          <a:latin typeface="Arial"/>
                          <a:ea typeface="Arial"/>
                          <a:cs typeface="Arial"/>
                        </a:rPr>
                        <a:t>A.block after step</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g1</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CX(q0, q1)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g2</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H(q0)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g3</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RZ(π/4, q1)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g4</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CZ(q0, q1)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Some(2)</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g5</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RX(π/3, q0)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Some(2)</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g6</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CX(q1, q0)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g7</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H(q1)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g8</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CY(q0, q1)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g9</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RZ(π/7, q0)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47625" rIns="95250" bIns="47625">
                      <a:noAutofit/>
                    </a:bodyPr>
                    <a:lstStyle/>
                    <a:p>
                      <a:pPr>
                        <a:lnSpc>
                          <a:spcPct val="100000"/>
                        </a:lnSpc>
                        <a:buNone/>
                      </a:pPr>
                      <a:r>
                        <a:rPr sz="1650" b="0">
                          <a:solidFill>
                            <a:srgbClr val="526479"/>
                          </a:solidFill>
                          <a:latin typeface="Arial"/>
                          <a:ea typeface="Arial"/>
                          <a:cs typeface="Arial"/>
                        </a:rPr>
                        <a:t>g10</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CZ(q0, q1)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47625" rIns="95250" bIns="47625">
                      <a:noAutofit/>
                    </a:bodyPr>
                    <a:lstStyle/>
                    <a:p>
                      <a:pPr>
                        <a:lnSpc>
                          <a:spcPct val="100000"/>
                        </a:lnSpc>
                        <a:buNone/>
                      </a:pPr>
                      <a:r>
                        <a:rPr sz="1650" b="0">
                          <a:solidFill>
                            <a:srgbClr val="526479"/>
                          </a:solidFill>
                          <a:latin typeface="Arial"/>
                          <a:ea typeface="Arial"/>
                          <a:cs typeface="Arial"/>
                        </a:rPr>
                        <a:t>Some(3)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6" name="A.indices = [g1, …, g10],   A.kind = TwoQ([q0,q1]),   A.block = Some(3">
            <a:extLst xmlns:a="http://schemas.openxmlformats.org/drawingml/2006/main">
              <a:ext uri="{FF2B5EF4-FFF2-40B4-BE49-F238E27FC236}">
                <a16:creationId xmlns:a16="http://schemas.microsoft.com/office/drawing/2014/main" id="{0E16834B-6B31-43DE-A41E-148CD3F848ED}"/>
              </a:ext>
            </a:extLst>
          </p:cNvPr>
          <p:cNvSpPr>
            <a:spLocks xmlns:a="http://schemas.openxmlformats.org/drawingml/2006/main" noGrp="1"/>
          </p:cNvSpPr>
          <p:nvPr/>
        </p:nvSpPr>
        <p:spPr>
          <a:xfrm xmlns:a="http://schemas.openxmlformats.org/drawingml/2006/main">
            <a:off x="552450" y="5924550"/>
            <a:ext cx="11087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087C69"/>
                </a:solidFill>
                <a:latin typeface="Arial"/>
                <a:ea typeface="Arial"/>
                <a:cs typeface="Arial"/>
              </a:defRPr>
            </a:defPPr>
          </a:lstStyle>
          <a:p xmlns:a="http://schemas.openxmlformats.org/drawingml/2006/main">
            <a:pPr>
              <a:buNone/>
              <a:defRPr sz="1875" b="0">
                <a:solidFill>
                  <a:srgbClr val="087C69"/>
                </a:solidFill>
                <a:latin typeface="Arial"/>
                <a:ea typeface="Arial"/>
                <a:cs typeface="Arial"/>
              </a:defRPr>
            </a:pPr>
            <a:r>
              <a:rPr sz="1875" b="0">
                <a:solidFill>
                  <a:srgbClr val="087C69"/>
                </a:solidFill>
                <a:latin typeface="Arial"/>
                <a:ea typeface="Arial"/>
                <a:cs typeface="Arial"/>
              </a:rPr>
              <a:t>A.indices = [g1, …, g10],   A.kind = TwoQ([q0,q1]),   A.block = Some(3).</a:t>
            </a:r>
          </a:p>
        </p:txBody>
      </p:sp>
      <p:sp>
        <p:nvSpPr>
          <p:cNvPr id="7" name="The node retains all 10 original gates. Its estimate stops increasing ">
            <a:extLst xmlns:a="http://schemas.openxmlformats.org/drawingml/2006/main">
              <a:ext uri="{FF2B5EF4-FFF2-40B4-BE49-F238E27FC236}">
                <a16:creationId xmlns:a16="http://schemas.microsoft.com/office/drawing/2014/main" id="{953074AE-5A53-4284-9EF6-803103A51626}"/>
              </a:ext>
            </a:extLst>
          </p:cNvPr>
          <p:cNvSpPr>
            <a:spLocks xmlns:a="http://schemas.openxmlformats.org/drawingml/2006/main" noGrp="1"/>
          </p:cNvSpPr>
          <p:nvPr/>
        </p:nvSpPr>
        <p:spPr>
          <a:xfrm xmlns:a="http://schemas.openxmlformats.org/drawingml/2006/main">
            <a:off x="552450" y="6315075"/>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The node retains all 10 original gates. Its estimate stops increasing at 3, including later 2q gates.</a:t>
            </a:r>
          </a:p>
        </p:txBody>
      </p:sp>
    </p:spTree>
    <p:extLst>
      <p:ext uri="{BB962C8B-B14F-4D97-AF65-F5344CB8AC3E}">
        <p14:creationId xmlns:p14="http://schemas.microsoft.com/office/powerpoint/2010/main" val="6963594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oute A, then stop at the next interaction">
            <a:extLst xmlns:a="http://schemas.openxmlformats.org/drawingml/2006/main">
              <a:ext uri="{FF2B5EF4-FFF2-40B4-BE49-F238E27FC236}">
                <a16:creationId xmlns:a16="http://schemas.microsoft.com/office/drawing/2014/main" id="{FB658932-7C62-4241-B92E-9639F3A92010}"/>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Route A, then stop at the next interaction</a:t>
            </a:r>
          </a:p>
        </p:txBody>
      </p:sp>
      <p:sp>
        <p:nvSpPr>
          <p:cNvPr id="2" name="Hardware: P0–P1–P2. Initial layout: π(q0)=P0, π(q1)=P1, π(q2)=P2.">
            <a:extLst xmlns:a="http://schemas.openxmlformats.org/drawingml/2006/main">
              <a:ext uri="{FF2B5EF4-FFF2-40B4-BE49-F238E27FC236}">
                <a16:creationId xmlns:a16="http://schemas.microsoft.com/office/drawing/2014/main" id="{58C39B4D-486B-480D-84C1-E7B301C521D9}"/>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Hardware: P0–P1–P2. Initial layout: π(q0)=P0, π(q1)=P1, π(q2)=P2.</a:t>
            </a:r>
          </a:p>
        </p:txBody>
      </p:sp>
      <p:sp>
        <p:nvSpPr>
          <p:cNvPr id="3" name="11">
            <a:extLst xmlns:a="http://schemas.openxmlformats.org/drawingml/2006/main">
              <a:ext uri="{FF2B5EF4-FFF2-40B4-BE49-F238E27FC236}">
                <a16:creationId xmlns:a16="http://schemas.microsoft.com/office/drawing/2014/main" id="{B158A4B6-4144-43D6-B31A-9F4AD1F99BA5}"/>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11</a:t>
            </a:r>
          </a:p>
        </p:txBody>
      </p:sp>
      <p:sp>
        <p:nvSpPr>
          <p:cNvPr id="4" name="g11 = CX(q0, q2) starts a new node B">
            <a:extLst xmlns:a="http://schemas.openxmlformats.org/drawingml/2006/main">
              <a:ext uri="{FF2B5EF4-FFF2-40B4-BE49-F238E27FC236}">
                <a16:creationId xmlns:a16="http://schemas.microsoft.com/office/drawing/2014/main" id="{5C00548E-CF17-4176-87AC-B34E30F2F9B0}"/>
              </a:ext>
            </a:extLst>
          </p:cNvPr>
          <p:cNvSpPr>
            <a:spLocks xmlns:a="http://schemas.openxmlformats.org/drawingml/2006/main" noGrp="1"/>
          </p:cNvSpPr>
          <p:nvPr/>
        </p:nvSpPr>
        <p:spPr>
          <a:xfrm xmlns:a="http://schemas.openxmlformats.org/drawingml/2006/main">
            <a:off x="552450" y="162877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g11 = CX(q0, q2) starts a new node B</a:t>
            </a:r>
          </a:p>
        </p:txBody>
      </p:sp>
      <p:sp>
        <p:nvSpPr>
          <p:cNvPr id="5" name="q0’s incoming wire points to A. q2 has no preceding routing node.&#10;The ">
            <a:extLst xmlns:a="http://schemas.openxmlformats.org/drawingml/2006/main">
              <a:ext uri="{FF2B5EF4-FFF2-40B4-BE49-F238E27FC236}">
                <a16:creationId xmlns:a16="http://schemas.microsoft.com/office/drawing/2014/main" id="{94E696B1-DE15-449F-B412-B7573D158FC3}"/>
              </a:ext>
            </a:extLst>
          </p:cNvPr>
          <p:cNvSpPr>
            <a:spLocks xmlns:a="http://schemas.openxmlformats.org/drawingml/2006/main" noGrp="1"/>
          </p:cNvSpPr>
          <p:nvPr/>
        </p:nvSpPr>
        <p:spPr>
          <a:xfrm xmlns:a="http://schemas.openxmlformats.org/drawingml/2006/main">
            <a:off x="552450" y="2057400"/>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q0’s incoming wire points to A. q2 has no preceding routing node.</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The mappings differ, so the builder creates B and records that B depends on A.</a:t>
            </a:r>
          </a:p>
        </p:txBody>
      </p:sp>
      <p:graphicFrame>
        <p:nvGraphicFramePr>
          <p:cNvPr id="6" name="">
            <a:extLst xmlns:a="http://schemas.openxmlformats.org/drawingml/2006/main">
              <a:ext uri="{FF2B5EF4-FFF2-40B4-BE49-F238E27FC236}">
                <a16:creationId xmlns:a16="http://schemas.microsoft.com/office/drawing/2014/main" id="{733936D7-E211-4752-A397-C6244E6C1411}"/>
              </a:ext>
            </a:extLst>
          </p:cNvPr>
          <p:cNvGraphicFramePr/>
          <p:nvPr/>
        </p:nvGraphicFramePr>
        <p:xfrm>
          <a:off xmlns:a="http://schemas.openxmlformats.org/drawingml/2006/main" x="552450" y="2943225"/>
          <a:ext xmlns:a="http://schemas.openxmlformats.org/drawingml/2006/main" cx="11087100" cy="1200150"/>
        </p:xfrm>
        <a:graphic xmlns:a="http://schemas.openxmlformats.org/drawingml/2006/main">
          <a:graphicData uri="http://schemas.openxmlformats.org/drawingml/2006/table">
            <a:tbl>
              <a:tblPr/>
              <a:tblGrid>
                <a:gridCol w="1781175"/>
                <a:gridCol w="3733800"/>
                <a:gridCol w="2647950"/>
                <a:gridCol w="2924175"/>
              </a:tblGrid>
              <a:tr h="400050">
                <a:tc>
                  <a:txBody>
                    <a:bodyPr lIns="114300" tIns="66675" rIns="95250" bIns="66675">
                      <a:noAutofit/>
                    </a:bodyPr>
                    <a:lstStyle/>
                    <a:p>
                      <a:pPr>
                        <a:lnSpc>
                          <a:spcPct val="100000"/>
                        </a:lnSpc>
                        <a:buNone/>
                      </a:pPr>
                      <a:r>
                        <a:rPr sz="1800" b="1">
                          <a:solidFill>
                            <a:srgbClr val="13233D"/>
                          </a:solidFill>
                          <a:latin typeface="Arial"/>
                          <a:ea typeface="Arial"/>
                          <a:cs typeface="Arial"/>
                        </a:rPr>
                        <a:t>Built node</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pPr>
                        <a:lnSpc>
                          <a:spcPct val="100000"/>
                        </a:lnSpc>
                        <a:buNone/>
                      </a:pPr>
                      <a:r>
                        <a:rPr sz="1800" b="1">
                          <a:solidFill>
                            <a:srgbClr val="13233D"/>
                          </a:solidFill>
                          <a:latin typeface="Arial"/>
                          <a:ea typeface="Arial"/>
                          <a:cs typeface="Arial"/>
                        </a:rPr>
                        <a:t>Original operations</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pPr>
                        <a:lnSpc>
                          <a:spcPct val="100000"/>
                        </a:lnSpc>
                        <a:buNone/>
                      </a:pPr>
                      <a:r>
                        <a:rPr sz="1800" b="1">
                          <a:solidFill>
                            <a:srgbClr val="13233D"/>
                          </a:solidFill>
                          <a:latin typeface="Arial"/>
                          <a:ea typeface="Arial"/>
                          <a:cs typeface="Arial"/>
                        </a:rPr>
                        <a:t>Logical pair</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pPr>
                        <a:lnSpc>
                          <a:spcPct val="100000"/>
                        </a:lnSpc>
                        <a:buNone/>
                      </a:pPr>
                      <a:r>
                        <a:rPr sz="1800" b="1">
                          <a:solidFill>
                            <a:srgbClr val="13233D"/>
                          </a:solidFill>
                          <a:latin typeface="Arial"/>
                          <a:ea typeface="Arial"/>
                          <a:cs typeface="Arial"/>
                        </a:rPr>
                        <a:t>block</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400050">
                <a:tc>
                  <a:txBody>
                    <a:bodyPr lIns="114300" tIns="66675" rIns="95250" bIns="66675">
                      <a:noAutofit/>
                    </a:bodyPr>
                    <a:lstStyle/>
                    <a:p>
                      <a:pPr>
                        <a:lnSpc>
                          <a:spcPct val="100000"/>
                        </a:lnSpc>
                        <a:buNone/>
                      </a:pPr>
                      <a:r>
                        <a:rPr sz="1800" b="0">
                          <a:solidFill>
                            <a:srgbClr val="526479"/>
                          </a:solidFill>
                          <a:latin typeface="Arial"/>
                          <a:ea typeface="Arial"/>
                          <a:cs typeface="Arial"/>
                        </a:rPr>
                        <a:t>A</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800" b="0">
                          <a:solidFill>
                            <a:srgbClr val="526479"/>
                          </a:solidFill>
                          <a:latin typeface="Arial"/>
                          <a:ea typeface="Arial"/>
                          <a:cs typeface="Arial"/>
                        </a:rPr>
                        <a:t>g1 through g10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800" b="0">
                          <a:solidFill>
                            <a:srgbClr val="526479"/>
                          </a:solidFill>
                          <a:latin typeface="Arial"/>
                          <a:ea typeface="Arial"/>
                          <a:cs typeface="Arial"/>
                        </a:rPr>
                        <a:t>q0, q1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800" b="0">
                          <a:solidFill>
                            <a:srgbClr val="526479"/>
                          </a:solidFill>
                          <a:latin typeface="Arial"/>
                          <a:ea typeface="Arial"/>
                          <a:cs typeface="Arial"/>
                        </a:rPr>
                        <a:t>Some(3)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00050">
                <a:tc>
                  <a:txBody>
                    <a:bodyPr lIns="114300" tIns="66675" rIns="95250" bIns="66675">
                      <a:noAutofit/>
                    </a:bodyPr>
                    <a:lstStyle/>
                    <a:p>
                      <a:pPr>
                        <a:lnSpc>
                          <a:spcPct val="100000"/>
                        </a:lnSpc>
                        <a:buNone/>
                      </a:pPr>
                      <a:r>
                        <a:rPr sz="1800" b="0">
                          <a:solidFill>
                            <a:srgbClr val="526479"/>
                          </a:solidFill>
                          <a:latin typeface="Arial"/>
                          <a:ea typeface="Arial"/>
                          <a:cs typeface="Arial"/>
                        </a:rPr>
                        <a:t>B</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800" b="0">
                          <a:solidFill>
                            <a:srgbClr val="526479"/>
                          </a:solidFill>
                          <a:latin typeface="Arial"/>
                          <a:ea typeface="Arial"/>
                          <a:cs typeface="Arial"/>
                        </a:rPr>
                        <a:t>g11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800" b="0">
                          <a:solidFill>
                            <a:srgbClr val="526479"/>
                          </a:solidFill>
                          <a:latin typeface="Arial"/>
                          <a:ea typeface="Arial"/>
                          <a:cs typeface="Arial"/>
                        </a:rPr>
                        <a:t>q0, q2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800" b="0">
                          <a:solidFill>
                            <a:srgbClr val="526479"/>
                          </a:solidFill>
                          <a:latin typeface="Arial"/>
                          <a:ea typeface="Arial"/>
                          <a:cs typeface="Arial"/>
                        </a:rPr>
                        <a:t>Some(1)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7" name="Route A: its physical operands P0 and P1 are adjacent">
            <a:extLst xmlns:a="http://schemas.openxmlformats.org/drawingml/2006/main">
              <a:ext uri="{FF2B5EF4-FFF2-40B4-BE49-F238E27FC236}">
                <a16:creationId xmlns:a16="http://schemas.microsoft.com/office/drawing/2014/main" id="{19C0D9D6-4AC6-4603-BA53-847DD4017AAF}"/>
              </a:ext>
            </a:extLst>
          </p:cNvPr>
          <p:cNvSpPr>
            <a:spLocks xmlns:a="http://schemas.openxmlformats.org/drawingml/2006/main" noGrp="1"/>
          </p:cNvSpPr>
          <p:nvPr/>
        </p:nvSpPr>
        <p:spPr>
          <a:xfrm xmlns:a="http://schemas.openxmlformats.org/drawingml/2006/main">
            <a:off x="552450" y="442912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Route A: its physical operands P0 and P1 are adjacent</a:t>
            </a:r>
          </a:p>
        </p:txBody>
      </p:sp>
      <p:sp>
        <p:nvSpPr>
          <p:cNvPr id="8" name="open = 0,   node.block = Some(3),   c = min(3, 0 + 3) = 3">
            <a:extLst xmlns:a="http://schemas.openxmlformats.org/drawingml/2006/main">
              <a:ext uri="{FF2B5EF4-FFF2-40B4-BE49-F238E27FC236}">
                <a16:creationId xmlns:a16="http://schemas.microsoft.com/office/drawing/2014/main" id="{AC7537B8-F01A-43CC-8E07-9806B853B599}"/>
              </a:ext>
            </a:extLst>
          </p:cNvPr>
          <p:cNvSpPr>
            <a:spLocks xmlns:a="http://schemas.openxmlformats.org/drawingml/2006/main" noGrp="1"/>
          </p:cNvSpPr>
          <p:nvPr/>
        </p:nvSpPr>
        <p:spPr>
          <a:xfrm xmlns:a="http://schemas.openxmlformats.org/drawingml/2006/main">
            <a:off x="552450" y="4848225"/>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open = 0,   node.block = Some(3),   c = min(3, 0 + 3) = 3</a:t>
            </a:r>
          </a:p>
        </p:txBody>
      </p:sp>
      <p:sp>
        <p:nvSpPr>
          <p:cNvPr id="9" name="last_block[P0] = (P1, 3),   last_block[P1] = (P0, 3)">
            <a:extLst xmlns:a="http://schemas.openxmlformats.org/drawingml/2006/main">
              <a:ext uri="{FF2B5EF4-FFF2-40B4-BE49-F238E27FC236}">
                <a16:creationId xmlns:a16="http://schemas.microsoft.com/office/drawing/2014/main" id="{F7F65EFB-B099-42D1-A8A8-65E072BBEF96}"/>
              </a:ext>
            </a:extLst>
          </p:cNvPr>
          <p:cNvSpPr>
            <a:spLocks xmlns:a="http://schemas.openxmlformats.org/drawingml/2006/main" noGrp="1"/>
          </p:cNvSpPr>
          <p:nvPr/>
        </p:nvSpPr>
        <p:spPr>
          <a:xfrm xmlns:a="http://schemas.openxmlformats.org/drawingml/2006/main">
            <a:off x="552450" y="5276850"/>
            <a:ext cx="11087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13233D"/>
                </a:solidFill>
                <a:latin typeface="Arial"/>
                <a:ea typeface="Arial"/>
                <a:cs typeface="Arial"/>
              </a:defRPr>
            </a:defPPr>
          </a:lstStyle>
          <a:p xmlns:a="http://schemas.openxmlformats.org/drawingml/2006/main">
            <a:pPr>
              <a:buNone/>
              <a:defRPr sz="2100" b="0">
                <a:solidFill>
                  <a:srgbClr val="13233D"/>
                </a:solidFill>
                <a:latin typeface="Arial"/>
                <a:ea typeface="Arial"/>
                <a:cs typeface="Arial"/>
              </a:defRPr>
            </a:pPr>
            <a:r>
              <a:rPr sz="2100" b="0">
                <a:solidFill>
                  <a:srgbClr val="13233D"/>
                </a:solidFill>
                <a:latin typeface="Arial"/>
                <a:ea typeface="Arial"/>
                <a:cs typeface="Arial"/>
              </a:rPr>
              <a:t>last_block[P0] = (P1, 3),   last_block[P1] = (P0, 3)</a:t>
            </a:r>
          </a:p>
        </p:txBody>
      </p:sp>
      <p:sp>
        <p:nvSpPr>
          <p:cNvPr id="10" name="ready = [1, 1, 0]. The entire compressed node advances the two clocks ">
            <a:extLst xmlns:a="http://schemas.openxmlformats.org/drawingml/2006/main">
              <a:ext uri="{FF2B5EF4-FFF2-40B4-BE49-F238E27FC236}">
                <a16:creationId xmlns:a16="http://schemas.microsoft.com/office/drawing/2014/main" id="{10CC202D-3477-4A6A-BD39-5AB675D143F5}"/>
              </a:ext>
            </a:extLst>
          </p:cNvPr>
          <p:cNvSpPr>
            <a:spLocks xmlns:a="http://schemas.openxmlformats.org/drawingml/2006/main" noGrp="1"/>
          </p:cNvSpPr>
          <p:nvPr/>
        </p:nvSpPr>
        <p:spPr>
          <a:xfrm xmlns:a="http://schemas.openxmlformats.org/drawingml/2006/main">
            <a:off x="552450" y="5715000"/>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ready = [1, 1, 0]. The entire compressed node advances the two clocks once.</a:t>
            </a:r>
          </a:p>
        </p:txBody>
      </p:sp>
      <p:sp>
        <p:nvSpPr>
          <p:cNvPr id="11" name="B remains blocked: q0 and q2 occupy P0 and P2, at distance 2. A.block ">
            <a:extLst xmlns:a="http://schemas.openxmlformats.org/drawingml/2006/main">
              <a:ext uri="{FF2B5EF4-FFF2-40B4-BE49-F238E27FC236}">
                <a16:creationId xmlns:a16="http://schemas.microsoft.com/office/drawing/2014/main" id="{A94AC9C1-46DA-4623-93A0-E03E0AB1C9B2}"/>
              </a:ext>
            </a:extLst>
          </p:cNvPr>
          <p:cNvSpPr>
            <a:spLocks xmlns:a="http://schemas.openxmlformats.org/drawingml/2006/main" noGrp="1"/>
          </p:cNvSpPr>
          <p:nvPr/>
        </p:nvSpPr>
        <p:spPr>
          <a:xfrm xmlns:a="http://schemas.openxmlformats.org/drawingml/2006/main">
            <a:off x="552450" y="61912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087C69"/>
                </a:solidFill>
                <a:latin typeface="Arial"/>
                <a:ea typeface="Arial"/>
                <a:cs typeface="Arial"/>
              </a:defRPr>
            </a:defPPr>
          </a:lstStyle>
          <a:p xmlns:a="http://schemas.openxmlformats.org/drawingml/2006/main">
            <a:pPr>
              <a:buNone/>
              <a:defRPr sz="1725" b="0">
                <a:solidFill>
                  <a:srgbClr val="087C69"/>
                </a:solidFill>
                <a:latin typeface="Arial"/>
                <a:ea typeface="Arial"/>
                <a:cs typeface="Arial"/>
              </a:defRPr>
            </a:pPr>
            <a:r>
              <a:rPr sz="1725" b="0">
                <a:solidFill>
                  <a:srgbClr val="087C69"/>
                </a:solidFill>
                <a:latin typeface="Arial"/>
                <a:ea typeface="Arial"/>
                <a:cs typeface="Arial"/>
              </a:rPr>
              <a:t>B remains blocked: q0 and q2 occupy P0 and P2, at distance 2. A.block stays Some(3).</a:t>
            </a:r>
          </a:p>
        </p:txBody>
      </p:sp>
    </p:spTree>
    <p:extLst>
      <p:ext uri="{BB962C8B-B14F-4D97-AF65-F5344CB8AC3E}">
        <p14:creationId xmlns:p14="http://schemas.microsoft.com/office/powerpoint/2010/main" val="6143973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core both SWAPs using A’s completed block">
            <a:extLst xmlns:a="http://schemas.openxmlformats.org/drawingml/2006/main">
              <a:ext uri="{FF2B5EF4-FFF2-40B4-BE49-F238E27FC236}">
                <a16:creationId xmlns:a16="http://schemas.microsoft.com/office/drawing/2014/main" id="{EFEFDA4C-223A-46D5-A68D-17C48AF45A5B}"/>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Score both SWAPs using A’s completed block</a:t>
            </a:r>
          </a:p>
        </p:txBody>
      </p:sp>
      <p:sp>
        <p:nvSpPr>
          <p:cNvPr id="2" name="Basic preset: α = 1. No lookahead or decay. B is the only blocked inte">
            <a:extLst xmlns:a="http://schemas.openxmlformats.org/drawingml/2006/main">
              <a:ext uri="{FF2B5EF4-FFF2-40B4-BE49-F238E27FC236}">
                <a16:creationId xmlns:a16="http://schemas.microsoft.com/office/drawing/2014/main" id="{21A49A58-F214-4602-8641-E809E0BF71FB}"/>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Basic preset: α = 1. No lookahead or decay. B is the only blocked interaction.</a:t>
            </a:r>
          </a:p>
        </p:txBody>
      </p:sp>
      <p:sp>
        <p:nvSpPr>
          <p:cNvPr id="3" name="12">
            <a:extLst xmlns:a="http://schemas.openxmlformats.org/drawingml/2006/main">
              <a:ext uri="{FF2B5EF4-FFF2-40B4-BE49-F238E27FC236}">
                <a16:creationId xmlns:a16="http://schemas.microsoft.com/office/drawing/2014/main" id="{EF545ECD-ECE9-4E7F-A34C-EA0D1654767F}"/>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12</a:t>
            </a:r>
          </a:p>
        </p:txBody>
      </p:sp>
      <p:sp>
        <p:nvSpPr>
          <p:cNvPr id="4" name="Candidates: s₁ = SWAP(P0, P1),   s₂ = SWAP(P1, P2)">
            <a:extLst xmlns:a="http://schemas.openxmlformats.org/drawingml/2006/main">
              <a:ext uri="{FF2B5EF4-FFF2-40B4-BE49-F238E27FC236}">
                <a16:creationId xmlns:a16="http://schemas.microsoft.com/office/drawing/2014/main" id="{4F6AC813-2312-42BE-AA89-5E439ED2E656}"/>
              </a:ext>
            </a:extLst>
          </p:cNvPr>
          <p:cNvSpPr>
            <a:spLocks xmlns:a="http://schemas.openxmlformats.org/drawingml/2006/main" noGrp="1"/>
          </p:cNvSpPr>
          <p:nvPr/>
        </p:nvSpPr>
        <p:spPr>
          <a:xfrm xmlns:a="http://schemas.openxmlformats.org/drawingml/2006/main">
            <a:off x="552450" y="1628775"/>
            <a:ext cx="11087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Candidates: s₁ = SWAP(P0, P1),   s₂ = SWAP(P1, P2)</a:t>
            </a:r>
          </a:p>
        </p:txBody>
      </p:sp>
      <p:sp>
        <p:nvSpPr>
          <p:cNvPr id="5" name="Both edges touch a front-layer operand. Either SWAP reduces B’s distan">
            <a:extLst xmlns:a="http://schemas.openxmlformats.org/drawingml/2006/main">
              <a:ext uri="{FF2B5EF4-FFF2-40B4-BE49-F238E27FC236}">
                <a16:creationId xmlns:a16="http://schemas.microsoft.com/office/drawing/2014/main" id="{E0E4D2AA-0405-4756-888E-AB004847F97F}"/>
              </a:ext>
            </a:extLst>
          </p:cNvPr>
          <p:cNvSpPr>
            <a:spLocks xmlns:a="http://schemas.openxmlformats.org/drawingml/2006/main" noGrp="1"/>
          </p:cNvSpPr>
          <p:nvPr/>
        </p:nvSpPr>
        <p:spPr>
          <a:xfrm xmlns:a="http://schemas.openxmlformats.org/drawingml/2006/main">
            <a:off x="552450" y="2076450"/>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Both edges touch a front-layer operand. Either SWAP reduces B’s distance from 2 to 1.</a:t>
            </a:r>
          </a:p>
        </p:txBody>
      </p:sp>
      <p:sp>
        <p:nvSpPr>
          <p:cNvPr id="6" name="s₁ finds A’s reciprocal block, c = 3">
            <a:extLst xmlns:a="http://schemas.openxmlformats.org/drawingml/2006/main">
              <a:ext uri="{FF2B5EF4-FFF2-40B4-BE49-F238E27FC236}">
                <a16:creationId xmlns:a16="http://schemas.microsoft.com/office/drawing/2014/main" id="{070C2B31-EE1F-4F8F-BD6D-5BEA46D81C92}"/>
              </a:ext>
            </a:extLst>
          </p:cNvPr>
          <p:cNvSpPr>
            <a:spLocks xmlns:a="http://schemas.openxmlformats.org/drawingml/2006/main" noGrp="1"/>
          </p:cNvSpPr>
          <p:nvPr/>
        </p:nvSpPr>
        <p:spPr>
          <a:xfrm xmlns:a="http://schemas.openxmlformats.org/drawingml/2006/main">
            <a:off x="552450" y="2600325"/>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087C69"/>
                </a:solidFill>
                <a:latin typeface="Arial"/>
                <a:ea typeface="Arial"/>
                <a:cs typeface="Arial"/>
              </a:defRPr>
            </a:defPPr>
          </a:lstStyle>
          <a:p xmlns:a="http://schemas.openxmlformats.org/drawingml/2006/main">
            <a:pPr>
              <a:buNone/>
              <a:defRPr sz="1875" b="1">
                <a:solidFill>
                  <a:srgbClr val="087C69"/>
                </a:solidFill>
                <a:latin typeface="Arial"/>
                <a:ea typeface="Arial"/>
                <a:cs typeface="Arial"/>
              </a:defRPr>
            </a:pPr>
            <a:r>
              <a:rPr sz="1875" b="1">
                <a:solidFill>
                  <a:srgbClr val="087C69"/>
                </a:solidFill>
                <a:latin typeface="Arial"/>
                <a:ea typeface="Arial"/>
                <a:cs typeface="Arial"/>
              </a:rPr>
              <a:t>s₁ finds A’s reciprocal block, c = 3</a:t>
            </a:r>
          </a:p>
        </p:txBody>
      </p:sp>
      <p:sp>
        <p:nvSpPr>
          <p:cNvPr id="7" name="C(s₁) = [min(3, 4) − 6] / 3 = −1">
            <a:extLst xmlns:a="http://schemas.openxmlformats.org/drawingml/2006/main">
              <a:ext uri="{FF2B5EF4-FFF2-40B4-BE49-F238E27FC236}">
                <a16:creationId xmlns:a16="http://schemas.microsoft.com/office/drawing/2014/main" id="{1C69D0FA-2A96-4ADA-A69E-F93BE69399F6}"/>
              </a:ext>
            </a:extLst>
          </p:cNvPr>
          <p:cNvSpPr>
            <a:spLocks xmlns:a="http://schemas.openxmlformats.org/drawingml/2006/main" noGrp="1"/>
          </p:cNvSpPr>
          <p:nvPr/>
        </p:nvSpPr>
        <p:spPr>
          <a:xfrm xmlns:a="http://schemas.openxmlformats.org/drawingml/2006/main">
            <a:off x="552450" y="3000375"/>
            <a:ext cx="5334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C(s₁) = [min(3, 4) − 6] / 3 = −1</a:t>
            </a:r>
          </a:p>
        </p:txBody>
      </p:sp>
      <p:sp>
        <p:nvSpPr>
          <p:cNvPr id="8" name="s₂ has no reciprocal block">
            <a:extLst xmlns:a="http://schemas.openxmlformats.org/drawingml/2006/main">
              <a:ext uri="{FF2B5EF4-FFF2-40B4-BE49-F238E27FC236}">
                <a16:creationId xmlns:a16="http://schemas.microsoft.com/office/drawing/2014/main" id="{FC05C576-7813-4868-933A-987C27916539}"/>
              </a:ext>
            </a:extLst>
          </p:cNvPr>
          <p:cNvSpPr>
            <a:spLocks xmlns:a="http://schemas.openxmlformats.org/drawingml/2006/main" noGrp="1"/>
          </p:cNvSpPr>
          <p:nvPr/>
        </p:nvSpPr>
        <p:spPr>
          <a:xfrm xmlns:a="http://schemas.openxmlformats.org/drawingml/2006/main">
            <a:off x="6457950" y="2600325"/>
            <a:ext cx="521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2459C4"/>
                </a:solidFill>
                <a:latin typeface="Arial"/>
                <a:ea typeface="Arial"/>
                <a:cs typeface="Arial"/>
              </a:defRPr>
            </a:defPPr>
          </a:lstStyle>
          <a:p xmlns:a="http://schemas.openxmlformats.org/drawingml/2006/main">
            <a:pPr>
              <a:buNone/>
              <a:defRPr sz="1875" b="1">
                <a:solidFill>
                  <a:srgbClr val="2459C4"/>
                </a:solidFill>
                <a:latin typeface="Arial"/>
                <a:ea typeface="Arial"/>
                <a:cs typeface="Arial"/>
              </a:defRPr>
            </a:pPr>
            <a:r>
              <a:rPr sz="1875" b="1">
                <a:solidFill>
                  <a:srgbClr val="2459C4"/>
                </a:solidFill>
                <a:latin typeface="Arial"/>
                <a:ea typeface="Arial"/>
                <a:cs typeface="Arial"/>
              </a:rPr>
              <a:t>s₂ has no reciprocal block</a:t>
            </a:r>
          </a:p>
        </p:txBody>
      </p:sp>
      <p:sp>
        <p:nvSpPr>
          <p:cNvPr id="9" name="C(s₂) = 0">
            <a:extLst xmlns:a="http://schemas.openxmlformats.org/drawingml/2006/main">
              <a:ext uri="{FF2B5EF4-FFF2-40B4-BE49-F238E27FC236}">
                <a16:creationId xmlns:a16="http://schemas.microsoft.com/office/drawing/2014/main" id="{E7E8C1D1-0126-42D8-AC8F-C507130FF76E}"/>
              </a:ext>
            </a:extLst>
          </p:cNvPr>
          <p:cNvSpPr>
            <a:spLocks xmlns:a="http://schemas.openxmlformats.org/drawingml/2006/main" noGrp="1"/>
          </p:cNvSpPr>
          <p:nvPr/>
        </p:nvSpPr>
        <p:spPr>
          <a:xfrm xmlns:a="http://schemas.openxmlformats.org/drawingml/2006/main">
            <a:off x="6457950" y="3000375"/>
            <a:ext cx="52197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C(s₂) = 0</a:t>
            </a:r>
          </a:p>
        </p:txBody>
      </p:sp>
      <p:graphicFrame>
        <p:nvGraphicFramePr>
          <p:cNvPr id="10" name="">
            <a:extLst xmlns:a="http://schemas.openxmlformats.org/drawingml/2006/main">
              <a:ext uri="{FF2B5EF4-FFF2-40B4-BE49-F238E27FC236}">
                <a16:creationId xmlns:a16="http://schemas.microsoft.com/office/drawing/2014/main" id="{1DE5A767-0BCD-4804-9905-DBFFCD0B46D3}"/>
              </a:ext>
            </a:extLst>
          </p:cNvPr>
          <p:cNvGraphicFramePr/>
          <p:nvPr/>
        </p:nvGraphicFramePr>
        <p:xfrm>
          <a:off xmlns:a="http://schemas.openxmlformats.org/drawingml/2006/main" x="552450" y="3743325"/>
          <a:ext xmlns:a="http://schemas.openxmlformats.org/drawingml/2006/main" cx="11087100" cy="2286000"/>
        </p:xfrm>
        <a:graphic xmlns:a="http://schemas.openxmlformats.org/drawingml/2006/main">
          <a:graphicData uri="http://schemas.openxmlformats.org/drawingml/2006/table">
            <a:tbl>
              <a:tblPr/>
              <a:tblGrid>
                <a:gridCol w="4772025"/>
                <a:gridCol w="3152775"/>
                <a:gridCol w="3162300"/>
              </a:tblGrid>
              <a:tr h="381000">
                <a:tc>
                  <a:txBody>
                    <a:bodyPr lIns="114300" tIns="57150" rIns="95250" bIns="57150">
                      <a:noAutofit/>
                    </a:bodyPr>
                    <a:lstStyle/>
                    <a:p>
                      <a:pPr>
                        <a:lnSpc>
                          <a:spcPct val="100000"/>
                        </a:lnSpc>
                        <a:buNone/>
                      </a:pPr>
                      <a:r>
                        <a:rPr sz="1725" b="1">
                          <a:solidFill>
                            <a:srgbClr val="13233D"/>
                          </a:solidFill>
                          <a:latin typeface="Arial"/>
                          <a:ea typeface="Arial"/>
                          <a:cs typeface="Arial"/>
                        </a:rPr>
                        <a:t>Score component</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725" b="1">
                          <a:solidFill>
                            <a:srgbClr val="13233D"/>
                          </a:solidFill>
                          <a:latin typeface="Arial"/>
                          <a:ea typeface="Arial"/>
                          <a:cs typeface="Arial"/>
                        </a:rPr>
                        <a:t>s₁: SWAP(P0, P1)</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725" b="1">
                          <a:solidFill>
                            <a:srgbClr val="13233D"/>
                          </a:solidFill>
                          <a:latin typeface="Arial"/>
                          <a:ea typeface="Arial"/>
                          <a:cs typeface="Arial"/>
                        </a:rPr>
                        <a:t>s₂: SWAP(P1, P2)</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81000">
                <a:tc>
                  <a:txBody>
                    <a:bodyPr lIns="114300" tIns="57150" rIns="95250" bIns="57150">
                      <a:noAutofit/>
                    </a:bodyPr>
                    <a:lstStyle/>
                    <a:p>
                      <a:pPr>
                        <a:lnSpc>
                          <a:spcPct val="100000"/>
                        </a:lnSpc>
                        <a:buNone/>
                      </a:pPr>
                      <a:r>
                        <a:rPr sz="1725" b="0">
                          <a:solidFill>
                            <a:srgbClr val="526479"/>
                          </a:solidFill>
                          <a:latin typeface="Arial"/>
                          <a:ea typeface="Arial"/>
                          <a:cs typeface="Arial"/>
                        </a:rPr>
                        <a:t>Distance change ΔF</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81000">
                <a:tc>
                  <a:txBody>
                    <a:bodyPr lIns="114300" tIns="57150" rIns="95250" bIns="57150">
                      <a:noAutofit/>
                    </a:bodyPr>
                    <a:lstStyle/>
                    <a:p>
                      <a:pPr>
                        <a:lnSpc>
                          <a:spcPct val="100000"/>
                        </a:lnSpc>
                        <a:buNone/>
                      </a:pPr>
                      <a:r>
                        <a:rPr sz="1725" b="0">
                          <a:solidFill>
                            <a:srgbClr val="526479"/>
                          </a:solidFill>
                          <a:latin typeface="Arial"/>
                          <a:ea typeface="Arial"/>
                          <a:cs typeface="Arial"/>
                        </a:rPr>
                        <a:t>Fusion credit C(s)</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81000">
                <a:tc>
                  <a:txBody>
                    <a:bodyPr lIns="114300" tIns="57150" rIns="95250" bIns="57150">
                      <a:noAutofit/>
                    </a:bodyPr>
                    <a:lstStyle/>
                    <a:p>
                      <a:pPr>
                        <a:lnSpc>
                          <a:spcPct val="100000"/>
                        </a:lnSpc>
                        <a:buNone/>
                      </a:pPr>
                      <a:r>
                        <a:rPr sz="1725" b="0">
                          <a:solidFill>
                            <a:srgbClr val="526479"/>
                          </a:solidFill>
                          <a:latin typeface="Arial"/>
                          <a:ea typeface="Arial"/>
                          <a:cs typeface="Arial"/>
                        </a:rPr>
                        <a:t>Start time Tₛ = max endpoint ready</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81000">
                <a:tc>
                  <a:txBody>
                    <a:bodyPr lIns="114300" tIns="57150" rIns="95250" bIns="57150">
                      <a:noAutofit/>
                    </a:bodyPr>
                    <a:lstStyle/>
                    <a:p>
                      <a:pPr>
                        <a:lnSpc>
                          <a:spcPct val="100000"/>
                        </a:lnSpc>
                        <a:buNone/>
                      </a:pPr>
                      <a:r>
                        <a:rPr sz="1725" b="0">
                          <a:solidFill>
                            <a:srgbClr val="526479"/>
                          </a:solidFill>
                          <a:latin typeface="Arial"/>
                          <a:ea typeface="Arial"/>
                          <a:cs typeface="Arial"/>
                        </a:rPr>
                        <a:t>Readiness penalty 0.000022 × Tₛ</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0.000022</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0.000022</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81000">
                <a:tc>
                  <a:txBody>
                    <a:bodyPr lIns="114300" tIns="57150" rIns="95250" bIns="57150">
                      <a:noAutofit/>
                    </a:bodyPr>
                    <a:lstStyle/>
                    <a:p>
                      <a:pPr>
                        <a:lnSpc>
                          <a:spcPct val="100000"/>
                        </a:lnSpc>
                        <a:buNone/>
                      </a:pPr>
                      <a:r>
                        <a:rPr sz="1725" b="0">
                          <a:solidFill>
                            <a:srgbClr val="526479"/>
                          </a:solidFill>
                          <a:latin typeface="Arial"/>
                          <a:ea typeface="Arial"/>
                          <a:cs typeface="Arial"/>
                        </a:rPr>
                        <a:t>Qnew = ΔF + C(s) + 0.000022 × Tₛ</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1">
                          <a:solidFill>
                            <a:srgbClr val="087C69"/>
                          </a:solidFill>
                          <a:latin typeface="Arial"/>
                          <a:ea typeface="Arial"/>
                          <a:cs typeface="Arial"/>
                        </a:rPr>
                        <a:t>−1.999978   chosen</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−0.999978</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11" name="Scoring only reads the stored state. Evaluating a candidate does not c">
            <a:extLst xmlns:a="http://schemas.openxmlformats.org/drawingml/2006/main">
              <a:ext uri="{FF2B5EF4-FFF2-40B4-BE49-F238E27FC236}">
                <a16:creationId xmlns:a16="http://schemas.microsoft.com/office/drawing/2014/main" id="{4B1897BA-AFB4-4BF3-AFA2-696FEB8A4C2A}"/>
              </a:ext>
            </a:extLst>
          </p:cNvPr>
          <p:cNvSpPr>
            <a:spLocks xmlns:a="http://schemas.openxmlformats.org/drawingml/2006/main" noGrp="1"/>
          </p:cNvSpPr>
          <p:nvPr/>
        </p:nvSpPr>
        <p:spPr>
          <a:xfrm xmlns:a="http://schemas.openxmlformats.org/drawingml/2006/main">
            <a:off x="552450" y="6267450"/>
            <a:ext cx="1078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Scoring only reads the stored state. Evaluating a candidate does not change ready or last_block.</a:t>
            </a:r>
          </a:p>
        </p:txBody>
      </p:sp>
    </p:spTree>
    <p:extLst>
      <p:ext uri="{BB962C8B-B14F-4D97-AF65-F5344CB8AC3E}">
        <p14:creationId xmlns:p14="http://schemas.microsoft.com/office/powerpoint/2010/main" val="9038700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pply s₁, then route B and open a new block">
            <a:extLst xmlns:a="http://schemas.openxmlformats.org/drawingml/2006/main">
              <a:ext uri="{FF2B5EF4-FFF2-40B4-BE49-F238E27FC236}">
                <a16:creationId xmlns:a16="http://schemas.microsoft.com/office/drawing/2014/main" id="{64D93E57-D698-4FC7-8E93-0E8643C9C256}"/>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Apply s₁, then route B and open a new block</a:t>
            </a:r>
          </a:p>
        </p:txBody>
      </p:sp>
      <p:sp>
        <p:nvSpPr>
          <p:cNvPr id="2" name="The winner SWAP(P0,P1) exchanges the physical positions of logical qub">
            <a:extLst xmlns:a="http://schemas.openxmlformats.org/drawingml/2006/main">
              <a:ext uri="{FF2B5EF4-FFF2-40B4-BE49-F238E27FC236}">
                <a16:creationId xmlns:a16="http://schemas.microsoft.com/office/drawing/2014/main" id="{03C58E16-C2D4-4C6C-BF68-AB0EA6D569A2}"/>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The winner SWAP(P0,P1) exchanges the physical positions of logical qubits q0 and q1.</a:t>
            </a:r>
          </a:p>
        </p:txBody>
      </p:sp>
      <p:sp>
        <p:nvSpPr>
          <p:cNvPr id="3" name="13">
            <a:extLst xmlns:a="http://schemas.openxmlformats.org/drawingml/2006/main">
              <a:ext uri="{FF2B5EF4-FFF2-40B4-BE49-F238E27FC236}">
                <a16:creationId xmlns:a16="http://schemas.microsoft.com/office/drawing/2014/main" id="{00205B9A-5FE5-4168-80AA-8046001ED800}"/>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13</a:t>
            </a:r>
          </a:p>
        </p:txBody>
      </p:sp>
      <p:sp>
        <p:nvSpPr>
          <p:cNvPr id="4" name="After s₁: q0 is on P1, q1 is on P0, and q2 stays on P2">
            <a:extLst xmlns:a="http://schemas.openxmlformats.org/drawingml/2006/main">
              <a:ext uri="{FF2B5EF4-FFF2-40B4-BE49-F238E27FC236}">
                <a16:creationId xmlns:a16="http://schemas.microsoft.com/office/drawing/2014/main" id="{5A55DD70-42B1-4B45-ACC3-B7DFE79F7A14}"/>
              </a:ext>
            </a:extLst>
          </p:cNvPr>
          <p:cNvSpPr>
            <a:spLocks xmlns:a="http://schemas.openxmlformats.org/drawingml/2006/main" noGrp="1"/>
          </p:cNvSpPr>
          <p:nvPr/>
        </p:nvSpPr>
        <p:spPr>
          <a:xfrm xmlns:a="http://schemas.openxmlformats.org/drawingml/2006/main">
            <a:off x="552450" y="162877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After s₁: q0 is on P1, q1 is on P0, and q2 stays on P2</a:t>
            </a:r>
          </a:p>
        </p:txBody>
      </p:sp>
      <p:sp>
        <p:nvSpPr>
          <p:cNvPr id="5" name="Save both endpoint snapshots in ready_undo. Clear both last_block entr">
            <a:extLst xmlns:a="http://schemas.openxmlformats.org/drawingml/2006/main">
              <a:ext uri="{FF2B5EF4-FFF2-40B4-BE49-F238E27FC236}">
                <a16:creationId xmlns:a16="http://schemas.microsoft.com/office/drawing/2014/main" id="{BEFBA170-2727-43BC-AA91-452FC83838AD}"/>
              </a:ext>
            </a:extLst>
          </p:cNvPr>
          <p:cNvSpPr>
            <a:spLocks xmlns:a="http://schemas.openxmlformats.org/drawingml/2006/main" noGrp="1"/>
          </p:cNvSpPr>
          <p:nvPr/>
        </p:nvSpPr>
        <p:spPr>
          <a:xfrm xmlns:a="http://schemas.openxmlformats.org/drawingml/2006/main">
            <a:off x="552450" y="2057400"/>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Save both endpoint snapshots in ready_undo. Clear both last_block entries.</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Set ready[P0] = ready[P1] = max(1, 1) + 3 = 4.</a:t>
            </a:r>
          </a:p>
        </p:txBody>
      </p:sp>
      <p:sp>
        <p:nvSpPr>
          <p:cNvPr id="6" name="B now routes on adjacent P1 and P2">
            <a:extLst xmlns:a="http://schemas.openxmlformats.org/drawingml/2006/main">
              <a:ext uri="{FF2B5EF4-FFF2-40B4-BE49-F238E27FC236}">
                <a16:creationId xmlns:a16="http://schemas.microsoft.com/office/drawing/2014/main" id="{4B15C262-69D9-428B-9107-5A6D6E857BA2}"/>
              </a:ext>
            </a:extLst>
          </p:cNvPr>
          <p:cNvSpPr>
            <a:spLocks xmlns:a="http://schemas.openxmlformats.org/drawingml/2006/main" noGrp="1"/>
          </p:cNvSpPr>
          <p:nvPr/>
        </p:nvSpPr>
        <p:spPr>
          <a:xfrm xmlns:a="http://schemas.openxmlformats.org/drawingml/2006/main">
            <a:off x="552450" y="292417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87C69"/>
                </a:solidFill>
                <a:latin typeface="Arial"/>
                <a:ea typeface="Arial"/>
                <a:cs typeface="Arial"/>
              </a:defRPr>
            </a:defPPr>
          </a:lstStyle>
          <a:p xmlns:a="http://schemas.openxmlformats.org/drawingml/2006/main">
            <a:pPr>
              <a:buNone/>
              <a:defRPr sz="1950" b="1">
                <a:solidFill>
                  <a:srgbClr val="087C69"/>
                </a:solidFill>
                <a:latin typeface="Arial"/>
                <a:ea typeface="Arial"/>
                <a:cs typeface="Arial"/>
              </a:defRPr>
            </a:pPr>
            <a:r>
              <a:rPr sz="1950" b="1">
                <a:solidFill>
                  <a:srgbClr val="087C69"/>
                </a:solidFill>
                <a:latin typeface="Arial"/>
                <a:ea typeface="Arial"/>
                <a:cs typeface="Arial"/>
              </a:rPr>
              <a:t>B now routes on adjacent P1 and P2</a:t>
            </a:r>
          </a:p>
        </p:txBody>
      </p:sp>
      <p:graphicFrame>
        <p:nvGraphicFramePr>
          <p:cNvPr id="7" name="">
            <a:extLst xmlns:a="http://schemas.openxmlformats.org/drawingml/2006/main">
              <a:ext uri="{FF2B5EF4-FFF2-40B4-BE49-F238E27FC236}">
                <a16:creationId xmlns:a16="http://schemas.microsoft.com/office/drawing/2014/main" id="{FAFFC860-B192-419C-8253-D54FEC553314}"/>
              </a:ext>
            </a:extLst>
          </p:cNvPr>
          <p:cNvGraphicFramePr/>
          <p:nvPr/>
        </p:nvGraphicFramePr>
        <p:xfrm>
          <a:off xmlns:a="http://schemas.openxmlformats.org/drawingml/2006/main" x="552450" y="3381375"/>
          <a:ext xmlns:a="http://schemas.openxmlformats.org/drawingml/2006/main" cx="11087100" cy="1638300"/>
        </p:xfrm>
        <a:graphic xmlns:a="http://schemas.openxmlformats.org/drawingml/2006/main">
          <a:graphicData uri="http://schemas.openxmlformats.org/drawingml/2006/table">
            <a:tbl>
              <a:tblPr/>
              <a:tblGrid>
                <a:gridCol w="2457450"/>
                <a:gridCol w="2428875"/>
                <a:gridCol w="2066925"/>
                <a:gridCol w="2066925"/>
                <a:gridCol w="2066925"/>
              </a:tblGrid>
              <a:tr h="409575">
                <a:tc>
                  <a:txBody>
                    <a:bodyPr lIns="114300" tIns="57150" rIns="95250" bIns="57150">
                      <a:noAutofit/>
                    </a:bodyPr>
                    <a:lstStyle/>
                    <a:p>
                      <a:pPr>
                        <a:lnSpc>
                          <a:spcPct val="100000"/>
                        </a:lnSpc>
                        <a:buNone/>
                      </a:pPr>
                      <a:r>
                        <a:rPr sz="1650" b="1">
                          <a:solidFill>
                            <a:srgbClr val="13233D"/>
                          </a:solidFill>
                          <a:latin typeface="Arial"/>
                          <a:ea typeface="Arial"/>
                          <a:cs typeface="Arial"/>
                        </a:rPr>
                        <a:t>Checkpoint</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650" b="1">
                          <a:solidFill>
                            <a:srgbClr val="13233D"/>
                          </a:solidFill>
                          <a:latin typeface="Arial"/>
                          <a:ea typeface="Arial"/>
                          <a:cs typeface="Arial"/>
                        </a:rPr>
                        <a:t>ready [P0,P1,P2]</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650" b="1">
                          <a:solidFill>
                            <a:srgbClr val="13233D"/>
                          </a:solidFill>
                          <a:latin typeface="Arial"/>
                          <a:ea typeface="Arial"/>
                          <a:cs typeface="Arial"/>
                        </a:rPr>
                        <a:t>last_block[P0]</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650" b="1">
                          <a:solidFill>
                            <a:srgbClr val="13233D"/>
                          </a:solidFill>
                          <a:latin typeface="Arial"/>
                          <a:ea typeface="Arial"/>
                          <a:cs typeface="Arial"/>
                        </a:rPr>
                        <a:t>last_block[P1]</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650" b="1">
                          <a:solidFill>
                            <a:srgbClr val="13233D"/>
                          </a:solidFill>
                          <a:latin typeface="Arial"/>
                          <a:ea typeface="Arial"/>
                          <a:cs typeface="Arial"/>
                        </a:rPr>
                        <a:t>last_block[P2]</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409575">
                <a:tc>
                  <a:txBody>
                    <a:bodyPr lIns="114300" tIns="57150" rIns="95250" bIns="57150">
                      <a:noAutofit/>
                    </a:bodyPr>
                    <a:lstStyle/>
                    <a:p>
                      <a:pPr>
                        <a:lnSpc>
                          <a:spcPct val="100000"/>
                        </a:lnSpc>
                        <a:buNone/>
                      </a:pPr>
                      <a:r>
                        <a:rPr sz="1650" b="0">
                          <a:solidFill>
                            <a:srgbClr val="526479"/>
                          </a:solidFill>
                          <a:latin typeface="Arial"/>
                          <a:ea typeface="Arial"/>
                          <a:cs typeface="Arial"/>
                        </a:rPr>
                        <a:t>After A</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[1, 1, 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(P1, 3)</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(P0, 3)</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09575">
                <a:tc>
                  <a:txBody>
                    <a:bodyPr lIns="114300" tIns="57150" rIns="95250" bIns="57150">
                      <a:noAutofit/>
                    </a:bodyPr>
                    <a:lstStyle/>
                    <a:p>
                      <a:pPr>
                        <a:lnSpc>
                          <a:spcPct val="100000"/>
                        </a:lnSpc>
                        <a:buNone/>
                      </a:pPr>
                      <a:r>
                        <a:rPr sz="1650" b="0">
                          <a:solidFill>
                            <a:srgbClr val="526479"/>
                          </a:solidFill>
                          <a:latin typeface="Arial"/>
                          <a:ea typeface="Arial"/>
                          <a:cs typeface="Arial"/>
                        </a:rPr>
                        <a:t>After chosen s₁</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[4, 4, 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09575">
                <a:tc>
                  <a:txBody>
                    <a:bodyPr lIns="114300" tIns="57150" rIns="95250" bIns="57150">
                      <a:noAutofit/>
                    </a:bodyPr>
                    <a:lstStyle/>
                    <a:p>
                      <a:pPr>
                        <a:lnSpc>
                          <a:spcPct val="100000"/>
                        </a:lnSpc>
                        <a:buNone/>
                      </a:pPr>
                      <a:r>
                        <a:rPr sz="1650" b="0">
                          <a:solidFill>
                            <a:srgbClr val="526479"/>
                          </a:solidFill>
                          <a:latin typeface="Arial"/>
                          <a:ea typeface="Arial"/>
                          <a:cs typeface="Arial"/>
                        </a:rPr>
                        <a:t>After routing B</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[4, 5, 5]</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(P2,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650" b="0">
                          <a:solidFill>
                            <a:srgbClr val="526479"/>
                          </a:solidFill>
                          <a:latin typeface="Arial"/>
                          <a:ea typeface="Arial"/>
                          <a:cs typeface="Arial"/>
                        </a:rPr>
                        <a:t>(P1,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8" name="B sets ready[P1] = ready[P2] = max(4, 0) + 1 = 5.">
            <a:extLst xmlns:a="http://schemas.openxmlformats.org/drawingml/2006/main">
              <a:ext uri="{FF2B5EF4-FFF2-40B4-BE49-F238E27FC236}">
                <a16:creationId xmlns:a16="http://schemas.microsoft.com/office/drawing/2014/main" id="{FEE67095-C915-4DED-810F-F68639BE5F65}"/>
              </a:ext>
            </a:extLst>
          </p:cNvPr>
          <p:cNvSpPr>
            <a:spLocks xmlns:a="http://schemas.openxmlformats.org/drawingml/2006/main" noGrp="1"/>
          </p:cNvSpPr>
          <p:nvPr/>
        </p:nvSpPr>
        <p:spPr>
          <a:xfrm xmlns:a="http://schemas.openxmlformats.org/drawingml/2006/main">
            <a:off x="552450" y="5295900"/>
            <a:ext cx="11087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13233D"/>
                </a:solidFill>
                <a:latin typeface="Arial"/>
                <a:ea typeface="Arial"/>
                <a:cs typeface="Arial"/>
              </a:defRPr>
            </a:defPPr>
          </a:lstStyle>
          <a:p xmlns:a="http://schemas.openxmlformats.org/drawingml/2006/main">
            <a:pPr>
              <a:buNone/>
              <a:defRPr sz="2100" b="0">
                <a:solidFill>
                  <a:srgbClr val="13233D"/>
                </a:solidFill>
                <a:latin typeface="Arial"/>
                <a:ea typeface="Arial"/>
                <a:cs typeface="Arial"/>
              </a:defRPr>
            </a:pPr>
            <a:r>
              <a:rPr sz="2100" b="0">
                <a:solidFill>
                  <a:srgbClr val="13233D"/>
                </a:solidFill>
                <a:latin typeface="Arial"/>
                <a:ea typeface="Arial"/>
                <a:cs typeface="Arial"/>
              </a:rPr>
              <a:t>B sets ready[P1] = ready[P2] = max(4, 0) + 1 = 5.</a:t>
            </a:r>
          </a:p>
        </p:txBody>
      </p:sp>
      <p:sp>
        <p:nvSpPr>
          <p:cNvPr id="9" name="B.block = Some(1), open = 0, so the new c = min(3, 0 + 1) = 1.">
            <a:extLst xmlns:a="http://schemas.openxmlformats.org/drawingml/2006/main">
              <a:ext uri="{FF2B5EF4-FFF2-40B4-BE49-F238E27FC236}">
                <a16:creationId xmlns:a16="http://schemas.microsoft.com/office/drawing/2014/main" id="{3F29CE01-F3D7-4A32-8CEF-0A9AC7D22986}"/>
              </a:ext>
            </a:extLst>
          </p:cNvPr>
          <p:cNvSpPr>
            <a:spLocks xmlns:a="http://schemas.openxmlformats.org/drawingml/2006/main" noGrp="1"/>
          </p:cNvSpPr>
          <p:nvPr/>
        </p:nvSpPr>
        <p:spPr>
          <a:xfrm xmlns:a="http://schemas.openxmlformats.org/drawingml/2006/main">
            <a:off x="552450" y="5772150"/>
            <a:ext cx="11087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13233D"/>
                </a:solidFill>
                <a:latin typeface="Arial"/>
                <a:ea typeface="Arial"/>
                <a:cs typeface="Arial"/>
              </a:defRPr>
            </a:defPPr>
          </a:lstStyle>
          <a:p xmlns:a="http://schemas.openxmlformats.org/drawingml/2006/main">
            <a:pPr>
              <a:buNone/>
              <a:defRPr sz="2025" b="0">
                <a:solidFill>
                  <a:srgbClr val="13233D"/>
                </a:solidFill>
                <a:latin typeface="Arial"/>
                <a:ea typeface="Arial"/>
                <a:cs typeface="Arial"/>
              </a:defRPr>
            </a:pPr>
            <a:r>
              <a:rPr sz="2025" b="0">
                <a:solidFill>
                  <a:srgbClr val="13233D"/>
                </a:solidFill>
                <a:latin typeface="Arial"/>
                <a:ea typeface="Arial"/>
                <a:cs typeface="Arial"/>
              </a:rPr>
              <a:t>B.block = Some(1), open = 0, so the new c = min(3, 0 + 1) = 1.</a:t>
            </a:r>
          </a:p>
        </p:txBody>
      </p:sp>
      <p:sp>
        <p:nvSpPr>
          <p:cNvPr id="10" name="A.block stays Some(3). It is node metadata. The physical-pair history ">
            <a:extLst xmlns:a="http://schemas.openxmlformats.org/drawingml/2006/main">
              <a:ext uri="{FF2B5EF4-FFF2-40B4-BE49-F238E27FC236}">
                <a16:creationId xmlns:a16="http://schemas.microsoft.com/office/drawing/2014/main" id="{927B1EA3-A2B5-4C45-93CA-F4FE0FE9536D}"/>
              </a:ext>
            </a:extLst>
          </p:cNvPr>
          <p:cNvSpPr>
            <a:spLocks xmlns:a="http://schemas.openxmlformats.org/drawingml/2006/main" noGrp="1"/>
          </p:cNvSpPr>
          <p:nvPr/>
        </p:nvSpPr>
        <p:spPr>
          <a:xfrm xmlns:a="http://schemas.openxmlformats.org/drawingml/2006/main">
            <a:off x="552450" y="6276975"/>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A.block stays Some(3). It is node metadata. The physical-pair history changed during routing.</a:t>
            </a:r>
          </a:p>
        </p:txBody>
      </p:sp>
    </p:spTree>
    <p:extLst>
      <p:ext uri="{BB962C8B-B14F-4D97-AF65-F5344CB8AC3E}">
        <p14:creationId xmlns:p14="http://schemas.microsoft.com/office/powerpoint/2010/main" val="6597525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 boundary can stay inside the node">
            <a:extLst xmlns:a="http://schemas.openxmlformats.org/drawingml/2006/main">
              <a:ext uri="{FF2B5EF4-FFF2-40B4-BE49-F238E27FC236}">
                <a16:creationId xmlns:a16="http://schemas.microsoft.com/office/drawing/2014/main" id="{D4F5A37C-451D-42FE-844E-92AB47729432}"/>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A boundary can stay inside the node</a:t>
            </a:r>
          </a:p>
        </p:txBody>
      </p:sp>
      <p:sp>
        <p:nvSpPr>
          <p:cNvPr id="2" name="Variant: insert a barrier after g10, then another CX(q0,q1) before the">
            <a:extLst xmlns:a="http://schemas.openxmlformats.org/drawingml/2006/main">
              <a:ext uri="{FF2B5EF4-FFF2-40B4-BE49-F238E27FC236}">
                <a16:creationId xmlns:a16="http://schemas.microsoft.com/office/drawing/2014/main" id="{0ECB0D52-6107-4DED-A412-B545A5E2E40D}"/>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Variant: insert a barrier after g10, then another CX(q0,q1) before the interaction with q2.</a:t>
            </a:r>
          </a:p>
        </p:txBody>
      </p:sp>
      <p:sp>
        <p:nvSpPr>
          <p:cNvPr id="3" name="14">
            <a:extLst xmlns:a="http://schemas.openxmlformats.org/drawingml/2006/main">
              <a:ext uri="{FF2B5EF4-FFF2-40B4-BE49-F238E27FC236}">
                <a16:creationId xmlns:a16="http://schemas.microsoft.com/office/drawing/2014/main" id="{06F24E99-B1A1-4C26-BECA-8805BC233B55}"/>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14</a:t>
            </a:r>
          </a:p>
        </p:txBody>
      </p:sp>
      <p:sp>
        <p:nvSpPr>
          <p:cNvPr id="4" name="The builder keeps folding into A, but block becomes None">
            <a:extLst xmlns:a="http://schemas.openxmlformats.org/drawingml/2006/main">
              <a:ext uri="{FF2B5EF4-FFF2-40B4-BE49-F238E27FC236}">
                <a16:creationId xmlns:a16="http://schemas.microsoft.com/office/drawing/2014/main" id="{5412383C-1AF2-470B-8800-053766377598}"/>
              </a:ext>
            </a:extLst>
          </p:cNvPr>
          <p:cNvSpPr>
            <a:spLocks xmlns:a="http://schemas.openxmlformats.org/drawingml/2006/main" noGrp="1"/>
          </p:cNvSpPr>
          <p:nvPr/>
        </p:nvSpPr>
        <p:spPr>
          <a:xfrm xmlns:a="http://schemas.openxmlformats.org/drawingml/2006/main">
            <a:off x="552450" y="162877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The builder keeps folding into A, but block becomes None</a:t>
            </a:r>
          </a:p>
        </p:txBody>
      </p:sp>
      <p:sp>
        <p:nvSpPr>
          <p:cNvPr id="5" name="The barrier has kind Synchronize and every input wire points to A.&#10;Its">
            <a:extLst xmlns:a="http://schemas.openxmlformats.org/drawingml/2006/main">
              <a:ext uri="{FF2B5EF4-FFF2-40B4-BE49-F238E27FC236}">
                <a16:creationId xmlns:a16="http://schemas.microsoft.com/office/drawing/2014/main" id="{8A71A7A3-8C92-43B1-8ADC-3FAC41BA2ECB}"/>
              </a:ext>
            </a:extLst>
          </p:cNvPr>
          <p:cNvSpPr>
            <a:spLocks xmlns:a="http://schemas.openxmlformats.org/drawingml/2006/main" noGrp="1"/>
          </p:cNvSpPr>
          <p:nvPr/>
        </p:nvSpPr>
        <p:spPr>
          <a:xfrm xmlns:a="http://schemas.openxmlformats.org/drawingml/2006/main">
            <a:off x="552450" y="2047875"/>
            <a:ext cx="11087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The barrier has kind Synchronize and every input wire points to A.</a:t>
            </a:r>
          </a:p>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Its ID appends to A.indices. Its boundary marker changes A.block to None.</a:t>
            </a:r>
          </a:p>
        </p:txBody>
      </p:sp>
      <p:graphicFrame>
        <p:nvGraphicFramePr>
          <p:cNvPr id="6" name="">
            <a:extLst xmlns:a="http://schemas.openxmlformats.org/drawingml/2006/main">
              <a:ext uri="{FF2B5EF4-FFF2-40B4-BE49-F238E27FC236}">
                <a16:creationId xmlns:a16="http://schemas.microsoft.com/office/drawing/2014/main" id="{510790BB-A3C3-4DB2-ABD8-21091B0561A3}"/>
              </a:ext>
            </a:extLst>
          </p:cNvPr>
          <p:cNvGraphicFramePr/>
          <p:nvPr/>
        </p:nvGraphicFramePr>
        <p:xfrm>
          <a:off xmlns:a="http://schemas.openxmlformats.org/drawingml/2006/main" x="552450" y="2943225"/>
          <a:ext xmlns:a="http://schemas.openxmlformats.org/drawingml/2006/main" cx="11087100" cy="1809750"/>
        </p:xfrm>
        <a:graphic xmlns:a="http://schemas.openxmlformats.org/drawingml/2006/main">
          <a:graphicData uri="http://schemas.openxmlformats.org/drawingml/2006/table">
            <a:tbl>
              <a:tblPr/>
              <a:tblGrid>
                <a:gridCol w="4057650"/>
                <a:gridCol w="3067050"/>
                <a:gridCol w="1104900"/>
                <a:gridCol w="2857500"/>
              </a:tblGrid>
              <a:tr h="361950">
                <a:tc>
                  <a:txBody>
                    <a:bodyPr lIns="114300" tIns="57150" rIns="95250" bIns="57150">
                      <a:noAutofit/>
                    </a:bodyPr>
                    <a:lstStyle/>
                    <a:p>
                      <a:pPr>
                        <a:lnSpc>
                          <a:spcPct val="100000"/>
                        </a:lnSpc>
                        <a:buNone/>
                      </a:pPr>
                      <a:r>
                        <a:rPr sz="1725" b="1">
                          <a:solidFill>
                            <a:srgbClr val="13233D"/>
                          </a:solidFill>
                          <a:latin typeface="Arial"/>
                          <a:ea typeface="Arial"/>
                          <a:cs typeface="Arial"/>
                        </a:rPr>
                        <a:t>Original operation</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725" b="1">
                          <a:solidFill>
                            <a:srgbClr val="13233D"/>
                          </a:solidFill>
                          <a:latin typeface="Arial"/>
                          <a:ea typeface="Arial"/>
                          <a:cs typeface="Arial"/>
                        </a:rPr>
                        <a:t>Builder action</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725" b="1">
                          <a:solidFill>
                            <a:srgbClr val="13233D"/>
                          </a:solidFill>
                          <a:latin typeface="Arial"/>
                          <a:ea typeface="Arial"/>
                          <a:cs typeface="Arial"/>
                        </a:rPr>
                        <a:t>Node</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57150" rIns="95250" bIns="57150">
                      <a:noAutofit/>
                    </a:bodyPr>
                    <a:lstStyle/>
                    <a:p>
                      <a:pPr>
                        <a:lnSpc>
                          <a:spcPct val="100000"/>
                        </a:lnSpc>
                        <a:buNone/>
                      </a:pPr>
                      <a:r>
                        <a:rPr sz="1725" b="1">
                          <a:solidFill>
                            <a:srgbClr val="13233D"/>
                          </a:solidFill>
                          <a:latin typeface="Arial"/>
                          <a:ea typeface="Arial"/>
                          <a:cs typeface="Arial"/>
                        </a:rPr>
                        <a:t>block afterward</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61950">
                <a:tc>
                  <a:txBody>
                    <a:bodyPr lIns="114300" tIns="57150" rIns="95250" bIns="57150">
                      <a:noAutofit/>
                    </a:bodyPr>
                    <a:lstStyle/>
                    <a:p>
                      <a:pPr>
                        <a:lnSpc>
                          <a:spcPct val="100000"/>
                        </a:lnSpc>
                        <a:buNone/>
                      </a:pPr>
                      <a:r>
                        <a:rPr sz="1725" b="0">
                          <a:solidFill>
                            <a:srgbClr val="526479"/>
                          </a:solidFill>
                          <a:latin typeface="Arial"/>
                          <a:ea typeface="Arial"/>
                          <a:cs typeface="Arial"/>
                        </a:rPr>
                        <a:t>g1–g10: the long sequence</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Create and extend</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A</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Some(3)</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61950">
                <a:tc>
                  <a:txBody>
                    <a:bodyPr lIns="114300" tIns="57150" rIns="95250" bIns="57150">
                      <a:noAutofit/>
                    </a:bodyPr>
                    <a:lstStyle/>
                    <a:p>
                      <a:pPr>
                        <a:lnSpc>
                          <a:spcPct val="100000"/>
                        </a:lnSpc>
                        <a:buNone/>
                      </a:pPr>
                      <a:r>
                        <a:rPr sz="1725" b="0">
                          <a:solidFill>
                            <a:srgbClr val="526479"/>
                          </a:solidFill>
                          <a:latin typeface="Arial"/>
                          <a:ea typeface="Arial"/>
                          <a:cs typeface="Arial"/>
                        </a:rPr>
                        <a:t>g11: barrier(q0,q1)</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Append</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A</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61950">
                <a:tc>
                  <a:txBody>
                    <a:bodyPr lIns="114300" tIns="57150" rIns="95250" bIns="57150">
                      <a:noAutofit/>
                    </a:bodyPr>
                    <a:lstStyle/>
                    <a:p>
                      <a:pPr>
                        <a:lnSpc>
                          <a:spcPct val="100000"/>
                        </a:lnSpc>
                        <a:buNone/>
                      </a:pPr>
                      <a:r>
                        <a:rPr sz="1725" b="0">
                          <a:solidFill>
                            <a:srgbClr val="526479"/>
                          </a:solidFill>
                          <a:latin typeface="Arial"/>
                          <a:ea typeface="Arial"/>
                          <a:cs typeface="Arial"/>
                        </a:rPr>
                        <a:t>g12: CX(q0,q1)</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Append</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A</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61950">
                <a:tc>
                  <a:txBody>
                    <a:bodyPr lIns="114300" tIns="57150" rIns="95250" bIns="57150">
                      <a:noAutofit/>
                    </a:bodyPr>
                    <a:lstStyle/>
                    <a:p>
                      <a:pPr>
                        <a:lnSpc>
                          <a:spcPct val="100000"/>
                        </a:lnSpc>
                        <a:buNone/>
                      </a:pPr>
                      <a:r>
                        <a:rPr sz="1725" b="0">
                          <a:solidFill>
                            <a:srgbClr val="526479"/>
                          </a:solidFill>
                          <a:latin typeface="Arial"/>
                          <a:ea typeface="Arial"/>
                          <a:cs typeface="Arial"/>
                        </a:rPr>
                        <a:t>g13: CX(q0,q2)</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New predecessors</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B</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57150" rIns="95250" bIns="57150">
                      <a:noAutofit/>
                    </a:bodyPr>
                    <a:lstStyle/>
                    <a:p>
                      <a:pPr>
                        <a:lnSpc>
                          <a:spcPct val="100000"/>
                        </a:lnSpc>
                        <a:buNone/>
                      </a:pPr>
                      <a:r>
                        <a:rPr sz="1725" b="0">
                          <a:solidFill>
                            <a:srgbClr val="526479"/>
                          </a:solidFill>
                          <a:latin typeface="Arial"/>
                          <a:ea typeface="Arial"/>
                          <a:cs typeface="Arial"/>
                        </a:rPr>
                        <a:t>Some(1)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7" name="None stays None for later gates folded into the same node">
            <a:extLst xmlns:a="http://schemas.openxmlformats.org/drawingml/2006/main">
              <a:ext uri="{FF2B5EF4-FFF2-40B4-BE49-F238E27FC236}">
                <a16:creationId xmlns:a16="http://schemas.microsoft.com/office/drawing/2014/main" id="{C04166F7-818B-4DE6-8228-EB1C1321A1BA}"/>
              </a:ext>
            </a:extLst>
          </p:cNvPr>
          <p:cNvSpPr>
            <a:spLocks xmlns:a="http://schemas.openxmlformats.org/drawingml/2006/main" noGrp="1"/>
          </p:cNvSpPr>
          <p:nvPr/>
        </p:nvSpPr>
        <p:spPr>
          <a:xfrm xmlns:a="http://schemas.openxmlformats.org/drawingml/2006/main">
            <a:off x="552450" y="503872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B35C18"/>
                </a:solidFill>
                <a:latin typeface="Arial"/>
                <a:ea typeface="Arial"/>
                <a:cs typeface="Arial"/>
              </a:defRPr>
            </a:defPPr>
          </a:lstStyle>
          <a:p xmlns:a="http://schemas.openxmlformats.org/drawingml/2006/main">
            <a:pPr>
              <a:buNone/>
              <a:defRPr sz="1950" b="1">
                <a:solidFill>
                  <a:srgbClr val="B35C18"/>
                </a:solidFill>
                <a:latin typeface="Arial"/>
                <a:ea typeface="Arial"/>
                <a:cs typeface="Arial"/>
              </a:defRPr>
            </a:pPr>
            <a:r>
              <a:rPr sz="1950" b="1">
                <a:solidFill>
                  <a:srgbClr val="B35C18"/>
                </a:solidFill>
                <a:latin typeface="Arial"/>
                <a:ea typeface="Arial"/>
                <a:cs typeface="Arial"/>
              </a:rPr>
              <a:t>None stays None for later gates folded into the same node</a:t>
            </a:r>
          </a:p>
        </p:txBody>
      </p:sp>
      <p:sp>
        <p:nvSpPr>
          <p:cNvPr id="8" name="Routing A uses c = 0 and clears the physical-pair entries. SWAP(P0,P1)">
            <a:extLst xmlns:a="http://schemas.openxmlformats.org/drawingml/2006/main">
              <a:ext uri="{FF2B5EF4-FFF2-40B4-BE49-F238E27FC236}">
                <a16:creationId xmlns:a16="http://schemas.microsoft.com/office/drawing/2014/main" id="{9969B0EE-8160-4A45-B7A7-00B9060ADC0D}"/>
              </a:ext>
            </a:extLst>
          </p:cNvPr>
          <p:cNvSpPr>
            <a:spLocks xmlns:a="http://schemas.openxmlformats.org/drawingml/2006/main" noGrp="1"/>
          </p:cNvSpPr>
          <p:nvPr/>
        </p:nvSpPr>
        <p:spPr>
          <a:xfrm xmlns:a="http://schemas.openxmlformats.org/drawingml/2006/main">
            <a:off x="552450" y="5457825"/>
            <a:ext cx="11087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Routing A uses c = 0 and clears the physical-pair entries. SWAP(P0,P1) gets C(s) = 0.</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The extra CX after the barrier does not restore a numeric estimate inside A.</a:t>
            </a:r>
          </a:p>
        </p:txBody>
      </p:sp>
      <p:sp>
        <p:nvSpPr>
          <p:cNvPr id="9" name="B starts with its own Some(1). A retains all 12 original operations, i">
            <a:extLst xmlns:a="http://schemas.openxmlformats.org/drawingml/2006/main">
              <a:ext uri="{FF2B5EF4-FFF2-40B4-BE49-F238E27FC236}">
                <a16:creationId xmlns:a16="http://schemas.microsoft.com/office/drawing/2014/main" id="{4EE9E618-6947-4E16-9E77-1705C34BF6BD}"/>
              </a:ext>
            </a:extLst>
          </p:cNvPr>
          <p:cNvSpPr>
            <a:spLocks xmlns:a="http://schemas.openxmlformats.org/drawingml/2006/main" noGrp="1"/>
          </p:cNvSpPr>
          <p:nvPr/>
        </p:nvSpPr>
        <p:spPr>
          <a:xfrm xmlns:a="http://schemas.openxmlformats.org/drawingml/2006/main">
            <a:off x="552450" y="625792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B starts with its own Some(1). A retains all 12 original operations, including the barrier.</a:t>
            </a:r>
          </a:p>
        </p:txBody>
      </p:sp>
    </p:spTree>
    <p:extLst>
      <p:ext uri="{BB962C8B-B14F-4D97-AF65-F5344CB8AC3E}">
        <p14:creationId xmlns:p14="http://schemas.microsoft.com/office/powerpoint/2010/main" val="128704274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ady[q]: when a physical wire becomes free">
            <a:extLst xmlns:a="http://schemas.openxmlformats.org/drawingml/2006/main">
              <a:ext uri="{FF2B5EF4-FFF2-40B4-BE49-F238E27FC236}">
                <a16:creationId xmlns:a16="http://schemas.microsoft.com/office/drawing/2014/main" id="{0115E30D-4D51-4FCC-BF5C-FABC783143F3}"/>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ready[q]: when a physical wire becomes free</a:t>
            </a:r>
          </a:p>
        </p:txBody>
      </p:sp>
      <p:sp>
        <p:nvSpPr>
          <p:cNvPr id="2" name="Times are approximate 2q schedule layers, measured from the start of t">
            <a:extLst xmlns:a="http://schemas.openxmlformats.org/drawingml/2006/main">
              <a:ext uri="{FF2B5EF4-FFF2-40B4-BE49-F238E27FC236}">
                <a16:creationId xmlns:a16="http://schemas.microsoft.com/office/drawing/2014/main" id="{1989D37A-5C6C-40AE-8D15-7FAC0702C97F}"/>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Times are approximate 2q schedule layers, measured from the start of the routing trial.</a:t>
            </a:r>
          </a:p>
        </p:txBody>
      </p:sp>
      <p:sp>
        <p:nvSpPr>
          <p:cNvPr id="3" name="8">
            <a:extLst xmlns:a="http://schemas.openxmlformats.org/drawingml/2006/main">
              <a:ext uri="{FF2B5EF4-FFF2-40B4-BE49-F238E27FC236}">
                <a16:creationId xmlns:a16="http://schemas.microsoft.com/office/drawing/2014/main" id="{3E5AF018-3B09-445E-9170-3083D5BCC1D4}"/>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15</a:t>
            </a:r>
          </a:p>
        </p:txBody>
      </p:sp>
      <p:sp>
        <p:nvSpPr>
          <p:cNvPr id="4" name="Clocks belong to physical wires and start at 0">
            <a:extLst xmlns:a="http://schemas.openxmlformats.org/drawingml/2006/main">
              <a:ext uri="{FF2B5EF4-FFF2-40B4-BE49-F238E27FC236}">
                <a16:creationId xmlns:a16="http://schemas.microsoft.com/office/drawing/2014/main" id="{5A6D46C2-019E-44DE-B30A-BE78DC509127}"/>
              </a:ext>
            </a:extLst>
          </p:cNvPr>
          <p:cNvSpPr>
            <a:spLocks xmlns:a="http://schemas.openxmlformats.org/drawingml/2006/main" noGrp="1"/>
          </p:cNvSpPr>
          <p:nvPr/>
        </p:nvSpPr>
        <p:spPr>
          <a:xfrm xmlns:a="http://schemas.openxmlformats.org/drawingml/2006/main">
            <a:off x="552450" y="162877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Clocks belong to physical wires and start at 0</a:t>
            </a:r>
          </a:p>
        </p:txBody>
      </p:sp>
      <p:sp>
        <p:nvSpPr>
          <p:cNvPr id="5" name="They stay on the same wires when SWAPs move logical qubits. Candidate ">
            <a:extLst xmlns:a="http://schemas.openxmlformats.org/drawingml/2006/main">
              <a:ext uri="{FF2B5EF4-FFF2-40B4-BE49-F238E27FC236}">
                <a16:creationId xmlns:a16="http://schemas.microsoft.com/office/drawing/2014/main" id="{41EB10F8-9F02-4A88-93DD-1947FE215934}"/>
              </a:ext>
            </a:extLst>
          </p:cNvPr>
          <p:cNvSpPr>
            <a:spLocks xmlns:a="http://schemas.openxmlformats.org/drawingml/2006/main" noGrp="1"/>
          </p:cNvSpPr>
          <p:nvPr/>
        </p:nvSpPr>
        <p:spPr>
          <a:xfrm xmlns:a="http://schemas.openxmlformats.org/drawingml/2006/main">
            <a:off x="552450" y="2047875"/>
            <a:ext cx="11087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They stay on the same wires when SWAPs move logical qubits. Candidate scoring only reads them.</a:t>
            </a:r>
          </a:p>
        </p:txBody>
      </p:sp>
      <p:sp>
        <p:nvSpPr>
          <p:cNvPr id="6" name="For an operation on (a, b), its earliest start is t = max(ready[a], re">
            <a:extLst xmlns:a="http://schemas.openxmlformats.org/drawingml/2006/main">
              <a:ext uri="{FF2B5EF4-FFF2-40B4-BE49-F238E27FC236}">
                <a16:creationId xmlns:a16="http://schemas.microsoft.com/office/drawing/2014/main" id="{BA5C2207-65E8-4F1F-9A2C-1D7095B2485A}"/>
              </a:ext>
            </a:extLst>
          </p:cNvPr>
          <p:cNvSpPr>
            <a:spLocks xmlns:a="http://schemas.openxmlformats.org/drawingml/2006/main" noGrp="1"/>
          </p:cNvSpPr>
          <p:nvPr/>
        </p:nvSpPr>
        <p:spPr>
          <a:xfrm xmlns:a="http://schemas.openxmlformats.org/drawingml/2006/main">
            <a:off x="552450" y="2495550"/>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13233D"/>
                </a:solidFill>
                <a:latin typeface="Arial"/>
                <a:ea typeface="Arial"/>
                <a:cs typeface="Arial"/>
              </a:defRPr>
            </a:defPPr>
          </a:lstStyle>
          <a:p xmlns:a="http://schemas.openxmlformats.org/drawingml/2006/main">
            <a:pPr>
              <a:buNone/>
              <a:defRPr sz="2025" b="0">
                <a:solidFill>
                  <a:srgbClr val="13233D"/>
                </a:solidFill>
                <a:latin typeface="Arial"/>
                <a:ea typeface="Arial"/>
                <a:cs typeface="Arial"/>
              </a:defRPr>
            </a:pPr>
            <a:r>
              <a:rPr sz="2025" b="0">
                <a:solidFill>
                  <a:srgbClr val="13233D"/>
                </a:solidFill>
                <a:latin typeface="Arial"/>
                <a:ea typeface="Arial"/>
                <a:cs typeface="Arial"/>
              </a:rPr>
              <a:t>For an operation on (a, b), its earliest start is t = max(ready[a], ready[b]).</a:t>
            </a:r>
          </a:p>
        </p:txBody>
      </p:sp>
      <p:sp>
        <p:nvSpPr>
          <p:cNvPr id="7" name="Route one TwoQ node">
            <a:extLst xmlns:a="http://schemas.openxmlformats.org/drawingml/2006/main">
              <a:ext uri="{FF2B5EF4-FFF2-40B4-BE49-F238E27FC236}">
                <a16:creationId xmlns:a16="http://schemas.microsoft.com/office/drawing/2014/main" id="{9E34FD47-011C-420E-8578-80A7E26C12FD}"/>
              </a:ext>
            </a:extLst>
          </p:cNvPr>
          <p:cNvSpPr>
            <a:spLocks xmlns:a="http://schemas.openxmlformats.org/drawingml/2006/main" noGrp="1"/>
          </p:cNvSpPr>
          <p:nvPr/>
        </p:nvSpPr>
        <p:spPr>
          <a:xfrm xmlns:a="http://schemas.openxmlformats.org/drawingml/2006/main">
            <a:off x="552450" y="3009900"/>
            <a:ext cx="5267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Route one TwoQ node</a:t>
            </a:r>
          </a:p>
        </p:txBody>
      </p:sp>
      <p:sp>
        <p:nvSpPr>
          <p:cNvPr id="8" name="ready[a] = ready[b] = t + 1">
            <a:extLst xmlns:a="http://schemas.openxmlformats.org/drawingml/2006/main">
              <a:ext uri="{FF2B5EF4-FFF2-40B4-BE49-F238E27FC236}">
                <a16:creationId xmlns:a16="http://schemas.microsoft.com/office/drawing/2014/main" id="{083B75F5-4182-4376-A3EB-D90425BCA089}"/>
              </a:ext>
            </a:extLst>
          </p:cNvPr>
          <p:cNvSpPr>
            <a:spLocks xmlns:a="http://schemas.openxmlformats.org/drawingml/2006/main" noGrp="1"/>
          </p:cNvSpPr>
          <p:nvPr/>
        </p:nvSpPr>
        <p:spPr>
          <a:xfrm xmlns:a="http://schemas.openxmlformats.org/drawingml/2006/main">
            <a:off x="552450" y="3419475"/>
            <a:ext cx="535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0">
                <a:solidFill>
                  <a:srgbClr val="13233D"/>
                </a:solidFill>
                <a:latin typeface="Arial"/>
                <a:ea typeface="Arial"/>
                <a:cs typeface="Arial"/>
              </a:defRPr>
            </a:defPPr>
          </a:lstStyle>
          <a:p xmlns:a="http://schemas.openxmlformats.org/drawingml/2006/main">
            <a:pPr>
              <a:buNone/>
              <a:defRPr sz="2250" b="0">
                <a:solidFill>
                  <a:srgbClr val="13233D"/>
                </a:solidFill>
                <a:latin typeface="Arial"/>
                <a:ea typeface="Arial"/>
                <a:cs typeface="Arial"/>
              </a:defRPr>
            </a:pPr>
            <a:r>
              <a:rPr sz="2250" b="0">
                <a:solidFill>
                  <a:srgbClr val="13233D"/>
                </a:solidFill>
                <a:latin typeface="Arial"/>
                <a:ea typeface="Arial"/>
                <a:cs typeface="Arial"/>
              </a:rPr>
              <a:t>ready[a] = ready[b] = t + 1</a:t>
            </a:r>
          </a:p>
        </p:txBody>
      </p:sp>
      <p:sp>
        <p:nvSpPr>
          <p:cNvPr id="9" name="Apply a chosen SWAP">
            <a:extLst xmlns:a="http://schemas.openxmlformats.org/drawingml/2006/main">
              <a:ext uri="{FF2B5EF4-FFF2-40B4-BE49-F238E27FC236}">
                <a16:creationId xmlns:a16="http://schemas.microsoft.com/office/drawing/2014/main" id="{17D24602-BD42-49C0-986C-65BF2EECC654}"/>
              </a:ext>
            </a:extLst>
          </p:cNvPr>
          <p:cNvSpPr>
            <a:spLocks xmlns:a="http://schemas.openxmlformats.org/drawingml/2006/main" noGrp="1"/>
          </p:cNvSpPr>
          <p:nvPr/>
        </p:nvSpPr>
        <p:spPr>
          <a:xfrm xmlns:a="http://schemas.openxmlformats.org/drawingml/2006/main">
            <a:off x="6457950" y="300990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87C69"/>
                </a:solidFill>
                <a:latin typeface="Arial"/>
                <a:ea typeface="Arial"/>
                <a:cs typeface="Arial"/>
              </a:defRPr>
            </a:defPPr>
          </a:lstStyle>
          <a:p xmlns:a="http://schemas.openxmlformats.org/drawingml/2006/main">
            <a:pPr>
              <a:buNone/>
              <a:defRPr sz="1950" b="1">
                <a:solidFill>
                  <a:srgbClr val="087C69"/>
                </a:solidFill>
                <a:latin typeface="Arial"/>
                <a:ea typeface="Arial"/>
                <a:cs typeface="Arial"/>
              </a:defRPr>
            </a:pPr>
            <a:r>
              <a:rPr sz="1950" b="1">
                <a:solidFill>
                  <a:srgbClr val="087C69"/>
                </a:solidFill>
                <a:latin typeface="Arial"/>
                <a:ea typeface="Arial"/>
                <a:cs typeface="Arial"/>
              </a:rPr>
              <a:t>Apply a chosen SWAP</a:t>
            </a:r>
          </a:p>
        </p:txBody>
      </p:sp>
      <p:sp>
        <p:nvSpPr>
          <p:cNvPr id="10" name="ready[a] = ready[b] = t + 3">
            <a:extLst xmlns:a="http://schemas.openxmlformats.org/drawingml/2006/main">
              <a:ext uri="{FF2B5EF4-FFF2-40B4-BE49-F238E27FC236}">
                <a16:creationId xmlns:a16="http://schemas.microsoft.com/office/drawing/2014/main" id="{C6E8E890-38BE-4F1B-A846-725B8DCEFF77}"/>
              </a:ext>
            </a:extLst>
          </p:cNvPr>
          <p:cNvSpPr>
            <a:spLocks xmlns:a="http://schemas.openxmlformats.org/drawingml/2006/main" noGrp="1"/>
          </p:cNvSpPr>
          <p:nvPr/>
        </p:nvSpPr>
        <p:spPr>
          <a:xfrm xmlns:a="http://schemas.openxmlformats.org/drawingml/2006/main">
            <a:off x="6457950" y="3419475"/>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0">
                <a:solidFill>
                  <a:srgbClr val="13233D"/>
                </a:solidFill>
                <a:latin typeface="Arial"/>
                <a:ea typeface="Arial"/>
                <a:cs typeface="Arial"/>
              </a:defRPr>
            </a:defPPr>
          </a:lstStyle>
          <a:p xmlns:a="http://schemas.openxmlformats.org/drawingml/2006/main">
            <a:pPr>
              <a:buNone/>
              <a:defRPr sz="2250" b="0">
                <a:solidFill>
                  <a:srgbClr val="13233D"/>
                </a:solidFill>
                <a:latin typeface="Arial"/>
                <a:ea typeface="Arial"/>
                <a:cs typeface="Arial"/>
              </a:defRPr>
            </a:pPr>
            <a:r>
              <a:rPr sz="2250" b="0">
                <a:solidFill>
                  <a:srgbClr val="13233D"/>
                </a:solidFill>
                <a:latin typeface="Arial"/>
                <a:ea typeface="Arial"/>
                <a:cs typeface="Arial"/>
              </a:rPr>
              <a:t>ready[a] = ready[b] = t + 3</a:t>
            </a:r>
          </a:p>
        </p:txBody>
      </p:sp>
      <p:graphicFrame>
        <p:nvGraphicFramePr>
          <p:cNvPr id="11" name="">
            <a:extLst xmlns:a="http://schemas.openxmlformats.org/drawingml/2006/main">
              <a:ext uri="{FF2B5EF4-FFF2-40B4-BE49-F238E27FC236}">
                <a16:creationId xmlns:a16="http://schemas.microsoft.com/office/drawing/2014/main" id="{94C585AF-B5EE-472F-8527-7E0FAE0E0E68}"/>
              </a:ext>
            </a:extLst>
          </p:cNvPr>
          <p:cNvGraphicFramePr/>
          <p:nvPr/>
        </p:nvGraphicFramePr>
        <p:xfrm>
          <a:off xmlns:a="http://schemas.openxmlformats.org/drawingml/2006/main" x="552450" y="4019550"/>
          <a:ext xmlns:a="http://schemas.openxmlformats.org/drawingml/2006/main" cx="11087100" cy="1571625"/>
        </p:xfrm>
        <a:graphic xmlns:a="http://schemas.openxmlformats.org/drawingml/2006/main">
          <a:graphicData uri="http://schemas.openxmlformats.org/drawingml/2006/table">
            <a:tbl>
              <a:tblPr/>
              <a:tblGrid>
                <a:gridCol w="4333875"/>
                <a:gridCol w="1476375"/>
                <a:gridCol w="1476375"/>
                <a:gridCol w="3800475"/>
              </a:tblGrid>
              <a:tr h="392906">
                <a:tc>
                  <a:txBody>
                    <a:bodyPr lIns="114300" tIns="66675" rIns="95250" bIns="66675">
                      <a:noAutofit/>
                    </a:bodyPr>
                    <a:lstStyle/>
                    <a:p>
                      <a:r>
                        <a:rPr sz="1725" b="1">
                          <a:solidFill>
                            <a:srgbClr val="13233D"/>
                          </a:solidFill>
                          <a:latin typeface="Arial"/>
                          <a:ea typeface="Arial"/>
                          <a:cs typeface="Arial"/>
                        </a:rPr>
                        <a:t>Event, starting from all zeros</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725" b="1">
                          <a:solidFill>
                            <a:srgbClr val="13233D"/>
                          </a:solidFill>
                          <a:latin typeface="Arial"/>
                          <a:ea typeface="Arial"/>
                          <a:cs typeface="Arial"/>
                        </a:rPr>
                        <a:t>Start t</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725" b="1">
                          <a:solidFill>
                            <a:srgbClr val="13233D"/>
                          </a:solidFill>
                          <a:latin typeface="Arial"/>
                          <a:ea typeface="Arial"/>
                          <a:cs typeface="Arial"/>
                        </a:rPr>
                        <a:t>Finish</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725" b="1">
                          <a:solidFill>
                            <a:srgbClr val="13233D"/>
                          </a:solidFill>
                          <a:latin typeface="Arial"/>
                          <a:ea typeface="Arial"/>
                          <a:cs typeface="Arial"/>
                        </a:rPr>
                        <a:t>ready[P0, P1, P2, P3]</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92906">
                <a:tc>
                  <a:txBody>
                    <a:bodyPr lIns="114300" tIns="66675" rIns="95250" bIns="66675">
                      <a:noAutofit/>
                    </a:bodyPr>
                    <a:lstStyle/>
                    <a:p>
                      <a:r>
                        <a:rPr sz="1725" b="0">
                          <a:solidFill>
                            <a:srgbClr val="526479"/>
                          </a:solidFill>
                          <a:latin typeface="Arial"/>
                          <a:ea typeface="Arial"/>
                          <a:cs typeface="Arial"/>
                        </a:rPr>
                        <a:t>Route CX(P0, P1)</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[1, 1, 0, 0]</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92906">
                <a:tc>
                  <a:txBody>
                    <a:bodyPr lIns="114300" tIns="66675" rIns="95250" bIns="66675">
                      <a:noAutofit/>
                    </a:bodyPr>
                    <a:lstStyle/>
                    <a:p>
                      <a:r>
                        <a:rPr sz="1725" b="0">
                          <a:solidFill>
                            <a:srgbClr val="526479"/>
                          </a:solidFill>
                          <a:latin typeface="Arial"/>
                          <a:ea typeface="Arial"/>
                          <a:cs typeface="Arial"/>
                        </a:rPr>
                        <a:t>Route CX(P2, P3)</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[1, 1, 1,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92906">
                <a:tc>
                  <a:txBody>
                    <a:bodyPr lIns="114300" tIns="66675" rIns="95250" bIns="66675">
                      <a:noAutofit/>
                    </a:bodyPr>
                    <a:lstStyle/>
                    <a:p>
                      <a:r>
                        <a:rPr sz="1725" b="0">
                          <a:solidFill>
                            <a:srgbClr val="526479"/>
                          </a:solidFill>
                          <a:latin typeface="Arial"/>
                          <a:ea typeface="Arial"/>
                          <a:cs typeface="Arial"/>
                        </a:rPr>
                        <a:t>Apply SWAP(P1, P2)</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4</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725" b="0">
                          <a:solidFill>
                            <a:srgbClr val="526479"/>
                          </a:solidFill>
                          <a:latin typeface="Arial"/>
                          <a:ea typeface="Arial"/>
                          <a:cs typeface="Arial"/>
                        </a:rPr>
                        <a:t>[1, 4, 4,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12" name="Candidate s starts at Tₛ = max(ready[a], ready[b]). Add 0.000022 × Tₛ ">
            <a:extLst xmlns:a="http://schemas.openxmlformats.org/drawingml/2006/main">
              <a:ext uri="{FF2B5EF4-FFF2-40B4-BE49-F238E27FC236}">
                <a16:creationId xmlns:a16="http://schemas.microsoft.com/office/drawing/2014/main" id="{5E994531-F29B-4688-B76F-5F7EF2F87EAB}"/>
              </a:ext>
            </a:extLst>
          </p:cNvPr>
          <p:cNvSpPr>
            <a:spLocks xmlns:a="http://schemas.openxmlformats.org/drawingml/2006/main" noGrp="1"/>
          </p:cNvSpPr>
          <p:nvPr/>
        </p:nvSpPr>
        <p:spPr>
          <a:xfrm xmlns:a="http://schemas.openxmlformats.org/drawingml/2006/main">
            <a:off x="552450" y="5838825"/>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35C18"/>
                </a:solidFill>
                <a:latin typeface="Arial"/>
                <a:ea typeface="Arial"/>
                <a:cs typeface="Arial"/>
              </a:defRPr>
            </a:defPPr>
          </a:lstStyle>
          <a:p xmlns:a="http://schemas.openxmlformats.org/drawingml/2006/main">
            <a:pPr>
              <a:buNone/>
              <a:defRPr sz="1800" b="0">
                <a:solidFill>
                  <a:srgbClr val="B35C18"/>
                </a:solidFill>
                <a:latin typeface="Arial"/>
                <a:ea typeface="Arial"/>
                <a:cs typeface="Arial"/>
              </a:defRPr>
            </a:pPr>
            <a:r>
              <a:rPr sz="1800" b="0">
                <a:solidFill>
                  <a:srgbClr val="B35C18"/>
                </a:solidFill>
                <a:latin typeface="Arial"/>
                <a:ea typeface="Arial"/>
                <a:cs typeface="Arial"/>
              </a:rPr>
              <a:t>Candidate s starts at Tₛ = max(ready[a], ready[b]). Add 0.000022 × Tₛ to its score after decay.</a:t>
            </a:r>
          </a:p>
        </p:txBody>
      </p:sp>
      <p:sp>
        <p:nvSpPr>
          <p:cNvPr id="13" name="One compressed TwoQ node counts as +1. Every SWAP counts as +3, even w">
            <a:extLst xmlns:a="http://schemas.openxmlformats.org/drawingml/2006/main">
              <a:ext uri="{FF2B5EF4-FFF2-40B4-BE49-F238E27FC236}">
                <a16:creationId xmlns:a16="http://schemas.microsoft.com/office/drawing/2014/main" id="{54F9DC8F-2812-40A2-8F05-14169EBC21B6}"/>
              </a:ext>
            </a:extLst>
          </p:cNvPr>
          <p:cNvSpPr>
            <a:spLocks xmlns:a="http://schemas.openxmlformats.org/drawingml/2006/main" noGrp="1"/>
          </p:cNvSpPr>
          <p:nvPr/>
        </p:nvSpPr>
        <p:spPr>
          <a:xfrm xmlns:a="http://schemas.openxmlformats.org/drawingml/2006/main">
            <a:off x="552450" y="6257925"/>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One compressed TwoQ node counts as +1. Every SWAP counts as +3, even when it earns fusion credit.</a:t>
            </a:r>
          </a:p>
        </p:txBody>
      </p:sp>
    </p:spTree>
    <p:extLst>
      <p:ext uri="{BB962C8B-B14F-4D97-AF65-F5344CB8AC3E}">
        <p14:creationId xmlns:p14="http://schemas.microsoft.com/office/powerpoint/2010/main" val="13155345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ady and decay: why use both">
            <a:extLst xmlns:a="http://schemas.openxmlformats.org/drawingml/2006/main">
              <a:ext uri="{FF2B5EF4-FFF2-40B4-BE49-F238E27FC236}">
                <a16:creationId xmlns:a16="http://schemas.microsoft.com/office/drawing/2014/main" id="{692210A1-0DBF-4C7A-AFEF-2926C864BBA2}"/>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defRPr sz="3225" b="1">
                <a:solidFill>
                  <a:srgbClr val="13233D"/>
                </a:solidFill>
                <a:latin typeface="Arial"/>
                <a:ea typeface="Arial"/>
                <a:cs typeface="Arial"/>
              </a:defRPr>
            </a:pPr>
            <a:r>
              <a:rPr sz="3225" b="1">
                <a:solidFill>
                  <a:srgbClr val="13233D"/>
                </a:solidFill>
                <a:latin typeface="Arial"/>
                <a:ea typeface="Arial"/>
                <a:cs typeface="Arial"/>
              </a:rPr>
              <a:t>Ready and decay: why use both</a:t>
            </a:r>
          </a:p>
        </p:txBody>
      </p:sp>
      <p:sp>
        <p:nvSpPr>
          <p:cNvPr id="2" name="Both can discourage reuse of the same wires. They retain different inf">
            <a:extLst xmlns:a="http://schemas.openxmlformats.org/drawingml/2006/main">
              <a:ext uri="{FF2B5EF4-FFF2-40B4-BE49-F238E27FC236}">
                <a16:creationId xmlns:a16="http://schemas.microsoft.com/office/drawing/2014/main" id="{D3175519-8924-42B4-930C-30D50FC11B0B}"/>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defRPr sz="1800" b="0">
                <a:solidFill>
                  <a:srgbClr val="526479"/>
                </a:solidFill>
                <a:latin typeface="Arial"/>
                <a:ea typeface="Arial"/>
                <a:cs typeface="Arial"/>
              </a:defRPr>
            </a:pPr>
            <a:r>
              <a:rPr sz="1800" b="0">
                <a:solidFill>
                  <a:srgbClr val="526479"/>
                </a:solidFill>
                <a:latin typeface="Arial"/>
                <a:ea typeface="Arial"/>
                <a:cs typeface="Arial"/>
              </a:rPr>
              <a:t>Both can discourage reuse of the same wires. They retain different information.</a:t>
            </a:r>
          </a:p>
        </p:txBody>
      </p:sp>
      <p:sp>
        <p:nvSpPr>
          <p:cNvPr id="3" name="16">
            <a:extLst xmlns:a="http://schemas.openxmlformats.org/drawingml/2006/main">
              <a:ext uri="{FF2B5EF4-FFF2-40B4-BE49-F238E27FC236}">
                <a16:creationId xmlns:a16="http://schemas.microsoft.com/office/drawing/2014/main" id="{091B563B-027F-464C-9CF0-7584F4B4FA7A}"/>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defRPr sz="1275" b="0">
                <a:solidFill>
                  <a:srgbClr val="526479"/>
                </a:solidFill>
                <a:latin typeface="Arial"/>
                <a:ea typeface="Arial"/>
                <a:cs typeface="Arial"/>
              </a:defRPr>
            </a:pPr>
            <a:r>
              <a:rPr sz="1275" b="0">
                <a:solidFill>
                  <a:srgbClr val="526479"/>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0952D84F-6C0A-46C9-A01F-C9AB1313B864}"/>
              </a:ext>
            </a:extLst>
          </p:cNvPr>
          <p:cNvGraphicFramePr/>
          <p:nvPr/>
        </p:nvGraphicFramePr>
        <p:xfrm>
          <a:off xmlns:a="http://schemas.openxmlformats.org/drawingml/2006/main" x="552450" y="1638300"/>
          <a:ext xmlns:a="http://schemas.openxmlformats.org/drawingml/2006/main" cx="11087100" cy="1866900"/>
        </p:xfrm>
        <a:graphic xmlns:a="http://schemas.openxmlformats.org/drawingml/2006/main">
          <a:graphicData uri="http://schemas.openxmlformats.org/drawingml/2006/table">
            <a:tbl>
              <a:tblPr/>
              <a:tblGrid>
                <a:gridCol w="1619250"/>
                <a:gridCol w="4733925"/>
                <a:gridCol w="4733925"/>
              </a:tblGrid>
              <a:tr h="466725">
                <a:tc>
                  <a:txBody>
                    <a:bodyPr lIns="114300" tIns="66675" rIns="95250" bIns="66675">
                      <a:noAutofit/>
                    </a:bodyPr>
                    <a:lstStyle/>
                    <a:p>
                      <a:pPr>
                        <a:lnSpc>
                          <a:spcPct val="100000"/>
                        </a:lnSpc>
                        <a:buNone/>
                      </a:pPr>
                      <a:r>
                        <a:rPr sz="1650" b="1">
                          <a:solidFill>
                            <a:srgbClr val="13233D"/>
                          </a:solidFill>
                          <a:latin typeface="Arial"/>
                          <a:ea typeface="Arial"/>
                          <a:cs typeface="Arial"/>
                        </a:rPr>
                        <a:t>In the code</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pPr>
                        <a:lnSpc>
                          <a:spcPct val="100000"/>
                        </a:lnSpc>
                        <a:buNone/>
                      </a:pPr>
                      <a:r>
                        <a:rPr sz="1650" b="1">
                          <a:solidFill>
                            <a:srgbClr val="13233D"/>
                          </a:solidFill>
                          <a:latin typeface="Arial"/>
                          <a:ea typeface="Arial"/>
                          <a:cs typeface="Arial"/>
                        </a:rPr>
                        <a:t>ready[q]</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pPr>
                        <a:lnSpc>
                          <a:spcPct val="100000"/>
                        </a:lnSpc>
                        <a:buNone/>
                      </a:pPr>
                      <a:r>
                        <a:rPr sz="1650" b="1">
                          <a:solidFill>
                            <a:srgbClr val="13233D"/>
                          </a:solidFill>
                          <a:latin typeface="Arial"/>
                          <a:ea typeface="Arial"/>
                          <a:cs typeface="Arial"/>
                        </a:rPr>
                        <a:t>decay[q]</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466725">
                <a:tc>
                  <a:txBody>
                    <a:bodyPr lIns="114300" tIns="66675" rIns="95250" bIns="66675">
                      <a:noAutofit/>
                    </a:bodyPr>
                    <a:lstStyle/>
                    <a:p>
                      <a:pPr>
                        <a:lnSpc>
                          <a:spcPct val="100000"/>
                        </a:lnSpc>
                        <a:buNone/>
                      </a:pPr>
                      <a:r>
                        <a:rPr sz="1650" b="0">
                          <a:solidFill>
                            <a:srgbClr val="526479"/>
                          </a:solidFill>
                          <a:latin typeface="Arial"/>
                          <a:ea typeface="Arial"/>
                          <a:cs typeface="Arial"/>
                        </a:rPr>
                        <a:t>Tracks</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650" b="0">
                          <a:solidFill>
                            <a:srgbClr val="526479"/>
                          </a:solidFill>
                          <a:latin typeface="Arial"/>
                          <a:ea typeface="Arial"/>
                          <a:cs typeface="Arial"/>
                        </a:rPr>
                        <a:t>Approximate wire availability</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650" b="0">
                          <a:solidFill>
                            <a:srgbClr val="526479"/>
                          </a:solidFill>
                          <a:latin typeface="Arial"/>
                          <a:ea typeface="Arial"/>
                          <a:cs typeface="Arial"/>
                        </a:rPr>
                        <a:t>Recent SWAP use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66725">
                <a:tc>
                  <a:txBody>
                    <a:bodyPr lIns="114300" tIns="66675" rIns="95250" bIns="66675">
                      <a:noAutofit/>
                    </a:bodyPr>
                    <a:lstStyle/>
                    <a:p>
                      <a:pPr>
                        <a:lnSpc>
                          <a:spcPct val="100000"/>
                        </a:lnSpc>
                        <a:buNone/>
                      </a:pPr>
                      <a:r>
                        <a:rPr sz="1650" b="0">
                          <a:solidFill>
                            <a:srgbClr val="526479"/>
                          </a:solidFill>
                          <a:latin typeface="Arial"/>
                          <a:ea typeface="Arial"/>
                          <a:cs typeface="Arial"/>
                        </a:rPr>
                        <a:t>Updated by</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650" b="0">
                          <a:solidFill>
                            <a:srgbClr val="526479"/>
                          </a:solidFill>
                          <a:latin typeface="Arial"/>
                          <a:ea typeface="Arial"/>
                          <a:cs typeface="Arial"/>
                        </a:rPr>
                        <a:t>SWAPs (+3) and routed TwoQ nodes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650" b="0">
                          <a:solidFill>
                            <a:srgbClr val="526479"/>
                          </a:solidFill>
                          <a:latin typeface="Arial"/>
                          <a:ea typeface="Arial"/>
                          <a:cs typeface="Arial"/>
                        </a:rPr>
                        <a:t>Selected search SWAPs (+increment)</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66725">
                <a:tc>
                  <a:txBody>
                    <a:bodyPr lIns="114300" tIns="66675" rIns="95250" bIns="66675">
                      <a:noAutofit/>
                    </a:bodyPr>
                    <a:lstStyle/>
                    <a:p>
                      <a:pPr>
                        <a:lnSpc>
                          <a:spcPct val="100000"/>
                        </a:lnSpc>
                        <a:buNone/>
                      </a:pPr>
                      <a:r>
                        <a:rPr sz="1650" b="0">
                          <a:solidFill>
                            <a:srgbClr val="526479"/>
                          </a:solidFill>
                          <a:latin typeface="Arial"/>
                          <a:ea typeface="Arial"/>
                          <a:cs typeface="Arial"/>
                        </a:rPr>
                        <a:t>Lifetime</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650" b="0">
                          <a:solidFill>
                            <a:srgbClr val="526479"/>
                          </a:solidFill>
                          <a:latin typeface="Arial"/>
                          <a:ea typeface="Arial"/>
                          <a:cs typeface="Arial"/>
                        </a:rPr>
                        <a:t>Persists. Rollback restores old values.</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pPr>
                        <a:lnSpc>
                          <a:spcPct val="100000"/>
                        </a:lnSpc>
                        <a:buNone/>
                      </a:pPr>
                      <a:r>
                        <a:rPr sz="1650" b="0">
                          <a:solidFill>
                            <a:srgbClr val="526479"/>
                          </a:solidFill>
                          <a:latin typeface="Arial"/>
                          <a:ea typeface="Arial"/>
                          <a:cs typeface="Arial"/>
                        </a:rPr>
                        <a:t>Resets periodically and after progress</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5" name="With decay enabled:  Q(s) = D(s) × R(s) + 0.000022 × T(s)">
            <a:extLst xmlns:a="http://schemas.openxmlformats.org/drawingml/2006/main">
              <a:ext uri="{FF2B5EF4-FFF2-40B4-BE49-F238E27FC236}">
                <a16:creationId xmlns:a16="http://schemas.microsoft.com/office/drawing/2014/main" id="{BE09FEDD-3F9E-4623-8224-6388712D49DF}"/>
              </a:ext>
            </a:extLst>
          </p:cNvPr>
          <p:cNvSpPr>
            <a:spLocks xmlns:a="http://schemas.openxmlformats.org/drawingml/2006/main" noGrp="1"/>
          </p:cNvSpPr>
          <p:nvPr/>
        </p:nvSpPr>
        <p:spPr>
          <a:xfrm xmlns:a="http://schemas.openxmlformats.org/drawingml/2006/main">
            <a:off x="552450" y="3733800"/>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13233D"/>
                </a:solidFill>
                <a:latin typeface="Arial"/>
                <a:ea typeface="Arial"/>
                <a:cs typeface="Arial"/>
              </a:defRPr>
            </a:defPPr>
          </a:lstStyle>
          <a:p xmlns:a="http://schemas.openxmlformats.org/drawingml/2006/main">
            <a:pPr>
              <a:defRPr sz="2100" b="0">
                <a:solidFill>
                  <a:srgbClr val="13233D"/>
                </a:solidFill>
                <a:latin typeface="Arial"/>
                <a:ea typeface="Arial"/>
                <a:cs typeface="Arial"/>
              </a:defRPr>
            </a:pPr>
            <a:r>
              <a:rPr sz="2100" b="0">
                <a:solidFill>
                  <a:srgbClr val="13233D"/>
                </a:solidFill>
                <a:latin typeface="Arial"/>
                <a:ea typeface="Arial"/>
                <a:cs typeface="Arial"/>
              </a:rPr>
              <a:t>With decay enabled:  Q(s) = D(s) × R(s) + 0.000022 × T(s)</a:t>
            </a:r>
          </a:p>
        </p:txBody>
      </p:sp>
      <p:sp>
        <p:nvSpPr>
          <p:cNvPr id="6" name="D(s) = max(decay[a], decay[b]),   T(s) = max(ready[a], ready[b]),   s ">
            <a:extLst xmlns:a="http://schemas.openxmlformats.org/drawingml/2006/main">
              <a:ext uri="{FF2B5EF4-FFF2-40B4-BE49-F238E27FC236}">
                <a16:creationId xmlns:a16="http://schemas.microsoft.com/office/drawing/2014/main" id="{474D9D97-E7D8-4320-A1ED-D5E223DB22C9}"/>
              </a:ext>
            </a:extLst>
          </p:cNvPr>
          <p:cNvSpPr>
            <a:spLocks xmlns:a="http://schemas.openxmlformats.org/drawingml/2006/main" noGrp="1"/>
          </p:cNvSpPr>
          <p:nvPr/>
        </p:nvSpPr>
        <p:spPr>
          <a:xfrm xmlns:a="http://schemas.openxmlformats.org/drawingml/2006/main">
            <a:off x="552450" y="4191000"/>
            <a:ext cx="1108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defRPr sz="1725" b="0">
                <a:solidFill>
                  <a:srgbClr val="526479"/>
                </a:solidFill>
                <a:latin typeface="Arial"/>
                <a:ea typeface="Arial"/>
                <a:cs typeface="Arial"/>
              </a:defRPr>
            </a:pPr>
            <a:r>
              <a:rPr sz="1725" b="0">
                <a:solidFill>
                  <a:srgbClr val="526479"/>
                </a:solidFill>
                <a:latin typeface="Arial"/>
                <a:ea typeface="Arial"/>
                <a:cs typeface="Arial"/>
              </a:rPr>
              <a:t>D(s) = max(decay[a], decay[b]),   T(s) = max(ready[a], ready[b]),   s = (a, b).</a:t>
            </a:r>
          </a:p>
        </p:txBody>
      </p:sp>
      <p:sp>
        <p:nvSpPr>
          <p:cNvPr id="7" name="R(s) = absolute_score + score[s], including distance, lookahead and fu">
            <a:extLst xmlns:a="http://schemas.openxmlformats.org/drawingml/2006/main">
              <a:ext uri="{FF2B5EF4-FFF2-40B4-BE49-F238E27FC236}">
                <a16:creationId xmlns:a16="http://schemas.microsoft.com/office/drawing/2014/main" id="{2AFFE6C4-75B0-4514-98EB-0F4904484A51}"/>
              </a:ext>
            </a:extLst>
          </p:cNvPr>
          <p:cNvSpPr>
            <a:spLocks xmlns:a="http://schemas.openxmlformats.org/drawingml/2006/main" noGrp="1"/>
          </p:cNvSpPr>
          <p:nvPr/>
        </p:nvSpPr>
        <p:spPr>
          <a:xfrm xmlns:a="http://schemas.openxmlformats.org/drawingml/2006/main">
            <a:off x="552450" y="4514850"/>
            <a:ext cx="1108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defRPr sz="1725" b="0">
                <a:solidFill>
                  <a:srgbClr val="526479"/>
                </a:solidFill>
                <a:latin typeface="Arial"/>
                <a:ea typeface="Arial"/>
                <a:cs typeface="Arial"/>
              </a:defRPr>
            </a:pPr>
            <a:r>
              <a:rPr sz="1725" b="0">
                <a:solidFill>
                  <a:srgbClr val="526479"/>
                </a:solidFill>
                <a:latin typeface="Arial"/>
                <a:ea typeface="Arial"/>
                <a:cs typeface="Arial"/>
              </a:rPr>
              <a:t>R(s) = absolute_score + score[s], including distance, lookahead and fusion credit.</a:t>
            </a:r>
          </a:p>
        </p:txBody>
      </p:sp>
      <p:sp>
        <p:nvSpPr>
          <p:cNvPr id="8" name="Why both are useful">
            <a:extLst xmlns:a="http://schemas.openxmlformats.org/drawingml/2006/main">
              <a:ext uri="{FF2B5EF4-FFF2-40B4-BE49-F238E27FC236}">
                <a16:creationId xmlns:a16="http://schemas.microsoft.com/office/drawing/2014/main" id="{96584478-65DC-475F-938B-004EBC127A36}"/>
              </a:ext>
            </a:extLst>
          </p:cNvPr>
          <p:cNvSpPr>
            <a:spLocks xmlns:a="http://schemas.openxmlformats.org/drawingml/2006/main" noGrp="1"/>
          </p:cNvSpPr>
          <p:nvPr/>
        </p:nvSpPr>
        <p:spPr>
          <a:xfrm xmlns:a="http://schemas.openxmlformats.org/drawingml/2006/main">
            <a:off x="552450" y="4953000"/>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defRPr sz="1950" b="1">
                <a:solidFill>
                  <a:srgbClr val="2459C4"/>
                </a:solidFill>
                <a:latin typeface="Arial"/>
                <a:ea typeface="Arial"/>
                <a:cs typeface="Arial"/>
              </a:defRPr>
            </a:pPr>
            <a:r>
              <a:rPr sz="1950" b="1">
                <a:solidFill>
                  <a:srgbClr val="2459C4"/>
                </a:solidFill>
                <a:latin typeface="Arial"/>
                <a:ea typeface="Arial"/>
                <a:cs typeface="Arial"/>
              </a:rPr>
              <a:t>Why both are useful</a:t>
            </a:r>
          </a:p>
        </p:txBody>
      </p:sp>
      <p:sp>
        <p:nvSpPr>
          <p:cNvPr id="9" name="Decay temporarily discourages repeated SWAP use during a search.&#10;Ready">
            <a:extLst xmlns:a="http://schemas.openxmlformats.org/drawingml/2006/main">
              <a:ext uri="{FF2B5EF4-FFF2-40B4-BE49-F238E27FC236}">
                <a16:creationId xmlns:a16="http://schemas.microsoft.com/office/drawing/2014/main" id="{CA78883B-84E5-4E3F-B458-5D03D3476FEA}"/>
              </a:ext>
            </a:extLst>
          </p:cNvPr>
          <p:cNvSpPr>
            <a:spLocks xmlns:a="http://schemas.openxmlformats.org/drawingml/2006/main" noGrp="1"/>
          </p:cNvSpPr>
          <p:nvPr/>
        </p:nvSpPr>
        <p:spPr>
          <a:xfrm xmlns:a="http://schemas.openxmlformats.org/drawingml/2006/main">
            <a:off x="552450" y="537210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defRPr sz="1800" b="0">
                <a:solidFill>
                  <a:srgbClr val="526479"/>
                </a:solidFill>
                <a:latin typeface="Arial"/>
                <a:ea typeface="Arial"/>
                <a:cs typeface="Arial"/>
              </a:defRPr>
            </a:pPr>
            <a:r>
              <a:rPr sz="1800" b="0">
                <a:solidFill>
                  <a:srgbClr val="526479"/>
                </a:solidFill>
                <a:latin typeface="Arial"/>
                <a:ea typeface="Arial"/>
                <a:cs typeface="Arial"/>
              </a:rPr>
              <a:t>Decay temporarily discourages repeated SWAP use during a search.</a:t>
            </a:r>
          </a:p>
          <a:p xmlns:a="http://schemas.openxmlformats.org/drawingml/2006/main">
            <a:pPr>
              <a:defRPr sz="1800" b="0">
                <a:solidFill>
                  <a:srgbClr val="526479"/>
                </a:solidFill>
                <a:latin typeface="Arial"/>
                <a:ea typeface="Arial"/>
                <a:cs typeface="Arial"/>
              </a:defRPr>
            </a:pPr>
            <a:r>
              <a:rPr sz="1800" b="0">
                <a:solidFill>
                  <a:srgbClr val="526479"/>
                </a:solidFill>
                <a:latin typeface="Arial"/>
                <a:ea typeface="Arial"/>
                <a:cs typeface="Arial"/>
              </a:rPr>
              <a:t>Ready retains timing from earlier gates and SWAPs when decay resets.</a:t>
            </a:r>
          </a:p>
        </p:txBody>
      </p:sp>
      <p:sp>
        <p:nvSpPr>
          <p:cNvPr id="10" name="After routing succeeds: decay = [1, 1, 1], while ready can remain [4, ">
            <a:extLst xmlns:a="http://schemas.openxmlformats.org/drawingml/2006/main">
              <a:ext uri="{FF2B5EF4-FFF2-40B4-BE49-F238E27FC236}">
                <a16:creationId xmlns:a16="http://schemas.microsoft.com/office/drawing/2014/main" id="{8938AD60-BFC3-4276-B4D8-6B37798B2175}"/>
              </a:ext>
            </a:extLst>
          </p:cNvPr>
          <p:cNvSpPr>
            <a:spLocks xmlns:a="http://schemas.openxmlformats.org/drawingml/2006/main" noGrp="1"/>
          </p:cNvSpPr>
          <p:nvPr/>
        </p:nvSpPr>
        <p:spPr>
          <a:xfrm xmlns:a="http://schemas.openxmlformats.org/drawingml/2006/main">
            <a:off x="552450" y="6038850"/>
            <a:ext cx="11087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087C69"/>
                </a:solidFill>
                <a:latin typeface="Arial"/>
                <a:ea typeface="Arial"/>
                <a:cs typeface="Arial"/>
              </a:defRPr>
            </a:defPPr>
          </a:lstStyle>
          <a:p xmlns:a="http://schemas.openxmlformats.org/drawingml/2006/main">
            <a:pPr>
              <a:defRPr sz="1800" b="0">
                <a:solidFill>
                  <a:srgbClr val="087C69"/>
                </a:solidFill>
                <a:latin typeface="Arial"/>
                <a:ea typeface="Arial"/>
                <a:cs typeface="Arial"/>
              </a:defRPr>
            </a:pPr>
            <a:r>
              <a:rPr sz="1800" b="0">
                <a:solidFill>
                  <a:srgbClr val="087C69"/>
                </a:solidFill>
                <a:latin typeface="Arial"/>
                <a:ea typeface="Arial"/>
                <a:cs typeface="Arial"/>
              </a:rPr>
              <a:t>After routing succeeds: decay = [1, 1, 1], while ready can remain [4, 5, 5].</a:t>
            </a:r>
          </a:p>
        </p:txBody>
      </p:sp>
      <p:sp>
        <p:nvSpPr>
          <p:cNvPr id="11" name="Decay is optional. The two biases can reinforce each other. Their join">
            <a:extLst xmlns:a="http://schemas.openxmlformats.org/drawingml/2006/main">
              <a:ext uri="{FF2B5EF4-FFF2-40B4-BE49-F238E27FC236}">
                <a16:creationId xmlns:a16="http://schemas.microsoft.com/office/drawing/2014/main" id="{BEBA3C28-0FE3-4450-AA2B-0E49E6FE6967}"/>
              </a:ext>
            </a:extLst>
          </p:cNvPr>
          <p:cNvSpPr>
            <a:spLocks xmlns:a="http://schemas.openxmlformats.org/drawingml/2006/main" noGrp="1"/>
          </p:cNvSpPr>
          <p:nvPr/>
        </p:nvSpPr>
        <p:spPr>
          <a:xfrm xmlns:a="http://schemas.openxmlformats.org/drawingml/2006/main">
            <a:off x="552450" y="64008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26479"/>
                </a:solidFill>
                <a:latin typeface="Arial"/>
                <a:ea typeface="Arial"/>
                <a:cs typeface="Arial"/>
              </a:defRPr>
            </a:defPPr>
          </a:lstStyle>
          <a:p xmlns:a="http://schemas.openxmlformats.org/drawingml/2006/main">
            <a:pPr>
              <a:defRPr sz="1575" b="0">
                <a:solidFill>
                  <a:srgbClr val="526479"/>
                </a:solidFill>
                <a:latin typeface="Arial"/>
                <a:ea typeface="Arial"/>
                <a:cs typeface="Arial"/>
              </a:defRPr>
            </a:pPr>
            <a:r>
              <a:rPr sz="1575" b="0">
                <a:solidFill>
                  <a:srgbClr val="526479"/>
                </a:solidFill>
                <a:latin typeface="Arial"/>
                <a:ea typeface="Arial"/>
                <a:cs typeface="Arial"/>
              </a:rPr>
              <a:t>Decay is optional. The two biases can reinforce each other. Their joint benefit needs benchmarking.</a:t>
            </a:r>
          </a:p>
        </p:txBody>
      </p:sp>
    </p:spTree>
    <p:extLst>
      <p:ext uri="{BB962C8B-B14F-4D97-AF65-F5344CB8AC3E}">
        <p14:creationId xmlns:p14="http://schemas.microsoft.com/office/powerpoint/2010/main" val="3838128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last_block and ready_undo: fusion and rollback">
            <a:extLst xmlns:a="http://schemas.openxmlformats.org/drawingml/2006/main">
              <a:ext uri="{FF2B5EF4-FFF2-40B4-BE49-F238E27FC236}">
                <a16:creationId xmlns:a16="http://schemas.microsoft.com/office/drawing/2014/main" id="{BA5587B1-1183-4438-AA27-E19BDA1AA67D}"/>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last_block and ready_undo: fusion and rollback</a:t>
            </a:r>
          </a:p>
        </p:txBody>
      </p:sp>
      <p:sp>
        <p:nvSpPr>
          <p:cNvPr id="2" name="The block history determines fusion eligibility. The undo log restores">
            <a:extLst xmlns:a="http://schemas.openxmlformats.org/drawingml/2006/main">
              <a:ext uri="{FF2B5EF4-FFF2-40B4-BE49-F238E27FC236}">
                <a16:creationId xmlns:a16="http://schemas.microsoft.com/office/drawing/2014/main" id="{3B7C264A-5291-46B9-9153-C8BC7C3E5B0E}"/>
              </a:ext>
            </a:extLst>
          </p:cNvPr>
          <p:cNvSpPr>
            <a:spLocks xmlns:a="http://schemas.openxmlformats.org/drawingml/2006/main" noGrp="1"/>
          </p:cNvSpPr>
          <p:nvPr/>
        </p:nvSpPr>
        <p:spPr>
          <a:xfrm xmlns:a="http://schemas.openxmlformats.org/drawingml/2006/main">
            <a:off x="552450" y="1028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The block history determines fusion eligibility. The undo log restores a failed SWAP search.</a:t>
            </a:r>
          </a:p>
        </p:txBody>
      </p:sp>
      <p:sp>
        <p:nvSpPr>
          <p:cNvPr id="3" name="9">
            <a:extLst xmlns:a="http://schemas.openxmlformats.org/drawingml/2006/main">
              <a:ext uri="{FF2B5EF4-FFF2-40B4-BE49-F238E27FC236}">
                <a16:creationId xmlns:a16="http://schemas.microsoft.com/office/drawing/2014/main" id="{5B32614F-B0C6-4345-9133-E86BE2D968D3}"/>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17</a:t>
            </a:r>
          </a:p>
        </p:txBody>
      </p:sp>
      <p:sp>
        <p:nvSpPr>
          <p:cNvPr id="4" name="last_block[q] = (partner, c) or None">
            <a:extLst xmlns:a="http://schemas.openxmlformats.org/drawingml/2006/main">
              <a:ext uri="{FF2B5EF4-FFF2-40B4-BE49-F238E27FC236}">
                <a16:creationId xmlns:a16="http://schemas.microsoft.com/office/drawing/2014/main" id="{9189F0CA-D511-45C6-B352-899FDE37153E}"/>
              </a:ext>
            </a:extLst>
          </p:cNvPr>
          <p:cNvSpPr>
            <a:spLocks xmlns:a="http://schemas.openxmlformats.org/drawingml/2006/main" noGrp="1"/>
          </p:cNvSpPr>
          <p:nvPr/>
        </p:nvSpPr>
        <p:spPr>
          <a:xfrm xmlns:a="http://schemas.openxmlformats.org/drawingml/2006/main">
            <a:off x="552450" y="1628775"/>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last_block[q] = (partner, c) or None</a:t>
            </a:r>
          </a:p>
        </p:txBody>
      </p:sp>
      <p:sp>
        <p:nvSpPr>
          <p:cNvPr id="5" name="q and partner are physical wire indices.&#10;c is the estimated 2q block c">
            <a:extLst xmlns:a="http://schemas.openxmlformats.org/drawingml/2006/main">
              <a:ext uri="{FF2B5EF4-FFF2-40B4-BE49-F238E27FC236}">
                <a16:creationId xmlns:a16="http://schemas.microsoft.com/office/drawing/2014/main" id="{DC9479AE-C61F-4C66-9A9C-A8E522024121}"/>
              </a:ext>
            </a:extLst>
          </p:cNvPr>
          <p:cNvSpPr>
            <a:spLocks xmlns:a="http://schemas.openxmlformats.org/drawingml/2006/main" noGrp="1"/>
          </p:cNvSpPr>
          <p:nvPr/>
        </p:nvSpPr>
        <p:spPr>
          <a:xfrm xmlns:a="http://schemas.openxmlformats.org/drawingml/2006/main">
            <a:off x="552450" y="2085975"/>
            <a:ext cx="5562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q and partner are physical wire indices.</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c is the estimated 2q block cost, capped at 3.</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Both endpoint entries must name each other.</a:t>
            </a:r>
          </a:p>
        </p:txBody>
      </p:sp>
      <p:sp>
        <p:nvSpPr>
          <p:cNvPr id="6" name="A routed 2q node updates the block.&#10;A different partner or a boundary ">
            <a:extLst xmlns:a="http://schemas.openxmlformats.org/drawingml/2006/main">
              <a:ext uri="{FF2B5EF4-FFF2-40B4-BE49-F238E27FC236}">
                <a16:creationId xmlns:a16="http://schemas.microsoft.com/office/drawing/2014/main" id="{92524CF8-EDA9-4753-A68F-05A5C91A337C}"/>
              </a:ext>
            </a:extLst>
          </p:cNvPr>
          <p:cNvSpPr>
            <a:spLocks xmlns:a="http://schemas.openxmlformats.org/drawingml/2006/main" noGrp="1"/>
          </p:cNvSpPr>
          <p:nvPr/>
        </p:nvSpPr>
        <p:spPr>
          <a:xfrm xmlns:a="http://schemas.openxmlformats.org/drawingml/2006/main">
            <a:off x="552450" y="3143250"/>
            <a:ext cx="5524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A routed 2q node updates the block.</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A different partner or a boundary breaks</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its eligibility for fusion with the next SWAP.</a:t>
            </a:r>
          </a:p>
        </p:txBody>
      </p:sp>
      <p:sp>
        <p:nvSpPr>
          <p:cNvPr id="7" name="ready_undo saves the previous state">
            <a:extLst xmlns:a="http://schemas.openxmlformats.org/drawingml/2006/main">
              <a:ext uri="{FF2B5EF4-FFF2-40B4-BE49-F238E27FC236}">
                <a16:creationId xmlns:a16="http://schemas.microsoft.com/office/drawing/2014/main" id="{25F178E4-4FA4-48C9-9555-E029EAAEA174}"/>
              </a:ext>
            </a:extLst>
          </p:cNvPr>
          <p:cNvSpPr>
            <a:spLocks xmlns:a="http://schemas.openxmlformats.org/drawingml/2006/main" noGrp="1"/>
          </p:cNvSpPr>
          <p:nvPr/>
        </p:nvSpPr>
        <p:spPr>
          <a:xfrm xmlns:a="http://schemas.openxmlformats.org/drawingml/2006/main">
            <a:off x="6457950" y="16287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87C69"/>
                </a:solidFill>
                <a:latin typeface="Arial"/>
                <a:ea typeface="Arial"/>
                <a:cs typeface="Arial"/>
              </a:defRPr>
            </a:defPPr>
          </a:lstStyle>
          <a:p xmlns:a="http://schemas.openxmlformats.org/drawingml/2006/main">
            <a:pPr>
              <a:buNone/>
              <a:defRPr sz="1950" b="1">
                <a:solidFill>
                  <a:srgbClr val="087C69"/>
                </a:solidFill>
                <a:latin typeface="Arial"/>
                <a:ea typeface="Arial"/>
                <a:cs typeface="Arial"/>
              </a:defRPr>
            </a:pPr>
            <a:r>
              <a:rPr sz="1950" b="1">
                <a:solidFill>
                  <a:srgbClr val="087C69"/>
                </a:solidFill>
                <a:latin typeface="Arial"/>
                <a:ea typeface="Arial"/>
                <a:cs typeface="Arial"/>
              </a:rPr>
              <a:t>ready_undo saves the previous state</a:t>
            </a:r>
          </a:p>
        </p:txBody>
      </p:sp>
      <p:sp>
        <p:nvSpPr>
          <p:cNvPr id="8" name="Each applied SWAP saves two snapshots:&#10;(q, old_ready, old_last_block).">
            <a:extLst xmlns:a="http://schemas.openxmlformats.org/drawingml/2006/main">
              <a:ext uri="{FF2B5EF4-FFF2-40B4-BE49-F238E27FC236}">
                <a16:creationId xmlns:a16="http://schemas.microsoft.com/office/drawing/2014/main" id="{011977A9-5DE4-4A18-89F0-617FAC37E9E5}"/>
              </a:ext>
            </a:extLst>
          </p:cNvPr>
          <p:cNvSpPr>
            <a:spLocks xmlns:a="http://schemas.openxmlformats.org/drawingml/2006/main" noGrp="1"/>
          </p:cNvSpPr>
          <p:nvPr/>
        </p:nvSpPr>
        <p:spPr>
          <a:xfrm xmlns:a="http://schemas.openxmlformats.org/drawingml/2006/main">
            <a:off x="6457950" y="2085975"/>
            <a:ext cx="5219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Each applied SWAP saves two snapshots:</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(q, old_ready, old_last_block).</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Then it clears both endpoint block entries.</a:t>
            </a:r>
          </a:p>
        </p:txBody>
      </p:sp>
      <p:sp>
        <p:nvSpPr>
          <p:cNvPr id="9" name="If the attempt limit is exceeded with no&#10;routable node, undo the attem">
            <a:extLst xmlns:a="http://schemas.openxmlformats.org/drawingml/2006/main">
              <a:ext uri="{FF2B5EF4-FFF2-40B4-BE49-F238E27FC236}">
                <a16:creationId xmlns:a16="http://schemas.microsoft.com/office/drawing/2014/main" id="{DDE76B7B-6D6C-44D1-A5BB-6400AB990EFA}"/>
              </a:ext>
            </a:extLst>
          </p:cNvPr>
          <p:cNvSpPr>
            <a:spLocks xmlns:a="http://schemas.openxmlformats.org/drawingml/2006/main" noGrp="1"/>
          </p:cNvSpPr>
          <p:nvPr/>
        </p:nvSpPr>
        <p:spPr>
          <a:xfrm xmlns:a="http://schemas.openxmlformats.org/drawingml/2006/main">
            <a:off x="6457950" y="3143250"/>
            <a:ext cx="5219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If the attempt limit is exceeded with no</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routable node, undo the attempted SWAPs</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and restore snapshots in reverse order.</a:t>
            </a:r>
          </a:p>
        </p:txBody>
      </p:sp>
      <p:sp>
        <p:nvSpPr>
          <p:cNvPr id="10" name="Example: CX(P0, P1), then SWAP(P0, P1)">
            <a:extLst xmlns:a="http://schemas.openxmlformats.org/drawingml/2006/main">
              <a:ext uri="{FF2B5EF4-FFF2-40B4-BE49-F238E27FC236}">
                <a16:creationId xmlns:a16="http://schemas.microsoft.com/office/drawing/2014/main" id="{12DC3636-B813-43AE-812D-00F444ABA53A}"/>
              </a:ext>
            </a:extLst>
          </p:cNvPr>
          <p:cNvSpPr>
            <a:spLocks xmlns:a="http://schemas.openxmlformats.org/drawingml/2006/main" noGrp="1"/>
          </p:cNvSpPr>
          <p:nvPr/>
        </p:nvSpPr>
        <p:spPr>
          <a:xfrm xmlns:a="http://schemas.openxmlformats.org/drawingml/2006/main">
            <a:off x="552450" y="4286250"/>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Example: CX(P0, P1), then SWAP(P0, P1)</a:t>
            </a:r>
          </a:p>
        </p:txBody>
      </p:sp>
      <p:sp>
        <p:nvSpPr>
          <p:cNvPr id="11" name="Saved snapshots: (P0, 1, (P1, 1)) and (P1, 1, (P0, 1)).">
            <a:extLst xmlns:a="http://schemas.openxmlformats.org/drawingml/2006/main">
              <a:ext uri="{FF2B5EF4-FFF2-40B4-BE49-F238E27FC236}">
                <a16:creationId xmlns:a16="http://schemas.microsoft.com/office/drawing/2014/main" id="{F70619E6-4646-439E-8F35-A980574B0AFA}"/>
              </a:ext>
            </a:extLst>
          </p:cNvPr>
          <p:cNvSpPr>
            <a:spLocks xmlns:a="http://schemas.openxmlformats.org/drawingml/2006/main" noGrp="1"/>
          </p:cNvSpPr>
          <p:nvPr/>
        </p:nvSpPr>
        <p:spPr>
          <a:xfrm xmlns:a="http://schemas.openxmlformats.org/drawingml/2006/main">
            <a:off x="552450" y="4695825"/>
            <a:ext cx="11087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3233D"/>
                </a:solidFill>
                <a:latin typeface="Arial"/>
                <a:ea typeface="Arial"/>
                <a:cs typeface="Arial"/>
              </a:defRPr>
            </a:defPPr>
          </a:lstStyle>
          <a:p xmlns:a="http://schemas.openxmlformats.org/drawingml/2006/main">
            <a:pPr>
              <a:buNone/>
              <a:defRPr sz="1800" b="0">
                <a:solidFill>
                  <a:srgbClr val="13233D"/>
                </a:solidFill>
                <a:latin typeface="Arial"/>
                <a:ea typeface="Arial"/>
                <a:cs typeface="Arial"/>
              </a:defRPr>
            </a:pPr>
            <a:r>
              <a:rPr sz="1800" b="0">
                <a:solidFill>
                  <a:srgbClr val="13233D"/>
                </a:solidFill>
                <a:latin typeface="Arial"/>
                <a:ea typeface="Arial"/>
                <a:cs typeface="Arial"/>
              </a:rPr>
              <a:t>Saved snapshots: (P0, 1, (P1, 1)) and (P1, 1, (P0, 1)).</a:t>
            </a:r>
          </a:p>
        </p:txBody>
      </p:sp>
      <p:graphicFrame>
        <p:nvGraphicFramePr>
          <p:cNvPr id="12" name="">
            <a:extLst xmlns:a="http://schemas.openxmlformats.org/drawingml/2006/main">
              <a:ext uri="{FF2B5EF4-FFF2-40B4-BE49-F238E27FC236}">
                <a16:creationId xmlns:a16="http://schemas.microsoft.com/office/drawing/2014/main" id="{0B530EB8-E887-41D1-B9BC-3780765A1787}"/>
              </a:ext>
            </a:extLst>
          </p:cNvPr>
          <p:cNvGraphicFramePr/>
          <p:nvPr/>
        </p:nvGraphicFramePr>
        <p:xfrm>
          <a:off xmlns:a="http://schemas.openxmlformats.org/drawingml/2006/main" x="552450" y="5133975"/>
          <a:ext xmlns:a="http://schemas.openxmlformats.org/drawingml/2006/main" cx="11087100" cy="1057275"/>
        </p:xfrm>
        <a:graphic xmlns:a="http://schemas.openxmlformats.org/drawingml/2006/main">
          <a:graphicData uri="http://schemas.openxmlformats.org/drawingml/2006/table">
            <a:tbl>
              <a:tblPr/>
              <a:tblGrid>
                <a:gridCol w="3343275"/>
                <a:gridCol w="2581275"/>
                <a:gridCol w="2581275"/>
                <a:gridCol w="2581275"/>
              </a:tblGrid>
              <a:tr h="352425">
                <a:tc>
                  <a:txBody>
                    <a:bodyPr lIns="114300" tIns="66675" rIns="95250" bIns="66675">
                      <a:noAutofit/>
                    </a:bodyPr>
                    <a:lstStyle/>
                    <a:p>
                      <a:r>
                        <a:rPr sz="1650" b="1">
                          <a:solidFill>
                            <a:srgbClr val="13233D"/>
                          </a:solidFill>
                          <a:latin typeface="Arial"/>
                          <a:ea typeface="Arial"/>
                          <a:cs typeface="Arial"/>
                        </a:rPr>
                        <a:t>State</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650" b="1">
                          <a:solidFill>
                            <a:srgbClr val="13233D"/>
                          </a:solidFill>
                          <a:latin typeface="Arial"/>
                          <a:ea typeface="Arial"/>
                          <a:cs typeface="Arial"/>
                        </a:rPr>
                        <a:t>Before SWAP</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650" b="1">
                          <a:solidFill>
                            <a:srgbClr val="13233D"/>
                          </a:solidFill>
                          <a:latin typeface="Arial"/>
                          <a:ea typeface="Arial"/>
                          <a:cs typeface="Arial"/>
                        </a:rPr>
                        <a:t>After SWAP</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66675" rIns="95250" bIns="66675">
                      <a:noAutofit/>
                    </a:bodyPr>
                    <a:lstStyle/>
                    <a:p>
                      <a:r>
                        <a:rPr sz="1650" b="1">
                          <a:solidFill>
                            <a:srgbClr val="13233D"/>
                          </a:solidFill>
                          <a:latin typeface="Arial"/>
                          <a:ea typeface="Arial"/>
                          <a:cs typeface="Arial"/>
                        </a:rPr>
                        <a:t>If search rolls back</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352425">
                <a:tc>
                  <a:txBody>
                    <a:bodyPr lIns="114300" tIns="66675" rIns="95250" bIns="66675">
                      <a:noAutofit/>
                    </a:bodyPr>
                    <a:lstStyle/>
                    <a:p>
                      <a:r>
                        <a:rPr sz="1650" b="0">
                          <a:solidFill>
                            <a:srgbClr val="526479"/>
                          </a:solidFill>
                          <a:latin typeface="Arial"/>
                          <a:ea typeface="Arial"/>
                          <a:cs typeface="Arial"/>
                        </a:rPr>
                        <a:t>ready[0], ready[1]</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1, 1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4, 4</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1, 1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352425">
                <a:tc>
                  <a:txBody>
                    <a:bodyPr lIns="114300" tIns="66675" rIns="95250" bIns="66675">
                      <a:noAutofit/>
                    </a:bodyPr>
                    <a:lstStyle/>
                    <a:p>
                      <a:r>
                        <a:rPr sz="1650" b="0">
                          <a:solidFill>
                            <a:srgbClr val="526479"/>
                          </a:solidFill>
                          <a:latin typeface="Arial"/>
                          <a:ea typeface="Arial"/>
                          <a:cs typeface="Arial"/>
                        </a:rPr>
                        <a:t>last_block[0], last_block[1]</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(1, 1), (0,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None, 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66675" rIns="95250" bIns="66675">
                      <a:noAutofit/>
                    </a:bodyPr>
                    <a:lstStyle/>
                    <a:p>
                      <a:r>
                        <a:rPr sz="1650" b="0">
                          <a:solidFill>
                            <a:srgbClr val="526479"/>
                          </a:solidFill>
                          <a:latin typeface="Arial"/>
                          <a:ea typeface="Arial"/>
                          <a:cs typeface="Arial"/>
                        </a:rPr>
                        <a:t>(1, 1), (0,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13" name="The log clears at the next search episode. Fallback routing starts fro">
            <a:extLst xmlns:a="http://schemas.openxmlformats.org/drawingml/2006/main">
              <a:ext uri="{FF2B5EF4-FFF2-40B4-BE49-F238E27FC236}">
                <a16:creationId xmlns:a16="http://schemas.microsoft.com/office/drawing/2014/main" id="{FBC31166-B606-48D1-9BB6-BDBAB5F030CA}"/>
              </a:ext>
            </a:extLst>
          </p:cNvPr>
          <p:cNvSpPr>
            <a:spLocks xmlns:a="http://schemas.openxmlformats.org/drawingml/2006/main" noGrp="1"/>
          </p:cNvSpPr>
          <p:nvPr/>
        </p:nvSpPr>
        <p:spPr>
          <a:xfrm xmlns:a="http://schemas.openxmlformats.org/drawingml/2006/main">
            <a:off x="552450" y="6334125"/>
            <a:ext cx="1076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The log clears at the next search episode. Fallback routing starts from the restored state.</a:t>
            </a:r>
          </a:p>
        </p:txBody>
      </p:sp>
    </p:spTree>
    <p:extLst>
      <p:ext uri="{BB962C8B-B14F-4D97-AF65-F5344CB8AC3E}">
        <p14:creationId xmlns:p14="http://schemas.microsoft.com/office/powerpoint/2010/main" val="17295879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w metadata and routing state">
            <a:extLst xmlns:a="http://schemas.openxmlformats.org/drawingml/2006/main">
              <a:ext uri="{FF2B5EF4-FFF2-40B4-BE49-F238E27FC236}">
                <a16:creationId xmlns:a16="http://schemas.microsoft.com/office/drawing/2014/main" id="{507B6738-20C4-403D-A2B5-935AB01B648A}"/>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New metadata and routing state</a:t>
            </a:r>
          </a:p>
        </p:txBody>
      </p:sp>
      <p:sp>
        <p:nvSpPr>
          <p:cNvPr id="2" name="Existing node indices, interaction kind, layout, distance layers, and ">
            <a:extLst xmlns:a="http://schemas.openxmlformats.org/drawingml/2006/main">
              <a:ext uri="{FF2B5EF4-FFF2-40B4-BE49-F238E27FC236}">
                <a16:creationId xmlns:a16="http://schemas.microsoft.com/office/drawing/2014/main" id="{2AF4ABAC-7146-4306-AFCB-EF491AB6F501}"/>
              </a:ext>
            </a:extLst>
          </p:cNvPr>
          <p:cNvSpPr>
            <a:spLocks xmlns:a="http://schemas.openxmlformats.org/drawingml/2006/main" noGrp="1"/>
          </p:cNvSpPr>
          <p:nvPr/>
        </p:nvSpPr>
        <p:spPr>
          <a:xfrm xmlns:a="http://schemas.openxmlformats.org/drawingml/2006/main">
            <a:off x="552450" y="10287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Existing node indices, interaction kind, layout, distance layers, and decay remain in place.</a:t>
            </a:r>
          </a:p>
        </p:txBody>
      </p:sp>
      <p:sp>
        <p:nvSpPr>
          <p:cNvPr id="3" name="4">
            <a:extLst xmlns:a="http://schemas.openxmlformats.org/drawingml/2006/main">
              <a:ext uri="{FF2B5EF4-FFF2-40B4-BE49-F238E27FC236}">
                <a16:creationId xmlns:a16="http://schemas.microsoft.com/office/drawing/2014/main" id="{B06A70A2-BD73-4411-8784-57354174D5D0}"/>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F86B545F-5AD1-41B2-B4EF-DFEC06F5A4C8}"/>
              </a:ext>
            </a:extLst>
          </p:cNvPr>
          <p:cNvGraphicFramePr/>
          <p:nvPr/>
        </p:nvGraphicFramePr>
        <p:xfrm>
          <a:off xmlns:a="http://schemas.openxmlformats.org/drawingml/2006/main" x="552450" y="1571625"/>
          <a:ext xmlns:a="http://schemas.openxmlformats.org/drawingml/2006/main" cx="11096625" cy="2476500"/>
        </p:xfrm>
        <a:graphic xmlns:a="http://schemas.openxmlformats.org/drawingml/2006/main">
          <a:graphicData uri="http://schemas.openxmlformats.org/drawingml/2006/table">
            <a:tbl>
              <a:tblPr/>
              <a:tblGrid>
                <a:gridCol w="5429250"/>
                <a:gridCol w="5667375"/>
              </a:tblGrid>
              <a:tr h="495300">
                <a:tc>
                  <a:txBody>
                    <a:bodyPr lIns="114300" tIns="95250" rIns="95250" bIns="76200">
                      <a:noAutofit/>
                    </a:bodyPr>
                    <a:lstStyle/>
                    <a:p>
                      <a:r>
                        <a:rPr sz="1800" b="1">
                          <a:solidFill>
                            <a:srgbClr val="13233D"/>
                          </a:solidFill>
                          <a:latin typeface="Arial"/>
                          <a:ea typeface="Arial"/>
                          <a:cs typeface="Arial"/>
                        </a:rPr>
                        <a:t>Added field</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95250" rIns="95250" bIns="76200">
                      <a:noAutofit/>
                    </a:bodyPr>
                    <a:lstStyle/>
                    <a:p>
                      <a:r>
                        <a:rPr sz="1800" b="1">
                          <a:solidFill>
                            <a:srgbClr val="13233D"/>
                          </a:solidFill>
                          <a:latin typeface="Arial"/>
                          <a:ea typeface="Arial"/>
                          <a:cs typeface="Arial"/>
                        </a:rPr>
                        <a:t>Meaning and initialization</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495300">
                <a:tc>
                  <a:txBody>
                    <a:bodyPr lIns="114300" tIns="95250" rIns="95250" bIns="76200">
                      <a:noAutofit/>
                    </a:bodyPr>
                    <a:lstStyle/>
                    <a:p>
                      <a:r>
                        <a:rPr sz="1800" b="0">
                          <a:solidFill>
                            <a:srgbClr val="526479"/>
                          </a:solidFill>
                          <a:latin typeface="Arial"/>
                          <a:ea typeface="Arial"/>
                          <a:cs typeface="Arial"/>
                        </a:rPr>
                        <a:t>SabreNode.block: Option&lt;u8&gt;</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Node contribution: Some(0..3), or None for a boundary</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95300">
                <a:tc>
                  <a:txBody>
                    <a:bodyPr lIns="114300" tIns="95250" rIns="95250" bIns="76200">
                      <a:noAutofit/>
                    </a:bodyPr>
                    <a:lstStyle/>
                    <a:p>
                      <a:r>
                        <a:rPr sz="1800" b="0">
                          <a:solidFill>
                            <a:srgbClr val="526479"/>
                          </a:solidFill>
                          <a:latin typeface="Arial"/>
                          <a:ea typeface="Arial"/>
                          <a:cs typeface="Arial"/>
                        </a:rPr>
                        <a:t>State.ready[q]: u32</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Physical wire’s available time, initially 0</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95300">
                <a:tc>
                  <a:txBody>
                    <a:bodyPr lIns="114300" tIns="95250" rIns="95250" bIns="76200">
                      <a:noAutofit/>
                    </a:bodyPr>
                    <a:lstStyle/>
                    <a:p>
                      <a:r>
                        <a:rPr sz="1800" b="0">
                          <a:solidFill>
                            <a:srgbClr val="526479"/>
                          </a:solidFill>
                          <a:latin typeface="Arial"/>
                          <a:ea typeface="Arial"/>
                          <a:cs typeface="Arial"/>
                        </a:rPr>
                        <a:t>State.last_block[q]: Option&lt;(partner, c)&gt;</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Most recent pair and cost, initially None</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95300">
                <a:tc>
                  <a:txBody>
                    <a:bodyPr lIns="114300" tIns="95250" rIns="95250" bIns="76200">
                      <a:noAutofit/>
                    </a:bodyPr>
                    <a:lstStyle/>
                    <a:p>
                      <a:r>
                        <a:rPr sz="1800" b="0">
                          <a:solidFill>
                            <a:srgbClr val="526479"/>
                          </a:solidFill>
                          <a:latin typeface="Arial"/>
                          <a:ea typeface="Arial"/>
                          <a:cs typeface="Arial"/>
                        </a:rPr>
                        <a:t>State.ready_undo: Vec&lt;(q, time, block)&gt;</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Previous endpoint values, initially empty</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5" name="Build time">
            <a:extLst xmlns:a="http://schemas.openxmlformats.org/drawingml/2006/main">
              <a:ext uri="{FF2B5EF4-FFF2-40B4-BE49-F238E27FC236}">
                <a16:creationId xmlns:a16="http://schemas.microsoft.com/office/drawing/2014/main" id="{4E1ED95E-E1BD-4B22-BDF8-F37896C20779}"/>
              </a:ext>
            </a:extLst>
          </p:cNvPr>
          <p:cNvSpPr>
            <a:spLocks xmlns:a="http://schemas.openxmlformats.org/drawingml/2006/main" noGrp="1"/>
          </p:cNvSpPr>
          <p:nvPr/>
        </p:nvSpPr>
        <p:spPr>
          <a:xfrm xmlns:a="http://schemas.openxmlformats.org/drawingml/2006/main">
            <a:off x="552450" y="42957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Build time</a:t>
            </a:r>
          </a:p>
        </p:txBody>
      </p:sp>
      <p:sp>
        <p:nvSpPr>
          <p:cNvPr id="6" name="CX / CY / CZ / ECR: 1    Other 2q: 3    1q: 0    Boundaries: None">
            <a:extLst xmlns:a="http://schemas.openxmlformats.org/drawingml/2006/main">
              <a:ext uri="{FF2B5EF4-FFF2-40B4-BE49-F238E27FC236}">
                <a16:creationId xmlns:a16="http://schemas.microsoft.com/office/drawing/2014/main" id="{8C799885-6EA0-449F-BD7C-AF2DD84A844A}"/>
              </a:ext>
            </a:extLst>
          </p:cNvPr>
          <p:cNvSpPr>
            <a:spLocks xmlns:a="http://schemas.openxmlformats.org/drawingml/2006/main" noGrp="1"/>
          </p:cNvSpPr>
          <p:nvPr/>
        </p:nvSpPr>
        <p:spPr>
          <a:xfrm xmlns:a="http://schemas.openxmlformats.org/drawingml/2006/main">
            <a:off x="2305050" y="430530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3233D"/>
                </a:solidFill>
                <a:latin typeface="Arial"/>
                <a:ea typeface="Arial"/>
                <a:cs typeface="Arial"/>
              </a:defRPr>
            </a:defPPr>
          </a:lstStyle>
          <a:p xmlns:a="http://schemas.openxmlformats.org/drawingml/2006/main">
            <a:pPr>
              <a:buNone/>
              <a:defRPr sz="1800" b="0">
                <a:solidFill>
                  <a:srgbClr val="13233D"/>
                </a:solidFill>
                <a:latin typeface="Arial"/>
                <a:ea typeface="Arial"/>
                <a:cs typeface="Arial"/>
              </a:defRPr>
            </a:pPr>
            <a:r>
              <a:rPr sz="1800" b="0">
                <a:solidFill>
                  <a:srgbClr val="13233D"/>
                </a:solidFill>
                <a:latin typeface="Arial"/>
                <a:ea typeface="Arial"/>
                <a:cs typeface="Arial"/>
              </a:rPr>
              <a:t>CX / CY / CZ / ECR: 1    Other 2q: 3    1q: 0    Boundaries: None</a:t>
            </a:r>
          </a:p>
        </p:txBody>
      </p:sp>
      <p:sp>
        <p:nvSpPr>
          <p:cNvPr id="7" name="Fold existing node contributions with min(3, sum). Any None makes node">
            <a:extLst xmlns:a="http://schemas.openxmlformats.org/drawingml/2006/main">
              <a:ext uri="{FF2B5EF4-FFF2-40B4-BE49-F238E27FC236}">
                <a16:creationId xmlns:a16="http://schemas.microsoft.com/office/drawing/2014/main" id="{C5FE6ED5-B023-47F8-9E91-E163FCD68787}"/>
              </a:ext>
            </a:extLst>
          </p:cNvPr>
          <p:cNvSpPr>
            <a:spLocks xmlns:a="http://schemas.openxmlformats.org/drawingml/2006/main" noGrp="1"/>
          </p:cNvSpPr>
          <p:nvPr/>
        </p:nvSpPr>
        <p:spPr>
          <a:xfrm xmlns:a="http://schemas.openxmlformats.org/drawingml/2006/main">
            <a:off x="552450" y="4705350"/>
            <a:ext cx="11029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Fold existing node contributions with min(3, sum). Any None makes node.block None.</a:t>
            </a:r>
          </a:p>
        </p:txBody>
      </p:sp>
      <p:pic>
        <p:nvPicPr>
          <p:cNvPr id="8" name="">
            <a:extLst xmlns:a="http://schemas.openxmlformats.org/drawingml/2006/main">
              <a:ext uri="{FF2B5EF4-FFF2-40B4-BE49-F238E27FC236}">
                <a16:creationId xmlns:a16="http://schemas.microsoft.com/office/drawing/2014/main" id="{DADA1F17-0976-4E6A-97B6-4531906FC8B1}"/>
              </a:ext>
            </a:extLst>
          </p:cNvPr>
          <p:cNvPicPr>
            <a:picLocks xmlns:a="http://schemas.openxmlformats.org/drawingml/2006/main" noChangeAspect="1"/>
          </p:cNvPicPr>
          <p:nvPr/>
        </p:nvPicPr>
        <p:blipFill>
          <a:blip xmlns:r="http://schemas.openxmlformats.org/officeDocument/2006/relationships" xmlns:a="http://schemas.openxmlformats.org/drawingml/2006/main" r:embed="Race7041300b646a4">
            <a:extLst>
              <a:ext uri="{96DAC541-7B7A-43D3-8B79-37D633B846F1}">
                <asvg:svgBlip xmlns:asvg="http://schemas.microsoft.com/office/drawing/2016/SVG/main" r:embed="R0559ef010cfb4d9f"/>
              </a:ext>
            </a:extLst>
          </a:blip>
          <a:stretch xmlns:a="http://schemas.openxmlformats.org/drawingml/2006/main"/>
        </p:blipFill>
        <p:spPr>
          <a:xfrm xmlns:a="http://schemas.openxmlformats.org/drawingml/2006/main">
            <a:off x="552450" y="5295900"/>
            <a:ext cx="11096625" cy="1219200"/>
          </a:xfrm>
          <a:prstGeom xmlns:a="http://schemas.openxmlformats.org/drawingml/2006/main" prst="rect">
            <a:avLst/>
          </a:prstGeom>
        </p:spPr>
      </p:pic>
    </p:spTree>
    <p:extLst>
      <p:ext uri="{BB962C8B-B14F-4D97-AF65-F5344CB8AC3E}">
        <p14:creationId xmlns:p14="http://schemas.microsoft.com/office/powerpoint/2010/main" val="86121288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New candidate score">
            <a:extLst xmlns:a="http://schemas.openxmlformats.org/drawingml/2006/main">
              <a:ext uri="{FF2B5EF4-FFF2-40B4-BE49-F238E27FC236}">
                <a16:creationId xmlns:a16="http://schemas.microsoft.com/office/drawing/2014/main" id="{938EB947-7438-43A9-A96D-4F22F85F5D1F}"/>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New candidate score</a:t>
            </a:r>
          </a:p>
        </p:txBody>
      </p:sp>
      <p:sp>
        <p:nvSpPr>
          <p:cNvPr id="2" name="For candidate s = (a,b), smaller scores still win. The basic component">
            <a:extLst xmlns:a="http://schemas.openxmlformats.org/drawingml/2006/main">
              <a:ext uri="{FF2B5EF4-FFF2-40B4-BE49-F238E27FC236}">
                <a16:creationId xmlns:a16="http://schemas.microsoft.com/office/drawing/2014/main" id="{FB4A3597-2CD0-4177-B6F9-7739F16CCDBB}"/>
              </a:ext>
            </a:extLst>
          </p:cNvPr>
          <p:cNvSpPr>
            <a:spLocks xmlns:a="http://schemas.openxmlformats.org/drawingml/2006/main" noGrp="1"/>
          </p:cNvSpPr>
          <p:nvPr/>
        </p:nvSpPr>
        <p:spPr>
          <a:xfrm xmlns:a="http://schemas.openxmlformats.org/drawingml/2006/main">
            <a:off x="552450" y="10287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For candidate s = (a,b), smaller scores still win. The basic component is enabled below.</a:t>
            </a:r>
          </a:p>
        </p:txBody>
      </p:sp>
      <p:sp>
        <p:nvSpPr>
          <p:cNvPr id="3" name="5">
            <a:extLst xmlns:a="http://schemas.openxmlformats.org/drawingml/2006/main">
              <a:ext uri="{FF2B5EF4-FFF2-40B4-BE49-F238E27FC236}">
                <a16:creationId xmlns:a16="http://schemas.microsoft.com/office/drawing/2014/main" id="{2C287B2C-8717-4B9E-9C67-B3B174C95382}"/>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19</a:t>
            </a:r>
          </a:p>
        </p:txBody>
      </p:sp>
      <p:sp>
        <p:nvSpPr>
          <p:cNvPr id="4" name="Fusion changes the weighted distance term">
            <a:extLst xmlns:a="http://schemas.openxmlformats.org/drawingml/2006/main">
              <a:ext uri="{FF2B5EF4-FFF2-40B4-BE49-F238E27FC236}">
                <a16:creationId xmlns:a16="http://schemas.microsoft.com/office/drawing/2014/main" id="{51AC2BB8-27AB-4A45-8717-1EE53DE386E9}"/>
              </a:ext>
            </a:extLst>
          </p:cNvPr>
          <p:cNvSpPr>
            <a:spLocks xmlns:a="http://schemas.openxmlformats.org/drawingml/2006/main" noGrp="1"/>
          </p:cNvSpPr>
          <p:nvPr/>
        </p:nvSpPr>
        <p:spPr>
          <a:xfrm xmlns:a="http://schemas.openxmlformats.org/drawingml/2006/main">
            <a:off x="552450" y="1600200"/>
            <a:ext cx="1090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87C69"/>
                </a:solidFill>
                <a:latin typeface="Arial"/>
                <a:ea typeface="Arial"/>
                <a:cs typeface="Arial"/>
              </a:defRPr>
            </a:defPPr>
          </a:lstStyle>
          <a:p xmlns:a="http://schemas.openxmlformats.org/drawingml/2006/main">
            <a:pPr>
              <a:buNone/>
              <a:defRPr sz="1950" b="1">
                <a:solidFill>
                  <a:srgbClr val="087C69"/>
                </a:solidFill>
                <a:latin typeface="Arial"/>
                <a:ea typeface="Arial"/>
                <a:cs typeface="Arial"/>
              </a:defRPr>
            </a:pPr>
            <a:r>
              <a:rPr sz="1950" b="1">
                <a:solidFill>
                  <a:srgbClr val="087C69"/>
                </a:solidFill>
                <a:latin typeface="Arial"/>
                <a:ea typeface="Arial"/>
                <a:cs typeface="Arial"/>
              </a:rPr>
              <a:t>Fusion changes the weighted distance term</a:t>
            </a:r>
          </a:p>
        </p:txBody>
      </p:sp>
      <p:sp>
        <p:nvSpPr>
          <p:cNvPr id="5" name="U(s) = α [Δ">
            <a:extLst xmlns:a="http://schemas.openxmlformats.org/drawingml/2006/main">
              <a:ext uri="{FF2B5EF4-FFF2-40B4-BE49-F238E27FC236}">
                <a16:creationId xmlns:a16="http://schemas.microsoft.com/office/drawing/2014/main" id="{0A7EA20A-AC13-4A80-848B-FA28F9E94606}"/>
              </a:ext>
            </a:extLst>
          </p:cNvPr>
          <p:cNvSpPr>
            <a:spLocks xmlns:a="http://schemas.openxmlformats.org/drawingml/2006/main" noGrp="1"/>
          </p:cNvSpPr>
          <p:nvPr/>
        </p:nvSpPr>
        <p:spPr>
          <a:xfrm xmlns:a="http://schemas.openxmlformats.org/drawingml/2006/main">
            <a:off x="552450" y="2038350"/>
            <a:ext cx="1805178"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13233D"/>
                </a:solidFill>
                <a:latin typeface="Arial"/>
                <a:ea typeface="Arial"/>
                <a:cs typeface="Arial"/>
              </a:defRPr>
            </a:defPPr>
          </a:lstStyle>
          <a:p xmlns:a="http://schemas.openxmlformats.org/drawingml/2006/main">
            <a:pPr>
              <a:buNone/>
              <a:defRPr sz="2850" b="0">
                <a:solidFill>
                  <a:srgbClr val="13233D"/>
                </a:solidFill>
                <a:latin typeface="Arial"/>
                <a:ea typeface="Arial"/>
                <a:cs typeface="Arial"/>
              </a:defRPr>
            </a:pPr>
            <a:r>
              <a:rPr sz="2850" b="0">
                <a:solidFill>
                  <a:srgbClr val="13233D"/>
                </a:solidFill>
                <a:latin typeface="Arial"/>
                <a:ea typeface="Arial"/>
                <a:cs typeface="Arial"/>
              </a:rPr>
              <a:t>U(s) = α [Δ</a:t>
            </a:r>
          </a:p>
        </p:txBody>
      </p:sp>
      <p:sp>
        <p:nvSpPr>
          <p:cNvPr id="6" name="F">
            <a:extLst xmlns:a="http://schemas.openxmlformats.org/drawingml/2006/main">
              <a:ext uri="{FF2B5EF4-FFF2-40B4-BE49-F238E27FC236}">
                <a16:creationId xmlns:a16="http://schemas.microsoft.com/office/drawing/2014/main" id="{E159F027-9CC0-4DD4-B083-F95D8090C6E4}"/>
              </a:ext>
            </a:extLst>
          </p:cNvPr>
          <p:cNvSpPr>
            <a:spLocks xmlns:a="http://schemas.openxmlformats.org/drawingml/2006/main" noGrp="1"/>
          </p:cNvSpPr>
          <p:nvPr/>
        </p:nvSpPr>
        <p:spPr>
          <a:xfrm xmlns:a="http://schemas.openxmlformats.org/drawingml/2006/main">
            <a:off x="2319528" y="2193989"/>
            <a:ext cx="198596"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24" b="0">
                <a:solidFill>
                  <a:srgbClr val="13233D"/>
                </a:solidFill>
                <a:latin typeface="Arial"/>
                <a:ea typeface="Arial"/>
                <a:cs typeface="Arial"/>
              </a:defRPr>
            </a:defPPr>
          </a:lstStyle>
          <a:p xmlns:a="http://schemas.openxmlformats.org/drawingml/2006/main">
            <a:pPr>
              <a:buNone/>
              <a:defRPr sz="1824" b="0">
                <a:solidFill>
                  <a:srgbClr val="13233D"/>
                </a:solidFill>
                <a:latin typeface="Arial"/>
                <a:ea typeface="Arial"/>
                <a:cs typeface="Arial"/>
              </a:defRPr>
            </a:pPr>
            <a:r>
              <a:rPr sz="1824" b="0">
                <a:solidFill>
                  <a:srgbClr val="13233D"/>
                </a:solidFill>
                <a:latin typeface="Arial"/>
                <a:ea typeface="Arial"/>
                <a:cs typeface="Arial"/>
              </a:rPr>
              <a:t>F</a:t>
            </a:r>
          </a:p>
        </p:txBody>
      </p:sp>
      <p:sp>
        <p:nvSpPr>
          <p:cNvPr id="7" name="(s) + C(s)] + Σ">
            <a:extLst xmlns:a="http://schemas.openxmlformats.org/drawingml/2006/main">
              <a:ext uri="{FF2B5EF4-FFF2-40B4-BE49-F238E27FC236}">
                <a16:creationId xmlns:a16="http://schemas.microsoft.com/office/drawing/2014/main" id="{3D92C4E1-0033-4052-9740-5DD42AD9B09F}"/>
              </a:ext>
            </a:extLst>
          </p:cNvPr>
          <p:cNvSpPr>
            <a:spLocks xmlns:a="http://schemas.openxmlformats.org/drawingml/2006/main" noGrp="1"/>
          </p:cNvSpPr>
          <p:nvPr/>
        </p:nvSpPr>
        <p:spPr>
          <a:xfrm xmlns:a="http://schemas.openxmlformats.org/drawingml/2006/main">
            <a:off x="2480024" y="2038350"/>
            <a:ext cx="2311908"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13233D"/>
                </a:solidFill>
                <a:latin typeface="Arial"/>
                <a:ea typeface="Arial"/>
                <a:cs typeface="Arial"/>
              </a:defRPr>
            </a:defPPr>
          </a:lstStyle>
          <a:p xmlns:a="http://schemas.openxmlformats.org/drawingml/2006/main">
            <a:pPr>
              <a:buNone/>
              <a:defRPr sz="2850" b="0">
                <a:solidFill>
                  <a:srgbClr val="13233D"/>
                </a:solidFill>
                <a:latin typeface="Arial"/>
                <a:ea typeface="Arial"/>
                <a:cs typeface="Arial"/>
              </a:defRPr>
            </a:pPr>
            <a:r>
              <a:rPr sz="2850" b="0">
                <a:solidFill>
                  <a:srgbClr val="13233D"/>
                </a:solidFill>
                <a:latin typeface="Arial"/>
                <a:ea typeface="Arial"/>
                <a:cs typeface="Arial"/>
              </a:rPr>
              <a:t>(s) + C(s)] + Σ</a:t>
            </a:r>
          </a:p>
        </p:txBody>
      </p:sp>
      <p:sp>
        <p:nvSpPr>
          <p:cNvPr id="8" name="ℓ">
            <a:extLst xmlns:a="http://schemas.openxmlformats.org/drawingml/2006/main">
              <a:ext uri="{FF2B5EF4-FFF2-40B4-BE49-F238E27FC236}">
                <a16:creationId xmlns:a16="http://schemas.microsoft.com/office/drawing/2014/main" id="{5D3016EA-C059-4E7A-94DC-EDF2CF2E4A22}"/>
              </a:ext>
            </a:extLst>
          </p:cNvPr>
          <p:cNvSpPr>
            <a:spLocks xmlns:a="http://schemas.openxmlformats.org/drawingml/2006/main" noGrp="1"/>
          </p:cNvSpPr>
          <p:nvPr/>
        </p:nvSpPr>
        <p:spPr>
          <a:xfrm xmlns:a="http://schemas.openxmlformats.org/drawingml/2006/main">
            <a:off x="4753832" y="2193989"/>
            <a:ext cx="132017"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24" b="0">
                <a:solidFill>
                  <a:srgbClr val="13233D"/>
                </a:solidFill>
                <a:latin typeface="Arial"/>
                <a:ea typeface="Arial"/>
                <a:cs typeface="Arial"/>
              </a:defRPr>
            </a:defPPr>
          </a:lstStyle>
          <a:p xmlns:a="http://schemas.openxmlformats.org/drawingml/2006/main">
            <a:pPr>
              <a:buNone/>
              <a:defRPr sz="1824" b="0">
                <a:solidFill>
                  <a:srgbClr val="13233D"/>
                </a:solidFill>
                <a:latin typeface="Arial"/>
                <a:ea typeface="Arial"/>
                <a:cs typeface="Arial"/>
              </a:defRPr>
            </a:pPr>
            <a:r>
              <a:rPr sz="1824" b="0">
                <a:solidFill>
                  <a:srgbClr val="13233D"/>
                </a:solidFill>
                <a:latin typeface="Arial"/>
                <a:ea typeface="Arial"/>
                <a:cs typeface="Arial"/>
              </a:rPr>
              <a:t>ℓ</a:t>
            </a:r>
          </a:p>
        </p:txBody>
      </p:sp>
      <p:sp>
        <p:nvSpPr>
          <p:cNvPr id="9" name=" β">
            <a:extLst xmlns:a="http://schemas.openxmlformats.org/drawingml/2006/main">
              <a:ext uri="{FF2B5EF4-FFF2-40B4-BE49-F238E27FC236}">
                <a16:creationId xmlns:a16="http://schemas.microsoft.com/office/drawing/2014/main" id="{5658F8C5-2C0A-468C-83B3-FCC4338D7922}"/>
              </a:ext>
            </a:extLst>
          </p:cNvPr>
          <p:cNvSpPr>
            <a:spLocks xmlns:a="http://schemas.openxmlformats.org/drawingml/2006/main" noGrp="1"/>
          </p:cNvSpPr>
          <p:nvPr/>
        </p:nvSpPr>
        <p:spPr>
          <a:xfrm xmlns:a="http://schemas.openxmlformats.org/drawingml/2006/main">
            <a:off x="4847749" y="2038350"/>
            <a:ext cx="365950"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13233D"/>
                </a:solidFill>
                <a:latin typeface="Arial"/>
                <a:ea typeface="Arial"/>
                <a:cs typeface="Arial"/>
              </a:defRPr>
            </a:defPPr>
          </a:lstStyle>
          <a:p xmlns:a="http://schemas.openxmlformats.org/drawingml/2006/main">
            <a:pPr>
              <a:buNone/>
              <a:defRPr sz="2850" b="0">
                <a:solidFill>
                  <a:srgbClr val="13233D"/>
                </a:solidFill>
                <a:latin typeface="Arial"/>
                <a:ea typeface="Arial"/>
                <a:cs typeface="Arial"/>
              </a:defRPr>
            </a:pPr>
            <a:r>
              <a:rPr sz="2850" b="0">
                <a:solidFill>
                  <a:srgbClr val="13233D"/>
                </a:solidFill>
                <a:latin typeface="Arial"/>
                <a:ea typeface="Arial"/>
                <a:cs typeface="Arial"/>
              </a:rPr>
              <a:t> β</a:t>
            </a:r>
          </a:p>
        </p:txBody>
      </p:sp>
      <p:sp>
        <p:nvSpPr>
          <p:cNvPr id="10" name="ℓ">
            <a:extLst xmlns:a="http://schemas.openxmlformats.org/drawingml/2006/main">
              <a:ext uri="{FF2B5EF4-FFF2-40B4-BE49-F238E27FC236}">
                <a16:creationId xmlns:a16="http://schemas.microsoft.com/office/drawing/2014/main" id="{458C029B-A8C5-42B8-81D3-47BC0D7C764C}"/>
              </a:ext>
            </a:extLst>
          </p:cNvPr>
          <p:cNvSpPr>
            <a:spLocks xmlns:a="http://schemas.openxmlformats.org/drawingml/2006/main" noGrp="1"/>
          </p:cNvSpPr>
          <p:nvPr/>
        </p:nvSpPr>
        <p:spPr>
          <a:xfrm xmlns:a="http://schemas.openxmlformats.org/drawingml/2006/main">
            <a:off x="5175599" y="2193989"/>
            <a:ext cx="132017"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24" b="0">
                <a:solidFill>
                  <a:srgbClr val="13233D"/>
                </a:solidFill>
                <a:latin typeface="Arial"/>
                <a:ea typeface="Arial"/>
                <a:cs typeface="Arial"/>
              </a:defRPr>
            </a:defPPr>
          </a:lstStyle>
          <a:p xmlns:a="http://schemas.openxmlformats.org/drawingml/2006/main">
            <a:pPr>
              <a:buNone/>
              <a:defRPr sz="1824" b="0">
                <a:solidFill>
                  <a:srgbClr val="13233D"/>
                </a:solidFill>
                <a:latin typeface="Arial"/>
                <a:ea typeface="Arial"/>
                <a:cs typeface="Arial"/>
              </a:defRPr>
            </a:pPr>
            <a:r>
              <a:rPr sz="1824" b="0">
                <a:solidFill>
                  <a:srgbClr val="13233D"/>
                </a:solidFill>
                <a:latin typeface="Arial"/>
                <a:ea typeface="Arial"/>
                <a:cs typeface="Arial"/>
              </a:rPr>
              <a:t>ℓ</a:t>
            </a:r>
          </a:p>
        </p:txBody>
      </p:sp>
      <p:sp>
        <p:nvSpPr>
          <p:cNvPr id="11" name=" Δ">
            <a:extLst xmlns:a="http://schemas.openxmlformats.org/drawingml/2006/main">
              <a:ext uri="{FF2B5EF4-FFF2-40B4-BE49-F238E27FC236}">
                <a16:creationId xmlns:a16="http://schemas.microsoft.com/office/drawing/2014/main" id="{37AA51FD-0808-4232-B63F-25F6E5654149}"/>
              </a:ext>
            </a:extLst>
          </p:cNvPr>
          <p:cNvSpPr>
            <a:spLocks xmlns:a="http://schemas.openxmlformats.org/drawingml/2006/main" noGrp="1"/>
          </p:cNvSpPr>
          <p:nvPr/>
        </p:nvSpPr>
        <p:spPr>
          <a:xfrm xmlns:a="http://schemas.openxmlformats.org/drawingml/2006/main">
            <a:off x="5269516" y="2038350"/>
            <a:ext cx="379476"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13233D"/>
                </a:solidFill>
                <a:latin typeface="Arial"/>
                <a:ea typeface="Arial"/>
                <a:cs typeface="Arial"/>
              </a:defRPr>
            </a:defPPr>
          </a:lstStyle>
          <a:p xmlns:a="http://schemas.openxmlformats.org/drawingml/2006/main">
            <a:pPr>
              <a:buNone/>
              <a:defRPr sz="2850" b="0">
                <a:solidFill>
                  <a:srgbClr val="13233D"/>
                </a:solidFill>
                <a:latin typeface="Arial"/>
                <a:ea typeface="Arial"/>
                <a:cs typeface="Arial"/>
              </a:defRPr>
            </a:pPr>
            <a:r>
              <a:rPr sz="2850" b="0">
                <a:solidFill>
                  <a:srgbClr val="13233D"/>
                </a:solidFill>
                <a:latin typeface="Arial"/>
                <a:ea typeface="Arial"/>
                <a:cs typeface="Arial"/>
              </a:rPr>
              <a:t> Δ</a:t>
            </a:r>
          </a:p>
        </p:txBody>
      </p:sp>
      <p:sp>
        <p:nvSpPr>
          <p:cNvPr id="12" name="Eℓ">
            <a:extLst xmlns:a="http://schemas.openxmlformats.org/drawingml/2006/main">
              <a:ext uri="{FF2B5EF4-FFF2-40B4-BE49-F238E27FC236}">
                <a16:creationId xmlns:a16="http://schemas.microsoft.com/office/drawing/2014/main" id="{2CA75C40-779A-40D6-A6EB-2FCD557BECC1}"/>
              </a:ext>
            </a:extLst>
          </p:cNvPr>
          <p:cNvSpPr>
            <a:spLocks xmlns:a="http://schemas.openxmlformats.org/drawingml/2006/main" noGrp="1"/>
          </p:cNvSpPr>
          <p:nvPr/>
        </p:nvSpPr>
        <p:spPr>
          <a:xfrm xmlns:a="http://schemas.openxmlformats.org/drawingml/2006/main">
            <a:off x="5610892" y="2193989"/>
            <a:ext cx="286512"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24" b="0">
                <a:solidFill>
                  <a:srgbClr val="13233D"/>
                </a:solidFill>
                <a:latin typeface="Arial"/>
                <a:ea typeface="Arial"/>
                <a:cs typeface="Arial"/>
              </a:defRPr>
            </a:defPPr>
          </a:lstStyle>
          <a:p xmlns:a="http://schemas.openxmlformats.org/drawingml/2006/main">
            <a:pPr>
              <a:buNone/>
              <a:defRPr sz="1824" b="0">
                <a:solidFill>
                  <a:srgbClr val="13233D"/>
                </a:solidFill>
                <a:latin typeface="Arial"/>
                <a:ea typeface="Arial"/>
                <a:cs typeface="Arial"/>
              </a:defRPr>
            </a:pPr>
            <a:r>
              <a:rPr sz="1824" b="0">
                <a:solidFill>
                  <a:srgbClr val="13233D"/>
                </a:solidFill>
                <a:latin typeface="Arial"/>
                <a:ea typeface="Arial"/>
                <a:cs typeface="Arial"/>
              </a:rPr>
              <a:t>Eℓ</a:t>
            </a:r>
          </a:p>
        </p:txBody>
      </p:sp>
      <p:sp>
        <p:nvSpPr>
          <p:cNvPr id="13" name="(s)">
            <a:extLst xmlns:a="http://schemas.openxmlformats.org/drawingml/2006/main">
              <a:ext uri="{FF2B5EF4-FFF2-40B4-BE49-F238E27FC236}">
                <a16:creationId xmlns:a16="http://schemas.microsoft.com/office/drawing/2014/main" id="{06F35266-C4C6-4DFE-8737-3A6414E77AA9}"/>
              </a:ext>
            </a:extLst>
          </p:cNvPr>
          <p:cNvSpPr>
            <a:spLocks xmlns:a="http://schemas.openxmlformats.org/drawingml/2006/main" noGrp="1"/>
          </p:cNvSpPr>
          <p:nvPr/>
        </p:nvSpPr>
        <p:spPr>
          <a:xfrm xmlns:a="http://schemas.openxmlformats.org/drawingml/2006/main">
            <a:off x="5859304" y="2038350"/>
            <a:ext cx="479203"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13233D"/>
                </a:solidFill>
                <a:latin typeface="Arial"/>
                <a:ea typeface="Arial"/>
                <a:cs typeface="Arial"/>
              </a:defRPr>
            </a:defPPr>
          </a:lstStyle>
          <a:p xmlns:a="http://schemas.openxmlformats.org/drawingml/2006/main">
            <a:pPr>
              <a:buNone/>
              <a:defRPr sz="2850" b="0">
                <a:solidFill>
                  <a:srgbClr val="13233D"/>
                </a:solidFill>
                <a:latin typeface="Arial"/>
                <a:ea typeface="Arial"/>
                <a:cs typeface="Arial"/>
              </a:defRPr>
            </a:pPr>
            <a:r>
              <a:rPr sz="2850" b="0">
                <a:solidFill>
                  <a:srgbClr val="13233D"/>
                </a:solidFill>
                <a:latin typeface="Arial"/>
                <a:ea typeface="Arial"/>
                <a:cs typeface="Arial"/>
              </a:rPr>
              <a:t>(s)</a:t>
            </a:r>
          </a:p>
        </p:txBody>
      </p:sp>
      <p:sp>
        <p:nvSpPr>
          <p:cNvPr id="14" name="Wire readiness adds an estimated start-time penalty">
            <a:extLst xmlns:a="http://schemas.openxmlformats.org/drawingml/2006/main">
              <a:ext uri="{FF2B5EF4-FFF2-40B4-BE49-F238E27FC236}">
                <a16:creationId xmlns:a16="http://schemas.microsoft.com/office/drawing/2014/main" id="{25ED6C5F-3550-4BA2-B6F8-9E1D0241213F}"/>
              </a:ext>
            </a:extLst>
          </p:cNvPr>
          <p:cNvSpPr>
            <a:spLocks xmlns:a="http://schemas.openxmlformats.org/drawingml/2006/main" noGrp="1"/>
          </p:cNvSpPr>
          <p:nvPr/>
        </p:nvSpPr>
        <p:spPr>
          <a:xfrm xmlns:a="http://schemas.openxmlformats.org/drawingml/2006/main">
            <a:off x="552450" y="2847975"/>
            <a:ext cx="1090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B35C18"/>
                </a:solidFill>
                <a:latin typeface="Arial"/>
                <a:ea typeface="Arial"/>
                <a:cs typeface="Arial"/>
              </a:defRPr>
            </a:defPPr>
          </a:lstStyle>
          <a:p xmlns:a="http://schemas.openxmlformats.org/drawingml/2006/main">
            <a:pPr>
              <a:buNone/>
              <a:defRPr sz="1950" b="1">
                <a:solidFill>
                  <a:srgbClr val="B35C18"/>
                </a:solidFill>
                <a:latin typeface="Arial"/>
                <a:ea typeface="Arial"/>
                <a:cs typeface="Arial"/>
              </a:defRPr>
            </a:pPr>
            <a:r>
              <a:rPr sz="1950" b="1">
                <a:solidFill>
                  <a:srgbClr val="B35C18"/>
                </a:solidFill>
                <a:latin typeface="Arial"/>
                <a:ea typeface="Arial"/>
                <a:cs typeface="Arial"/>
              </a:rPr>
              <a:t>Wire readiness adds an estimated start-time penalty</a:t>
            </a:r>
          </a:p>
        </p:txBody>
      </p:sp>
      <p:sp>
        <p:nvSpPr>
          <p:cNvPr id="15" name="Tₛ = max(ready[a], ready[b])        λ = 2.2 × 10⁻⁵">
            <a:extLst xmlns:a="http://schemas.openxmlformats.org/drawingml/2006/main">
              <a:ext uri="{FF2B5EF4-FFF2-40B4-BE49-F238E27FC236}">
                <a16:creationId xmlns:a16="http://schemas.microsoft.com/office/drawing/2014/main" id="{EDB94408-C35C-49A9-ABB6-B556187CBD7E}"/>
              </a:ext>
            </a:extLst>
          </p:cNvPr>
          <p:cNvSpPr>
            <a:spLocks xmlns:a="http://schemas.openxmlformats.org/drawingml/2006/main" noGrp="1"/>
          </p:cNvSpPr>
          <p:nvPr/>
        </p:nvSpPr>
        <p:spPr>
          <a:xfrm xmlns:a="http://schemas.openxmlformats.org/drawingml/2006/main">
            <a:off x="552450" y="3305175"/>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75" b="0">
                <a:solidFill>
                  <a:srgbClr val="13233D"/>
                </a:solidFill>
                <a:latin typeface="Arial"/>
                <a:ea typeface="Arial"/>
                <a:cs typeface="Arial"/>
              </a:defRPr>
            </a:defPPr>
          </a:lstStyle>
          <a:p xmlns:a="http://schemas.openxmlformats.org/drawingml/2006/main">
            <a:pPr>
              <a:buNone/>
              <a:defRPr sz="2475" b="0">
                <a:solidFill>
                  <a:srgbClr val="13233D"/>
                </a:solidFill>
                <a:latin typeface="Arial"/>
                <a:ea typeface="Arial"/>
                <a:cs typeface="Arial"/>
              </a:defRPr>
            </a:pPr>
            <a:r>
              <a:rPr sz="2475" b="0">
                <a:solidFill>
                  <a:srgbClr val="13233D"/>
                </a:solidFill>
                <a:latin typeface="Arial"/>
                <a:ea typeface="Arial"/>
                <a:cs typeface="Arial"/>
              </a:rPr>
              <a:t>Tₛ = max(ready[a], ready[b])        λ = 2.2 × 10⁻⁵</a:t>
            </a:r>
          </a:p>
        </p:txBody>
      </p:sp>
      <p:sp>
        <p:nvSpPr>
          <p:cNvPr id="16" name="Without decay">
            <a:extLst xmlns:a="http://schemas.openxmlformats.org/drawingml/2006/main">
              <a:ext uri="{FF2B5EF4-FFF2-40B4-BE49-F238E27FC236}">
                <a16:creationId xmlns:a16="http://schemas.microsoft.com/office/drawing/2014/main" id="{551712F6-AACB-44E4-9DC0-B4BA4DA6076F}"/>
              </a:ext>
            </a:extLst>
          </p:cNvPr>
          <p:cNvSpPr>
            <a:spLocks xmlns:a="http://schemas.openxmlformats.org/drawingml/2006/main" noGrp="1"/>
          </p:cNvSpPr>
          <p:nvPr/>
        </p:nvSpPr>
        <p:spPr>
          <a:xfrm xmlns:a="http://schemas.openxmlformats.org/drawingml/2006/main">
            <a:off x="552450" y="4181475"/>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Without decay</a:t>
            </a:r>
          </a:p>
        </p:txBody>
      </p:sp>
      <p:sp>
        <p:nvSpPr>
          <p:cNvPr id="17" name="Q">
            <a:extLst xmlns:a="http://schemas.openxmlformats.org/drawingml/2006/main">
              <a:ext uri="{FF2B5EF4-FFF2-40B4-BE49-F238E27FC236}">
                <a16:creationId xmlns:a16="http://schemas.microsoft.com/office/drawing/2014/main" id="{BA95987E-6B5F-4444-80F7-863919D3D464}"/>
              </a:ext>
            </a:extLst>
          </p:cNvPr>
          <p:cNvSpPr>
            <a:spLocks xmlns:a="http://schemas.openxmlformats.org/drawingml/2006/main" noGrp="1"/>
          </p:cNvSpPr>
          <p:nvPr/>
        </p:nvSpPr>
        <p:spPr>
          <a:xfrm xmlns:a="http://schemas.openxmlformats.org/drawingml/2006/main">
            <a:off x="3990975" y="4095750"/>
            <a:ext cx="338709"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13233D"/>
                </a:solidFill>
                <a:latin typeface="Arial"/>
                <a:ea typeface="Arial"/>
                <a:cs typeface="Arial"/>
              </a:defRPr>
            </a:defPPr>
          </a:lstStyle>
          <a:p xmlns:a="http://schemas.openxmlformats.org/drawingml/2006/main">
            <a:pPr>
              <a:buNone/>
              <a:defRPr sz="2850" b="0">
                <a:solidFill>
                  <a:srgbClr val="13233D"/>
                </a:solidFill>
                <a:latin typeface="Arial"/>
                <a:ea typeface="Arial"/>
                <a:cs typeface="Arial"/>
              </a:defRPr>
            </a:pPr>
            <a:r>
              <a:rPr sz="2850" b="0">
                <a:solidFill>
                  <a:srgbClr val="13233D"/>
                </a:solidFill>
                <a:latin typeface="Arial"/>
                <a:ea typeface="Arial"/>
                <a:cs typeface="Arial"/>
              </a:rPr>
              <a:t>Q</a:t>
            </a:r>
          </a:p>
        </p:txBody>
      </p:sp>
      <p:sp>
        <p:nvSpPr>
          <p:cNvPr id="18" name="new">
            <a:extLst xmlns:a="http://schemas.openxmlformats.org/drawingml/2006/main">
              <a:ext uri="{FF2B5EF4-FFF2-40B4-BE49-F238E27FC236}">
                <a16:creationId xmlns:a16="http://schemas.microsoft.com/office/drawing/2014/main" id="{89EE3351-E006-4825-BB33-18665DCAD6F8}"/>
              </a:ext>
            </a:extLst>
          </p:cNvPr>
          <p:cNvSpPr>
            <a:spLocks xmlns:a="http://schemas.openxmlformats.org/drawingml/2006/main" noGrp="1"/>
          </p:cNvSpPr>
          <p:nvPr/>
        </p:nvSpPr>
        <p:spPr>
          <a:xfrm xmlns:a="http://schemas.openxmlformats.org/drawingml/2006/main">
            <a:off x="4291584" y="4251389"/>
            <a:ext cx="481965"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24" b="0">
                <a:solidFill>
                  <a:srgbClr val="13233D"/>
                </a:solidFill>
                <a:latin typeface="Arial"/>
                <a:ea typeface="Arial"/>
                <a:cs typeface="Arial"/>
              </a:defRPr>
            </a:defPPr>
          </a:lstStyle>
          <a:p xmlns:a="http://schemas.openxmlformats.org/drawingml/2006/main">
            <a:pPr>
              <a:buNone/>
              <a:defRPr sz="1824" b="0">
                <a:solidFill>
                  <a:srgbClr val="13233D"/>
                </a:solidFill>
                <a:latin typeface="Arial"/>
                <a:ea typeface="Arial"/>
                <a:cs typeface="Arial"/>
              </a:defRPr>
            </a:pPr>
            <a:r>
              <a:rPr sz="1824" b="0">
                <a:solidFill>
                  <a:srgbClr val="13233D"/>
                </a:solidFill>
                <a:latin typeface="Arial"/>
                <a:ea typeface="Arial"/>
                <a:cs typeface="Arial"/>
              </a:rPr>
              <a:t>new</a:t>
            </a:r>
          </a:p>
        </p:txBody>
      </p:sp>
      <p:sp>
        <p:nvSpPr>
          <p:cNvPr id="19" name="(s) = U(s) + λ T">
            <a:extLst xmlns:a="http://schemas.openxmlformats.org/drawingml/2006/main">
              <a:ext uri="{FF2B5EF4-FFF2-40B4-BE49-F238E27FC236}">
                <a16:creationId xmlns:a16="http://schemas.microsoft.com/office/drawing/2014/main" id="{D985162A-A0D8-4D9A-8B80-FD3F12717E5D}"/>
              </a:ext>
            </a:extLst>
          </p:cNvPr>
          <p:cNvSpPr>
            <a:spLocks xmlns:a="http://schemas.openxmlformats.org/drawingml/2006/main" noGrp="1"/>
          </p:cNvSpPr>
          <p:nvPr/>
        </p:nvSpPr>
        <p:spPr>
          <a:xfrm xmlns:a="http://schemas.openxmlformats.org/drawingml/2006/main">
            <a:off x="4735449" y="4095750"/>
            <a:ext cx="2490216"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13233D"/>
                </a:solidFill>
                <a:latin typeface="Arial"/>
                <a:ea typeface="Arial"/>
                <a:cs typeface="Arial"/>
              </a:defRPr>
            </a:defPPr>
          </a:lstStyle>
          <a:p xmlns:a="http://schemas.openxmlformats.org/drawingml/2006/main">
            <a:pPr>
              <a:buNone/>
              <a:defRPr sz="2850" b="0">
                <a:solidFill>
                  <a:srgbClr val="13233D"/>
                </a:solidFill>
                <a:latin typeface="Arial"/>
                <a:ea typeface="Arial"/>
                <a:cs typeface="Arial"/>
              </a:defRPr>
            </a:pPr>
            <a:r>
              <a:rPr sz="2850" b="0">
                <a:solidFill>
                  <a:srgbClr val="13233D"/>
                </a:solidFill>
                <a:latin typeface="Arial"/>
                <a:ea typeface="Arial"/>
                <a:cs typeface="Arial"/>
              </a:rPr>
              <a:t>(s) = U(s) + λ T</a:t>
            </a:r>
          </a:p>
        </p:txBody>
      </p:sp>
      <p:sp>
        <p:nvSpPr>
          <p:cNvPr id="20" name="s">
            <a:extLst xmlns:a="http://schemas.openxmlformats.org/drawingml/2006/main">
              <a:ext uri="{FF2B5EF4-FFF2-40B4-BE49-F238E27FC236}">
                <a16:creationId xmlns:a16="http://schemas.microsoft.com/office/drawing/2014/main" id="{4CC89526-2F16-4446-A48F-56143B79930D}"/>
              </a:ext>
            </a:extLst>
          </p:cNvPr>
          <p:cNvSpPr>
            <a:spLocks xmlns:a="http://schemas.openxmlformats.org/drawingml/2006/main" noGrp="1"/>
          </p:cNvSpPr>
          <p:nvPr/>
        </p:nvSpPr>
        <p:spPr>
          <a:xfrm xmlns:a="http://schemas.openxmlformats.org/drawingml/2006/main">
            <a:off x="7187565" y="4251389"/>
            <a:ext cx="172974"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24" b="0">
                <a:solidFill>
                  <a:srgbClr val="13233D"/>
                </a:solidFill>
                <a:latin typeface="Arial"/>
                <a:ea typeface="Arial"/>
                <a:cs typeface="Arial"/>
              </a:defRPr>
            </a:defPPr>
          </a:lstStyle>
          <a:p xmlns:a="http://schemas.openxmlformats.org/drawingml/2006/main">
            <a:pPr>
              <a:buNone/>
              <a:defRPr sz="1824" b="0">
                <a:solidFill>
                  <a:srgbClr val="13233D"/>
                </a:solidFill>
                <a:latin typeface="Arial"/>
                <a:ea typeface="Arial"/>
                <a:cs typeface="Arial"/>
              </a:defRPr>
            </a:pPr>
            <a:r>
              <a:rPr sz="1824" b="0">
                <a:solidFill>
                  <a:srgbClr val="13233D"/>
                </a:solidFill>
                <a:latin typeface="Arial"/>
                <a:ea typeface="Arial"/>
                <a:cs typeface="Arial"/>
              </a:rPr>
              <a:t>s</a:t>
            </a:r>
          </a:p>
        </p:txBody>
      </p:sp>
      <p:sp>
        <p:nvSpPr>
          <p:cNvPr id="21" name="With decay">
            <a:extLst xmlns:a="http://schemas.openxmlformats.org/drawingml/2006/main">
              <a:ext uri="{FF2B5EF4-FFF2-40B4-BE49-F238E27FC236}">
                <a16:creationId xmlns:a16="http://schemas.microsoft.com/office/drawing/2014/main" id="{EB150C02-7DD1-49C7-880A-4BA2A3DEE8CE}"/>
              </a:ext>
            </a:extLst>
          </p:cNvPr>
          <p:cNvSpPr>
            <a:spLocks xmlns:a="http://schemas.openxmlformats.org/drawingml/2006/main" noGrp="1"/>
          </p:cNvSpPr>
          <p:nvPr/>
        </p:nvSpPr>
        <p:spPr>
          <a:xfrm xmlns:a="http://schemas.openxmlformats.org/drawingml/2006/main">
            <a:off x="552450" y="48577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2459C4"/>
                </a:solidFill>
                <a:latin typeface="Arial"/>
                <a:ea typeface="Arial"/>
                <a:cs typeface="Arial"/>
              </a:defRPr>
            </a:defPPr>
          </a:lstStyle>
          <a:p xmlns:a="http://schemas.openxmlformats.org/drawingml/2006/main">
            <a:pPr>
              <a:buNone/>
              <a:defRPr sz="1950" b="1">
                <a:solidFill>
                  <a:srgbClr val="2459C4"/>
                </a:solidFill>
                <a:latin typeface="Arial"/>
                <a:ea typeface="Arial"/>
                <a:cs typeface="Arial"/>
              </a:defRPr>
            </a:pPr>
            <a:r>
              <a:rPr sz="1950" b="1">
                <a:solidFill>
                  <a:srgbClr val="2459C4"/>
                </a:solidFill>
                <a:latin typeface="Arial"/>
                <a:ea typeface="Arial"/>
                <a:cs typeface="Arial"/>
              </a:rPr>
              <a:t>With decay</a:t>
            </a:r>
          </a:p>
        </p:txBody>
      </p:sp>
      <p:sp>
        <p:nvSpPr>
          <p:cNvPr id="22" name="Q">
            <a:extLst xmlns:a="http://schemas.openxmlformats.org/drawingml/2006/main">
              <a:ext uri="{FF2B5EF4-FFF2-40B4-BE49-F238E27FC236}">
                <a16:creationId xmlns:a16="http://schemas.microsoft.com/office/drawing/2014/main" id="{CE1D4A2F-DD1B-4BB2-979C-FCF7EF353D63}"/>
              </a:ext>
            </a:extLst>
          </p:cNvPr>
          <p:cNvSpPr>
            <a:spLocks xmlns:a="http://schemas.openxmlformats.org/drawingml/2006/main" noGrp="1"/>
          </p:cNvSpPr>
          <p:nvPr/>
        </p:nvSpPr>
        <p:spPr>
          <a:xfrm xmlns:a="http://schemas.openxmlformats.org/drawingml/2006/main">
            <a:off x="3990975" y="4772025"/>
            <a:ext cx="331280" cy="581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13233D"/>
                </a:solidFill>
                <a:latin typeface="Arial"/>
                <a:ea typeface="Arial"/>
                <a:cs typeface="Arial"/>
              </a:defRPr>
            </a:defPPr>
          </a:lstStyle>
          <a:p xmlns:a="http://schemas.openxmlformats.org/drawingml/2006/main">
            <a:pPr>
              <a:buNone/>
              <a:defRPr sz="2775" b="0">
                <a:solidFill>
                  <a:srgbClr val="13233D"/>
                </a:solidFill>
                <a:latin typeface="Arial"/>
                <a:ea typeface="Arial"/>
                <a:cs typeface="Arial"/>
              </a:defRPr>
            </a:pPr>
            <a:r>
              <a:rPr sz="2775" b="0">
                <a:solidFill>
                  <a:srgbClr val="13233D"/>
                </a:solidFill>
                <a:latin typeface="Arial"/>
                <a:ea typeface="Arial"/>
                <a:cs typeface="Arial"/>
              </a:rPr>
              <a:t>Q</a:t>
            </a:r>
          </a:p>
        </p:txBody>
      </p:sp>
      <p:sp>
        <p:nvSpPr>
          <p:cNvPr id="23" name="new">
            <a:extLst xmlns:a="http://schemas.openxmlformats.org/drawingml/2006/main">
              <a:ext uri="{FF2B5EF4-FFF2-40B4-BE49-F238E27FC236}">
                <a16:creationId xmlns:a16="http://schemas.microsoft.com/office/drawing/2014/main" id="{8BA1B9C0-C7C7-4368-85A9-DFA3C509640B}"/>
              </a:ext>
            </a:extLst>
          </p:cNvPr>
          <p:cNvSpPr>
            <a:spLocks xmlns:a="http://schemas.openxmlformats.org/drawingml/2006/main" noGrp="1"/>
          </p:cNvSpPr>
          <p:nvPr/>
        </p:nvSpPr>
        <p:spPr>
          <a:xfrm xmlns:a="http://schemas.openxmlformats.org/drawingml/2006/main">
            <a:off x="4284155" y="4923568"/>
            <a:ext cx="470821" cy="581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76" b="0">
                <a:solidFill>
                  <a:srgbClr val="13233D"/>
                </a:solidFill>
                <a:latin typeface="Arial"/>
                <a:ea typeface="Arial"/>
                <a:cs typeface="Arial"/>
              </a:defRPr>
            </a:defPPr>
          </a:lstStyle>
          <a:p xmlns:a="http://schemas.openxmlformats.org/drawingml/2006/main">
            <a:pPr>
              <a:buNone/>
              <a:defRPr sz="1776" b="0">
                <a:solidFill>
                  <a:srgbClr val="13233D"/>
                </a:solidFill>
                <a:latin typeface="Arial"/>
                <a:ea typeface="Arial"/>
                <a:cs typeface="Arial"/>
              </a:defRPr>
            </a:pPr>
            <a:r>
              <a:rPr sz="1776" b="0">
                <a:solidFill>
                  <a:srgbClr val="13233D"/>
                </a:solidFill>
                <a:latin typeface="Arial"/>
                <a:ea typeface="Arial"/>
                <a:cs typeface="Arial"/>
              </a:rPr>
              <a:t>new</a:t>
            </a:r>
          </a:p>
        </p:txBody>
      </p:sp>
      <p:sp>
        <p:nvSpPr>
          <p:cNvPr id="24" name="(s) = d">
            <a:extLst xmlns:a="http://schemas.openxmlformats.org/drawingml/2006/main">
              <a:ext uri="{FF2B5EF4-FFF2-40B4-BE49-F238E27FC236}">
                <a16:creationId xmlns:a16="http://schemas.microsoft.com/office/drawing/2014/main" id="{483BB4DC-C4D5-4643-BE20-D90F363BD56B}"/>
              </a:ext>
            </a:extLst>
          </p:cNvPr>
          <p:cNvSpPr>
            <a:spLocks xmlns:a="http://schemas.openxmlformats.org/drawingml/2006/main" noGrp="1"/>
          </p:cNvSpPr>
          <p:nvPr/>
        </p:nvSpPr>
        <p:spPr>
          <a:xfrm xmlns:a="http://schemas.openxmlformats.org/drawingml/2006/main">
            <a:off x="4716875" y="4772025"/>
            <a:ext cx="1065752" cy="581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13233D"/>
                </a:solidFill>
                <a:latin typeface="Arial"/>
                <a:ea typeface="Arial"/>
                <a:cs typeface="Arial"/>
              </a:defRPr>
            </a:defPPr>
          </a:lstStyle>
          <a:p xmlns:a="http://schemas.openxmlformats.org/drawingml/2006/main">
            <a:pPr>
              <a:buNone/>
              <a:defRPr sz="2775" b="0">
                <a:solidFill>
                  <a:srgbClr val="13233D"/>
                </a:solidFill>
                <a:latin typeface="Arial"/>
                <a:ea typeface="Arial"/>
                <a:cs typeface="Arial"/>
              </a:defRPr>
            </a:pPr>
            <a:r>
              <a:rPr sz="2775" b="0">
                <a:solidFill>
                  <a:srgbClr val="13233D"/>
                </a:solidFill>
                <a:latin typeface="Arial"/>
                <a:ea typeface="Arial"/>
                <a:cs typeface="Arial"/>
              </a:rPr>
              <a:t>(s) = d</a:t>
            </a:r>
          </a:p>
        </p:txBody>
      </p:sp>
      <p:sp>
        <p:nvSpPr>
          <p:cNvPr id="25" name="s">
            <a:extLst xmlns:a="http://schemas.openxmlformats.org/drawingml/2006/main">
              <a:ext uri="{FF2B5EF4-FFF2-40B4-BE49-F238E27FC236}">
                <a16:creationId xmlns:a16="http://schemas.microsoft.com/office/drawing/2014/main" id="{4D84993F-809A-4320-A2C9-59DE1C4708DC}"/>
              </a:ext>
            </a:extLst>
          </p:cNvPr>
          <p:cNvSpPr>
            <a:spLocks xmlns:a="http://schemas.openxmlformats.org/drawingml/2006/main" noGrp="1"/>
          </p:cNvSpPr>
          <p:nvPr/>
        </p:nvSpPr>
        <p:spPr>
          <a:xfrm xmlns:a="http://schemas.openxmlformats.org/drawingml/2006/main">
            <a:off x="5744528" y="4923568"/>
            <a:ext cx="169926" cy="581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76" b="0">
                <a:solidFill>
                  <a:srgbClr val="13233D"/>
                </a:solidFill>
                <a:latin typeface="Arial"/>
                <a:ea typeface="Arial"/>
                <a:cs typeface="Arial"/>
              </a:defRPr>
            </a:defPPr>
          </a:lstStyle>
          <a:p xmlns:a="http://schemas.openxmlformats.org/drawingml/2006/main">
            <a:pPr>
              <a:buNone/>
              <a:defRPr sz="1776" b="0">
                <a:solidFill>
                  <a:srgbClr val="13233D"/>
                </a:solidFill>
                <a:latin typeface="Arial"/>
                <a:ea typeface="Arial"/>
                <a:cs typeface="Arial"/>
              </a:defRPr>
            </a:pPr>
            <a:r>
              <a:rPr sz="1776" b="0">
                <a:solidFill>
                  <a:srgbClr val="13233D"/>
                </a:solidFill>
                <a:latin typeface="Arial"/>
                <a:ea typeface="Arial"/>
                <a:cs typeface="Arial"/>
              </a:rPr>
              <a:t>s</a:t>
            </a:r>
          </a:p>
        </p:txBody>
      </p:sp>
      <p:sp>
        <p:nvSpPr>
          <p:cNvPr id="26" name=" [H₀ + U(s)] + λ T">
            <a:extLst xmlns:a="http://schemas.openxmlformats.org/drawingml/2006/main">
              <a:ext uri="{FF2B5EF4-FFF2-40B4-BE49-F238E27FC236}">
                <a16:creationId xmlns:a16="http://schemas.microsoft.com/office/drawing/2014/main" id="{FDA74E4A-9A27-45A7-8D57-718D50E6D831}"/>
              </a:ext>
            </a:extLst>
          </p:cNvPr>
          <p:cNvSpPr>
            <a:spLocks xmlns:a="http://schemas.openxmlformats.org/drawingml/2006/main" noGrp="1"/>
          </p:cNvSpPr>
          <p:nvPr/>
        </p:nvSpPr>
        <p:spPr>
          <a:xfrm xmlns:a="http://schemas.openxmlformats.org/drawingml/2006/main">
            <a:off x="5876354" y="4772025"/>
            <a:ext cx="2827877" cy="581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13233D"/>
                </a:solidFill>
                <a:latin typeface="Arial"/>
                <a:ea typeface="Arial"/>
                <a:cs typeface="Arial"/>
              </a:defRPr>
            </a:defPPr>
          </a:lstStyle>
          <a:p xmlns:a="http://schemas.openxmlformats.org/drawingml/2006/main">
            <a:pPr>
              <a:buNone/>
              <a:defRPr sz="2775" b="0">
                <a:solidFill>
                  <a:srgbClr val="13233D"/>
                </a:solidFill>
                <a:latin typeface="Arial"/>
                <a:ea typeface="Arial"/>
                <a:cs typeface="Arial"/>
              </a:defRPr>
            </a:pPr>
            <a:r>
              <a:rPr sz="2775" b="0">
                <a:solidFill>
                  <a:srgbClr val="13233D"/>
                </a:solidFill>
                <a:latin typeface="Arial"/>
                <a:ea typeface="Arial"/>
                <a:cs typeface="Arial"/>
              </a:rPr>
              <a:t> [H₀ + U(s)] + λ T</a:t>
            </a:r>
          </a:p>
        </p:txBody>
      </p:sp>
      <p:sp>
        <p:nvSpPr>
          <p:cNvPr id="27" name="s">
            <a:extLst xmlns:a="http://schemas.openxmlformats.org/drawingml/2006/main">
              <a:ext uri="{FF2B5EF4-FFF2-40B4-BE49-F238E27FC236}">
                <a16:creationId xmlns:a16="http://schemas.microsoft.com/office/drawing/2014/main" id="{A50A956E-49FF-4869-B8DE-04CCFAE639E5}"/>
              </a:ext>
            </a:extLst>
          </p:cNvPr>
          <p:cNvSpPr>
            <a:spLocks xmlns:a="http://schemas.openxmlformats.org/drawingml/2006/main" noGrp="1"/>
          </p:cNvSpPr>
          <p:nvPr/>
        </p:nvSpPr>
        <p:spPr>
          <a:xfrm xmlns:a="http://schemas.openxmlformats.org/drawingml/2006/main">
            <a:off x="8666131" y="4923568"/>
            <a:ext cx="169926" cy="581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76" b="0">
                <a:solidFill>
                  <a:srgbClr val="13233D"/>
                </a:solidFill>
                <a:latin typeface="Arial"/>
                <a:ea typeface="Arial"/>
                <a:cs typeface="Arial"/>
              </a:defRPr>
            </a:defPPr>
          </a:lstStyle>
          <a:p xmlns:a="http://schemas.openxmlformats.org/drawingml/2006/main">
            <a:pPr>
              <a:buNone/>
              <a:defRPr sz="1776" b="0">
                <a:solidFill>
                  <a:srgbClr val="13233D"/>
                </a:solidFill>
                <a:latin typeface="Arial"/>
                <a:ea typeface="Arial"/>
                <a:cs typeface="Arial"/>
              </a:defRPr>
            </a:pPr>
            <a:r>
              <a:rPr sz="1776" b="0">
                <a:solidFill>
                  <a:srgbClr val="13233D"/>
                </a:solidFill>
                <a:latin typeface="Arial"/>
                <a:ea typeface="Arial"/>
                <a:cs typeface="Arial"/>
              </a:rPr>
              <a:t>s</a:t>
            </a:r>
          </a:p>
        </p:txBody>
      </p:sp>
      <p:sp>
        <p:nvSpPr>
          <p:cNvPr id="28" name="dₛ = max(decay[a], decay[b])">
            <a:extLst xmlns:a="http://schemas.openxmlformats.org/drawingml/2006/main">
              <a:ext uri="{FF2B5EF4-FFF2-40B4-BE49-F238E27FC236}">
                <a16:creationId xmlns:a16="http://schemas.microsoft.com/office/drawing/2014/main" id="{353A1CAA-FE6A-49F8-8367-2D3913DE76C7}"/>
              </a:ext>
            </a:extLst>
          </p:cNvPr>
          <p:cNvSpPr>
            <a:spLocks xmlns:a="http://schemas.openxmlformats.org/drawingml/2006/main" noGrp="1"/>
          </p:cNvSpPr>
          <p:nvPr/>
        </p:nvSpPr>
        <p:spPr>
          <a:xfrm xmlns:a="http://schemas.openxmlformats.org/drawingml/2006/main">
            <a:off x="552450" y="55245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526479"/>
                </a:solidFill>
                <a:latin typeface="Arial"/>
                <a:ea typeface="Arial"/>
                <a:cs typeface="Arial"/>
              </a:defRPr>
            </a:defPPr>
          </a:lstStyle>
          <a:p xmlns:a="http://schemas.openxmlformats.org/drawingml/2006/main">
            <a:pPr>
              <a:buNone/>
              <a:defRPr sz="1875" b="0">
                <a:solidFill>
                  <a:srgbClr val="526479"/>
                </a:solidFill>
                <a:latin typeface="Arial"/>
                <a:ea typeface="Arial"/>
                <a:cs typeface="Arial"/>
              </a:defRPr>
            </a:pPr>
            <a:r>
              <a:rPr sz="1875" b="0">
                <a:solidFill>
                  <a:srgbClr val="526479"/>
                </a:solidFill>
                <a:latin typeface="Arial"/>
                <a:ea typeface="Arial"/>
                <a:cs typeface="Arial"/>
              </a:rPr>
              <a:t>dₛ = max(decay[a], decay[b])</a:t>
            </a:r>
          </a:p>
        </p:txBody>
      </p:sp>
      <p:sp>
        <p:nvSpPr>
          <p:cNvPr id="29" name="α scales the fusion credit. Decay uses the absolute baseline H₀. Readi">
            <a:extLst xmlns:a="http://schemas.openxmlformats.org/drawingml/2006/main">
              <a:ext uri="{FF2B5EF4-FFF2-40B4-BE49-F238E27FC236}">
                <a16:creationId xmlns:a16="http://schemas.microsoft.com/office/drawing/2014/main" id="{046864B2-8210-4A00-B8FD-54215F1F4A0C}"/>
              </a:ext>
            </a:extLst>
          </p:cNvPr>
          <p:cNvSpPr>
            <a:spLocks xmlns:a="http://schemas.openxmlformats.org/drawingml/2006/main" noGrp="1"/>
          </p:cNvSpPr>
          <p:nvPr/>
        </p:nvSpPr>
        <p:spPr>
          <a:xfrm xmlns:a="http://schemas.openxmlformats.org/drawingml/2006/main">
            <a:off x="552450" y="59817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α scales the fusion credit. Decay uses the absolute baseline H₀. Readiness is added last.</a:t>
            </a:r>
          </a:p>
        </p:txBody>
      </p:sp>
    </p:spTree>
    <p:extLst>
      <p:ext uri="{BB962C8B-B14F-4D97-AF65-F5344CB8AC3E}">
        <p14:creationId xmlns:p14="http://schemas.microsoft.com/office/powerpoint/2010/main" val="1724338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orked example: fusion chooses the SWAP">
            <a:extLst xmlns:a="http://schemas.openxmlformats.org/drawingml/2006/main">
              <a:ext uri="{FF2B5EF4-FFF2-40B4-BE49-F238E27FC236}">
                <a16:creationId xmlns:a16="http://schemas.microsoft.com/office/drawing/2014/main" id="{9A6B5073-553D-462C-A8E7-3FC1EA21194D}"/>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Worked example: fusion chooses the SWAP</a:t>
            </a:r>
          </a:p>
        </p:txBody>
      </p:sp>
      <p:sp>
        <p:nvSpPr>
          <p:cNvPr id="2" name="Line P0–P1–P2. CX(q0,q1) routed, CX(q0,q2) pending. α = 1, no lookahea">
            <a:extLst xmlns:a="http://schemas.openxmlformats.org/drawingml/2006/main">
              <a:ext uri="{FF2B5EF4-FFF2-40B4-BE49-F238E27FC236}">
                <a16:creationId xmlns:a16="http://schemas.microsoft.com/office/drawing/2014/main" id="{392F2971-302E-4A3E-AA00-E81AF7BCDFDF}"/>
              </a:ext>
            </a:extLst>
          </p:cNvPr>
          <p:cNvSpPr>
            <a:spLocks xmlns:a="http://schemas.openxmlformats.org/drawingml/2006/main" noGrp="1"/>
          </p:cNvSpPr>
          <p:nvPr/>
        </p:nvSpPr>
        <p:spPr>
          <a:xfrm xmlns:a="http://schemas.openxmlformats.org/drawingml/2006/main">
            <a:off x="552450" y="10287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Line P0–P1–P2. CX(q0,q1) routed, CX(q0,q2) pending. α = 1, no lookahead or decay.</a:t>
            </a:r>
          </a:p>
        </p:txBody>
      </p:sp>
      <p:sp>
        <p:nvSpPr>
          <p:cNvPr id="3" name="6">
            <a:extLst xmlns:a="http://schemas.openxmlformats.org/drawingml/2006/main">
              <a:ext uri="{FF2B5EF4-FFF2-40B4-BE49-F238E27FC236}">
                <a16:creationId xmlns:a16="http://schemas.microsoft.com/office/drawing/2014/main" id="{289B9869-48B3-4BD8-9732-FFDA13A148FE}"/>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20</a:t>
            </a:r>
          </a:p>
        </p:txBody>
      </p:sp>
      <p:pic>
        <p:nvPicPr>
          <p:cNvPr id="4" name="">
            <a:extLst xmlns:a="http://schemas.openxmlformats.org/drawingml/2006/main">
              <a:ext uri="{FF2B5EF4-FFF2-40B4-BE49-F238E27FC236}">
                <a16:creationId xmlns:a16="http://schemas.microsoft.com/office/drawing/2014/main" id="{649DA0B5-9A00-464F-B742-B6B944C84EE1}"/>
              </a:ext>
            </a:extLst>
          </p:cNvPr>
          <p:cNvPicPr>
            <a:picLocks xmlns:a="http://schemas.openxmlformats.org/drawingml/2006/main" noChangeAspect="1"/>
          </p:cNvPicPr>
          <p:nvPr/>
        </p:nvPicPr>
        <p:blipFill>
          <a:blip xmlns:r="http://schemas.openxmlformats.org/officeDocument/2006/relationships" xmlns:a="http://schemas.openxmlformats.org/drawingml/2006/main" r:embed="Rb6a40f86027d4ca8">
            <a:extLst>
              <a:ext uri="{96DAC541-7B7A-43D3-8B79-37D633B846F1}">
                <asvg:svgBlip xmlns:asvg="http://schemas.microsoft.com/office/drawing/2016/SVG/main" r:embed="R31c568b56f004bf3"/>
              </a:ext>
            </a:extLst>
          </a:blip>
          <a:stretch xmlns:a="http://schemas.openxmlformats.org/drawingml/2006/main"/>
        </p:blipFill>
        <p:spPr>
          <a:xfrm xmlns:a="http://schemas.openxmlformats.org/drawingml/2006/main">
            <a:off x="552450" y="1562100"/>
            <a:ext cx="11096625" cy="1666875"/>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C7EBB4F9-FD31-436F-BA82-613874474CD0}"/>
              </a:ext>
            </a:extLst>
          </p:cNvPr>
          <p:cNvGraphicFramePr/>
          <p:nvPr/>
        </p:nvGraphicFramePr>
        <p:xfrm>
          <a:off xmlns:a="http://schemas.openxmlformats.org/drawingml/2006/main" x="552450" y="3362325"/>
          <a:ext xmlns:a="http://schemas.openxmlformats.org/drawingml/2006/main" cx="11096625" cy="2305050"/>
        </p:xfrm>
        <a:graphic xmlns:a="http://schemas.openxmlformats.org/drawingml/2006/main">
          <a:graphicData uri="http://schemas.openxmlformats.org/drawingml/2006/table">
            <a:tbl>
              <a:tblPr/>
              <a:tblGrid>
                <a:gridCol w="3905250"/>
                <a:gridCol w="3695700"/>
                <a:gridCol w="3495675"/>
              </a:tblGrid>
              <a:tr h="461010">
                <a:tc>
                  <a:txBody>
                    <a:bodyPr lIns="114300" tIns="95250" rIns="95250" bIns="76200">
                      <a:noAutofit/>
                    </a:bodyPr>
                    <a:lstStyle/>
                    <a:p>
                      <a:r>
                        <a:rPr sz="1800" b="1">
                          <a:solidFill>
                            <a:srgbClr val="13233D"/>
                          </a:solidFill>
                          <a:latin typeface="Arial"/>
                          <a:ea typeface="Arial"/>
                          <a:cs typeface="Arial"/>
                        </a:rPr>
                        <a:t>Score component</a:t>
                      </a:r>
                    </a:p>
                  </a:txBody>
                  <a:tcPr marL="91440" marR="91440" marT="45720" marB="45720" anchor="ctr">
                    <a:lnL w="6668">
                      <a:solidFill>
                        <a:srgbClr val="D7DFEA"/>
                      </a:solidFill>
                      <a:prstDash val="solid"/>
                    </a:lnL>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95250" rIns="95250" bIns="76200">
                      <a:noAutofit/>
                    </a:bodyPr>
                    <a:lstStyle/>
                    <a:p>
                      <a:r>
                        <a:rPr sz="1800" b="1">
                          <a:solidFill>
                            <a:srgbClr val="13233D"/>
                          </a:solidFill>
                          <a:latin typeface="Arial"/>
                          <a:ea typeface="Arial"/>
                          <a:cs typeface="Arial"/>
                        </a:rPr>
                        <a:t>A: prior block on P0,P1</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c>
                  <a:txBody>
                    <a:bodyPr lIns="114300" tIns="95250" rIns="95250" bIns="76200">
                      <a:noAutofit/>
                    </a:bodyPr>
                    <a:lstStyle/>
                    <a:p>
                      <a:r>
                        <a:rPr sz="1800" b="1">
                          <a:solidFill>
                            <a:srgbClr val="13233D"/>
                          </a:solidFill>
                          <a:latin typeface="Arial"/>
                          <a:ea typeface="Arial"/>
                          <a:cs typeface="Arial"/>
                        </a:rPr>
                        <a:t>B: no block on P1,P2</a:t>
                      </a:r>
                    </a:p>
                  </a:txBody>
                  <a:tcPr marL="91440" marR="91440" marT="45720" marB="45720" anchor="ctr">
                    <a:lnR w="6668">
                      <a:solidFill>
                        <a:srgbClr val="D7DFEA"/>
                      </a:solidFill>
                      <a:prstDash val="solid"/>
                    </a:lnR>
                    <a:lnT w="6668">
                      <a:solidFill>
                        <a:srgbClr val="D7DFEA"/>
                      </a:solidFill>
                      <a:prstDash val="solid"/>
                    </a:lnT>
                    <a:lnB w="6668">
                      <a:solidFill>
                        <a:srgbClr val="D7DFEA"/>
                      </a:solidFill>
                      <a:prstDash val="solid"/>
                    </a:lnB>
                    <a:solidFill>
                      <a:srgbClr val="EFF4FA"/>
                    </a:solidFill>
                  </a:tcPr>
                </a:tc>
              </a:tr>
              <a:tr h="461010">
                <a:tc>
                  <a:txBody>
                    <a:bodyPr lIns="114300" tIns="95250" rIns="95250" bIns="76200">
                      <a:noAutofit/>
                    </a:bodyPr>
                    <a:lstStyle/>
                    <a:p>
                      <a:r>
                        <a:rPr sz="1800" b="0">
                          <a:solidFill>
                            <a:srgbClr val="526479"/>
                          </a:solidFill>
                          <a:latin typeface="Arial"/>
                          <a:ea typeface="Arial"/>
                          <a:cs typeface="Arial"/>
                        </a:rPr>
                        <a:t>Old distance score ΔF</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1 − 2 =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1 − 2 =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61010">
                <a:tc>
                  <a:txBody>
                    <a:bodyPr lIns="114300" tIns="95250" rIns="95250" bIns="76200">
                      <a:noAutofit/>
                    </a:bodyPr>
                    <a:lstStyle/>
                    <a:p>
                      <a:r>
                        <a:rPr sz="1800" b="0">
                          <a:solidFill>
                            <a:srgbClr val="526479"/>
                          </a:solidFill>
                          <a:latin typeface="Arial"/>
                          <a:ea typeface="Arial"/>
                          <a:cs typeface="Arial"/>
                        </a:rPr>
                        <a:t>Fusion credit C</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−2/3  (c =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0</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61010">
                <a:tc>
                  <a:txBody>
                    <a:bodyPr lIns="114300" tIns="95250" rIns="95250" bIns="76200">
                      <a:noAutofit/>
                    </a:bodyPr>
                    <a:lstStyle/>
                    <a:p>
                      <a:r>
                        <a:rPr sz="1800" b="0">
                          <a:solidFill>
                            <a:srgbClr val="526479"/>
                          </a:solidFill>
                          <a:latin typeface="Arial"/>
                          <a:ea typeface="Arial"/>
                          <a:cs typeface="Arial"/>
                        </a:rPr>
                        <a:t>Readiness λT</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0.000022 ×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0.000022 × 1</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r h="461010">
                <a:tc>
                  <a:txBody>
                    <a:bodyPr lIns="114300" tIns="95250" rIns="95250" bIns="76200">
                      <a:noAutofit/>
                    </a:bodyPr>
                    <a:lstStyle/>
                    <a:p>
                      <a:r>
                        <a:rPr sz="1800" b="0">
                          <a:solidFill>
                            <a:srgbClr val="526479"/>
                          </a:solidFill>
                          <a:latin typeface="Arial"/>
                          <a:ea typeface="Arial"/>
                          <a:cs typeface="Arial"/>
                        </a:rPr>
                        <a:t>New total</a:t>
                      </a:r>
                    </a:p>
                  </a:txBody>
                  <a:tcPr marL="91440" marR="91440" marT="45720" marB="45720" anchor="ctr">
                    <a:lnL w="6668">
                      <a:solidFill>
                        <a:srgbClr val="D7DFEA"/>
                      </a:solidFill>
                      <a:prstDash val="solid"/>
                    </a:lnL>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−1.6666447   chosen</a:t>
                      </a:r>
                    </a:p>
                  </a:txBody>
                  <a:tcPr marL="91440" marR="91440" marT="45720" marB="45720" anchor="ctr">
                    <a:lnR w="6668">
                      <a:solidFill>
                        <a:srgbClr val="D7DFEA"/>
                      </a:solidFill>
                      <a:prstDash val="solid"/>
                    </a:lnR>
                    <a:lnB w="6668">
                      <a:solidFill>
                        <a:srgbClr val="D7DFEA"/>
                      </a:solidFill>
                      <a:prstDash val="solid"/>
                    </a:lnB>
                    <a:solidFill>
                      <a:srgbClr val="FFFFFF"/>
                    </a:solidFill>
                  </a:tcPr>
                </a:tc>
                <a:tc>
                  <a:txBody>
                    <a:bodyPr lIns="114300" tIns="95250" rIns="95250" bIns="76200">
                      <a:noAutofit/>
                    </a:bodyPr>
                    <a:lstStyle/>
                    <a:p>
                      <a:r>
                        <a:rPr sz="1800" b="0">
                          <a:solidFill>
                            <a:srgbClr val="526479"/>
                          </a:solidFill>
                          <a:latin typeface="Arial"/>
                          <a:ea typeface="Arial"/>
                          <a:cs typeface="Arial"/>
                        </a:rPr>
                        <a:t>−0.999978</a:t>
                      </a:r>
                    </a:p>
                  </a:txBody>
                  <a:tcPr marL="91440" marR="91440" marT="45720" marB="45720" anchor="ctr">
                    <a:lnR w="6668">
                      <a:solidFill>
                        <a:srgbClr val="D7DFEA"/>
                      </a:solidFill>
                      <a:prstDash val="solid"/>
                    </a:lnR>
                    <a:lnB w="6668">
                      <a:solidFill>
                        <a:srgbClr val="D7DFEA"/>
                      </a:solidFill>
                      <a:prstDash val="solid"/>
                    </a:lnB>
                    <a:solidFill>
                      <a:srgbClr val="FFFFFF"/>
                    </a:solidFill>
                  </a:tcPr>
                </a:tc>
              </a:tr>
            </a:tbl>
          </a:graphicData>
        </a:graphic>
      </p:graphicFrame>
      <p:sp>
        <p:nvSpPr>
          <p:cNvPr id="6" name="Later synthesis">
            <a:extLst xmlns:a="http://schemas.openxmlformats.org/drawingml/2006/main">
              <a:ext uri="{FF2B5EF4-FFF2-40B4-BE49-F238E27FC236}">
                <a16:creationId xmlns:a16="http://schemas.microsoft.com/office/drawing/2014/main" id="{07A3C564-1BE3-47DC-B0FF-491AC8CC3676}"/>
              </a:ext>
            </a:extLst>
          </p:cNvPr>
          <p:cNvSpPr>
            <a:spLocks xmlns:a="http://schemas.openxmlformats.org/drawingml/2006/main" noGrp="1"/>
          </p:cNvSpPr>
          <p:nvPr/>
        </p:nvSpPr>
        <p:spPr>
          <a:xfrm xmlns:a="http://schemas.openxmlformats.org/drawingml/2006/main">
            <a:off x="552450" y="5915025"/>
            <a:ext cx="224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087C69"/>
                </a:solidFill>
                <a:latin typeface="Arial"/>
                <a:ea typeface="Arial"/>
                <a:cs typeface="Arial"/>
              </a:defRPr>
            </a:defPPr>
          </a:lstStyle>
          <a:p xmlns:a="http://schemas.openxmlformats.org/drawingml/2006/main">
            <a:pPr>
              <a:buNone/>
              <a:defRPr sz="1875" b="1">
                <a:solidFill>
                  <a:srgbClr val="087C69"/>
                </a:solidFill>
                <a:latin typeface="Arial"/>
                <a:ea typeface="Arial"/>
                <a:cs typeface="Arial"/>
              </a:defRPr>
            </a:pPr>
            <a:r>
              <a:rPr sz="1875" b="1">
                <a:solidFill>
                  <a:srgbClr val="087C69"/>
                </a:solidFill>
                <a:latin typeface="Arial"/>
                <a:ea typeface="Arial"/>
                <a:cs typeface="Arial"/>
              </a:rPr>
              <a:t>Later synthesis</a:t>
            </a:r>
          </a:p>
        </p:txBody>
      </p:sp>
      <p:sp>
        <p:nvSpPr>
          <p:cNvPr id="7" name="CX + SWAP:  1 + 3 = 4 CX       2 CX after cancellation">
            <a:extLst xmlns:a="http://schemas.openxmlformats.org/drawingml/2006/main">
              <a:ext uri="{FF2B5EF4-FFF2-40B4-BE49-F238E27FC236}">
                <a16:creationId xmlns:a16="http://schemas.microsoft.com/office/drawing/2014/main" id="{22471244-0B6D-4EEB-8FD3-C7235B9DEB03}"/>
              </a:ext>
            </a:extLst>
          </p:cNvPr>
          <p:cNvSpPr>
            <a:spLocks xmlns:a="http://schemas.openxmlformats.org/drawingml/2006/main" noGrp="1"/>
          </p:cNvSpPr>
          <p:nvPr/>
        </p:nvSpPr>
        <p:spPr>
          <a:xfrm xmlns:a="http://schemas.openxmlformats.org/drawingml/2006/main">
            <a:off x="2952750" y="588645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13233D"/>
                </a:solidFill>
                <a:latin typeface="Arial"/>
                <a:ea typeface="Arial"/>
                <a:cs typeface="Arial"/>
              </a:defRPr>
            </a:defPPr>
          </a:lstStyle>
          <a:p xmlns:a="http://schemas.openxmlformats.org/drawingml/2006/main">
            <a:pPr>
              <a:buNone/>
              <a:defRPr sz="2175" b="0">
                <a:solidFill>
                  <a:srgbClr val="13233D"/>
                </a:solidFill>
                <a:latin typeface="Arial"/>
                <a:ea typeface="Arial"/>
                <a:cs typeface="Arial"/>
              </a:defRPr>
            </a:pPr>
            <a:r>
              <a:rPr sz="2175" b="0">
                <a:solidFill>
                  <a:srgbClr val="13233D"/>
                </a:solidFill>
                <a:latin typeface="Arial"/>
                <a:ea typeface="Arial"/>
                <a:cs typeface="Arial"/>
              </a:rPr>
              <a:t>CX + SWAP:  1 + 3 = 4 CX       2 CX after cancellation</a:t>
            </a:r>
          </a:p>
        </p:txBody>
      </p:sp>
    </p:spTree>
    <p:extLst>
      <p:ext uri="{BB962C8B-B14F-4D97-AF65-F5344CB8AC3E}">
        <p14:creationId xmlns:p14="http://schemas.microsoft.com/office/powerpoint/2010/main" val="94508672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Worked example: readiness favors idle wires">
            <a:extLst xmlns:a="http://schemas.openxmlformats.org/drawingml/2006/main">
              <a:ext uri="{FF2B5EF4-FFF2-40B4-BE49-F238E27FC236}">
                <a16:creationId xmlns:a16="http://schemas.microsoft.com/office/drawing/2014/main" id="{6FE2FBA1-7665-443F-B3AC-59DAB3A31B43}"/>
              </a:ext>
            </a:extLst>
          </p:cNvPr>
          <p:cNvSpPr>
            <a:spLocks xmlns:a="http://schemas.openxmlformats.org/drawingml/2006/main" noGrp="1"/>
          </p:cNvSpPr>
          <p:nvPr/>
        </p:nvSpPr>
        <p:spPr>
          <a:xfrm xmlns:a="http://schemas.openxmlformats.org/drawingml/2006/main">
            <a:off x="533400" y="3524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13233D"/>
                </a:solidFill>
                <a:latin typeface="Arial"/>
                <a:ea typeface="Arial"/>
                <a:cs typeface="Arial"/>
              </a:defRPr>
            </a:defPPr>
          </a:lstStyle>
          <a:p xmlns:a="http://schemas.openxmlformats.org/drawingml/2006/main">
            <a:pPr>
              <a:buNone/>
              <a:defRPr sz="3225" b="1">
                <a:solidFill>
                  <a:srgbClr val="13233D"/>
                </a:solidFill>
                <a:latin typeface="Arial"/>
                <a:ea typeface="Arial"/>
                <a:cs typeface="Arial"/>
              </a:defRPr>
            </a:pPr>
            <a:r>
              <a:rPr sz="3225" b="1">
                <a:solidFill>
                  <a:srgbClr val="13233D"/>
                </a:solidFill>
                <a:latin typeface="Arial"/>
                <a:ea typeface="Arial"/>
                <a:cs typeface="Arial"/>
              </a:rPr>
              <a:t>Worked example: readiness favors idle wires</a:t>
            </a:r>
          </a:p>
        </p:txBody>
      </p:sp>
      <p:sp>
        <p:nvSpPr>
          <p:cNvPr id="2" name="Line P0–P1–P2–P3. After CX(P0,P1), ready = [1,1,0,0]. CX(q1,q3) is pen">
            <a:extLst xmlns:a="http://schemas.openxmlformats.org/drawingml/2006/main">
              <a:ext uri="{FF2B5EF4-FFF2-40B4-BE49-F238E27FC236}">
                <a16:creationId xmlns:a16="http://schemas.microsoft.com/office/drawing/2014/main" id="{7494B3A1-2690-4D66-8B28-8758D4BC48D0}"/>
              </a:ext>
            </a:extLst>
          </p:cNvPr>
          <p:cNvSpPr>
            <a:spLocks xmlns:a="http://schemas.openxmlformats.org/drawingml/2006/main" noGrp="1"/>
          </p:cNvSpPr>
          <p:nvPr/>
        </p:nvSpPr>
        <p:spPr>
          <a:xfrm xmlns:a="http://schemas.openxmlformats.org/drawingml/2006/main">
            <a:off x="552450" y="10287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479"/>
                </a:solidFill>
                <a:latin typeface="Arial"/>
                <a:ea typeface="Arial"/>
                <a:cs typeface="Arial"/>
              </a:defRPr>
            </a:defPPr>
          </a:lstStyle>
          <a:p xmlns:a="http://schemas.openxmlformats.org/drawingml/2006/main">
            <a:pPr>
              <a:buNone/>
              <a:defRPr sz="1800" b="0">
                <a:solidFill>
                  <a:srgbClr val="526479"/>
                </a:solidFill>
                <a:latin typeface="Arial"/>
                <a:ea typeface="Arial"/>
                <a:cs typeface="Arial"/>
              </a:defRPr>
            </a:pPr>
            <a:r>
              <a:rPr sz="1800" b="0">
                <a:solidFill>
                  <a:srgbClr val="526479"/>
                </a:solidFill>
                <a:latin typeface="Arial"/>
                <a:ea typeface="Arial"/>
                <a:cs typeface="Arial"/>
              </a:rPr>
              <a:t>Line P0–P1–P2–P3. After CX(P0,P1), ready = [1,1,0,0]. CX(q1,q3) is pending.</a:t>
            </a:r>
          </a:p>
        </p:txBody>
      </p:sp>
      <p:sp>
        <p:nvSpPr>
          <p:cNvPr id="3" name="7">
            <a:extLst xmlns:a="http://schemas.openxmlformats.org/drawingml/2006/main">
              <a:ext uri="{FF2B5EF4-FFF2-40B4-BE49-F238E27FC236}">
                <a16:creationId xmlns:a16="http://schemas.microsoft.com/office/drawing/2014/main" id="{86146B50-5071-4A73-BA04-CD5EE8D7840D}"/>
              </a:ext>
            </a:extLst>
          </p:cNvPr>
          <p:cNvSpPr>
            <a:spLocks xmlns:a="http://schemas.openxmlformats.org/drawingml/2006/main" noGrp="1"/>
          </p:cNvSpPr>
          <p:nvPr/>
        </p:nvSpPr>
        <p:spPr>
          <a:xfrm xmlns:a="http://schemas.openxmlformats.org/drawingml/2006/main">
            <a:off x="11334750" y="6457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479"/>
                </a:solidFill>
                <a:latin typeface="Arial"/>
                <a:ea typeface="Arial"/>
                <a:cs typeface="Arial"/>
              </a:defRPr>
            </a:defPPr>
          </a:lstStyle>
          <a:p xmlns:a="http://schemas.openxmlformats.org/drawingml/2006/main">
            <a:pPr>
              <a:buNone/>
              <a:defRPr sz="1275" b="0">
                <a:solidFill>
                  <a:srgbClr val="526479"/>
                </a:solidFill>
                <a:latin typeface="Arial"/>
                <a:ea typeface="Arial"/>
                <a:cs typeface="Arial"/>
              </a:defRPr>
            </a:pPr>
            <a:r>
              <a:rPr sz="1275" b="0">
                <a:solidFill>
                  <a:srgbClr val="526479"/>
                </a:solidFill>
                <a:latin typeface="Arial"/>
                <a:ea typeface="Arial"/>
                <a:cs typeface="Arial"/>
              </a:rPr>
              <a:t>21</a:t>
            </a:r>
          </a:p>
        </p:txBody>
      </p:sp>
      <p:sp>
        <p:nvSpPr>
          <p:cNvPr id="4" name="Both shown SWAPs give ΔF = −1 and C = 0">
            <a:extLst xmlns:a="http://schemas.openxmlformats.org/drawingml/2006/main">
              <a:ext uri="{FF2B5EF4-FFF2-40B4-BE49-F238E27FC236}">
                <a16:creationId xmlns:a16="http://schemas.microsoft.com/office/drawing/2014/main" id="{0E60A906-CA19-415D-9229-BEDC1B086BE9}"/>
              </a:ext>
            </a:extLst>
          </p:cNvPr>
          <p:cNvSpPr>
            <a:spLocks xmlns:a="http://schemas.openxmlformats.org/drawingml/2006/main" noGrp="1"/>
          </p:cNvSpPr>
          <p:nvPr/>
        </p:nvSpPr>
        <p:spPr>
          <a:xfrm xmlns:a="http://schemas.openxmlformats.org/drawingml/2006/main">
            <a:off x="552450" y="15525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3233D"/>
                </a:solidFill>
                <a:latin typeface="Arial"/>
                <a:ea typeface="Arial"/>
                <a:cs typeface="Arial"/>
              </a:defRPr>
            </a:defPPr>
          </a:lstStyle>
          <a:p xmlns:a="http://schemas.openxmlformats.org/drawingml/2006/main">
            <a:pPr>
              <a:buNone/>
              <a:defRPr sz="2175" b="1">
                <a:solidFill>
                  <a:srgbClr val="13233D"/>
                </a:solidFill>
                <a:latin typeface="Arial"/>
                <a:ea typeface="Arial"/>
                <a:cs typeface="Arial"/>
              </a:defRPr>
            </a:pPr>
            <a:r>
              <a:rPr sz="2175" b="1">
                <a:solidFill>
                  <a:srgbClr val="13233D"/>
                </a:solidFill>
                <a:latin typeface="Arial"/>
                <a:ea typeface="Arial"/>
                <a:cs typeface="Arial"/>
              </a:rPr>
              <a:t>Both shown SWAPs give ΔF = −1 and C = 0</a:t>
            </a:r>
          </a:p>
        </p:txBody>
      </p:sp>
      <p:pic>
        <p:nvPicPr>
          <p:cNvPr id="5" name="">
            <a:extLst xmlns:a="http://schemas.openxmlformats.org/drawingml/2006/main">
              <a:ext uri="{FF2B5EF4-FFF2-40B4-BE49-F238E27FC236}">
                <a16:creationId xmlns:a16="http://schemas.microsoft.com/office/drawing/2014/main" id="{6DEC83BB-4BA4-4055-BBF4-4FCCD3CD7C71}"/>
              </a:ext>
            </a:extLst>
          </p:cNvPr>
          <p:cNvPicPr>
            <a:picLocks xmlns:a="http://schemas.openxmlformats.org/drawingml/2006/main" noChangeAspect="1"/>
          </p:cNvPicPr>
          <p:nvPr/>
        </p:nvPicPr>
        <p:blipFill>
          <a:blip xmlns:r="http://schemas.openxmlformats.org/officeDocument/2006/relationships" xmlns:a="http://schemas.openxmlformats.org/drawingml/2006/main" r:embed="Rb68494639c574ec2">
            <a:extLst>
              <a:ext uri="{96DAC541-7B7A-43D3-8B79-37D633B846F1}">
                <asvg:svgBlip xmlns:asvg="http://schemas.microsoft.com/office/drawing/2016/SVG/main" r:embed="Rc7588dca3e4f4a2a"/>
              </a:ext>
            </a:extLst>
          </a:blip>
          <a:stretch xmlns:a="http://schemas.openxmlformats.org/drawingml/2006/main"/>
        </p:blipFill>
        <p:spPr>
          <a:xfrm xmlns:a="http://schemas.openxmlformats.org/drawingml/2006/main">
            <a:off x="552450" y="2171700"/>
            <a:ext cx="6315075" cy="4048125"/>
          </a:xfrm>
          <a:prstGeom xmlns:a="http://schemas.openxmlformats.org/drawingml/2006/main" prst="rect">
            <a:avLst/>
          </a:prstGeom>
        </p:spPr>
      </p:pic>
      <p:sp>
        <p:nvSpPr>
          <p:cNvPr id="6" name="Busy SWAP starts at T = 1">
            <a:extLst xmlns:a="http://schemas.openxmlformats.org/drawingml/2006/main">
              <a:ext uri="{FF2B5EF4-FFF2-40B4-BE49-F238E27FC236}">
                <a16:creationId xmlns:a16="http://schemas.microsoft.com/office/drawing/2014/main" id="{DE9B4EC8-E964-4E2A-B20B-F45FFD7207B0}"/>
              </a:ext>
            </a:extLst>
          </p:cNvPr>
          <p:cNvSpPr>
            <a:spLocks xmlns:a="http://schemas.openxmlformats.org/drawingml/2006/main" noGrp="1"/>
          </p:cNvSpPr>
          <p:nvPr/>
        </p:nvSpPr>
        <p:spPr>
          <a:xfrm xmlns:a="http://schemas.openxmlformats.org/drawingml/2006/main">
            <a:off x="7296150" y="2276475"/>
            <a:ext cx="4410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B35C18"/>
                </a:solidFill>
                <a:latin typeface="Arial"/>
                <a:ea typeface="Arial"/>
                <a:cs typeface="Arial"/>
              </a:defRPr>
            </a:defPPr>
          </a:lstStyle>
          <a:p xmlns:a="http://schemas.openxmlformats.org/drawingml/2006/main">
            <a:pPr>
              <a:buNone/>
              <a:defRPr sz="1875" b="1">
                <a:solidFill>
                  <a:srgbClr val="B35C18"/>
                </a:solidFill>
                <a:latin typeface="Arial"/>
                <a:ea typeface="Arial"/>
                <a:cs typeface="Arial"/>
              </a:defRPr>
            </a:pPr>
            <a:r>
              <a:rPr sz="1875" b="1">
                <a:solidFill>
                  <a:srgbClr val="B35C18"/>
                </a:solidFill>
                <a:latin typeface="Arial"/>
                <a:ea typeface="Arial"/>
                <a:cs typeface="Arial"/>
              </a:rPr>
              <a:t>Busy SWAP starts at T = 1</a:t>
            </a:r>
          </a:p>
        </p:txBody>
      </p:sp>
      <p:sp>
        <p:nvSpPr>
          <p:cNvPr id="7" name="−1 + 0.000022 = −0.999978">
            <a:extLst xmlns:a="http://schemas.openxmlformats.org/drawingml/2006/main">
              <a:ext uri="{FF2B5EF4-FFF2-40B4-BE49-F238E27FC236}">
                <a16:creationId xmlns:a16="http://schemas.microsoft.com/office/drawing/2014/main" id="{9A7B241A-507C-4764-944E-546D3492E48B}"/>
              </a:ext>
            </a:extLst>
          </p:cNvPr>
          <p:cNvSpPr>
            <a:spLocks xmlns:a="http://schemas.openxmlformats.org/drawingml/2006/main" noGrp="1"/>
          </p:cNvSpPr>
          <p:nvPr/>
        </p:nvSpPr>
        <p:spPr>
          <a:xfrm xmlns:a="http://schemas.openxmlformats.org/drawingml/2006/main">
            <a:off x="7296150" y="2714625"/>
            <a:ext cx="4410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13233D"/>
                </a:solidFill>
                <a:latin typeface="Arial"/>
                <a:ea typeface="Arial"/>
                <a:cs typeface="Arial"/>
              </a:defRPr>
            </a:defPPr>
          </a:lstStyle>
          <a:p xmlns:a="http://schemas.openxmlformats.org/drawingml/2006/main">
            <a:pPr>
              <a:buNone/>
              <a:defRPr sz="2100" b="0">
                <a:solidFill>
                  <a:srgbClr val="13233D"/>
                </a:solidFill>
                <a:latin typeface="Arial"/>
                <a:ea typeface="Arial"/>
                <a:cs typeface="Arial"/>
              </a:defRPr>
            </a:pPr>
            <a:r>
              <a:rPr sz="2100" b="0">
                <a:solidFill>
                  <a:srgbClr val="13233D"/>
                </a:solidFill>
                <a:latin typeface="Arial"/>
                <a:ea typeface="Arial"/>
                <a:cs typeface="Arial"/>
              </a:rPr>
              <a:t>−1 + 0.000022 = −0.999978</a:t>
            </a:r>
          </a:p>
        </p:txBody>
      </p:sp>
      <p:sp>
        <p:nvSpPr>
          <p:cNvPr id="8" name="Idle SWAP starts at T = 0">
            <a:extLst xmlns:a="http://schemas.openxmlformats.org/drawingml/2006/main">
              <a:ext uri="{FF2B5EF4-FFF2-40B4-BE49-F238E27FC236}">
                <a16:creationId xmlns:a16="http://schemas.microsoft.com/office/drawing/2014/main" id="{FC0F93DB-A939-40E3-8B58-9873284DE25B}"/>
              </a:ext>
            </a:extLst>
          </p:cNvPr>
          <p:cNvSpPr>
            <a:spLocks xmlns:a="http://schemas.openxmlformats.org/drawingml/2006/main" noGrp="1"/>
          </p:cNvSpPr>
          <p:nvPr/>
        </p:nvSpPr>
        <p:spPr>
          <a:xfrm xmlns:a="http://schemas.openxmlformats.org/drawingml/2006/main">
            <a:off x="7296150" y="3524250"/>
            <a:ext cx="4410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087C69"/>
                </a:solidFill>
                <a:latin typeface="Arial"/>
                <a:ea typeface="Arial"/>
                <a:cs typeface="Arial"/>
              </a:defRPr>
            </a:defPPr>
          </a:lstStyle>
          <a:p xmlns:a="http://schemas.openxmlformats.org/drawingml/2006/main">
            <a:pPr>
              <a:buNone/>
              <a:defRPr sz="1875" b="1">
                <a:solidFill>
                  <a:srgbClr val="087C69"/>
                </a:solidFill>
                <a:latin typeface="Arial"/>
                <a:ea typeface="Arial"/>
                <a:cs typeface="Arial"/>
              </a:defRPr>
            </a:pPr>
            <a:r>
              <a:rPr sz="1875" b="1">
                <a:solidFill>
                  <a:srgbClr val="087C69"/>
                </a:solidFill>
                <a:latin typeface="Arial"/>
                <a:ea typeface="Arial"/>
                <a:cs typeface="Arial"/>
              </a:rPr>
              <a:t>Idle SWAP starts at T = 0</a:t>
            </a:r>
          </a:p>
        </p:txBody>
      </p:sp>
      <p:sp>
        <p:nvSpPr>
          <p:cNvPr id="9" name="−1 + 0 = −1   chosen">
            <a:extLst xmlns:a="http://schemas.openxmlformats.org/drawingml/2006/main">
              <a:ext uri="{FF2B5EF4-FFF2-40B4-BE49-F238E27FC236}">
                <a16:creationId xmlns:a16="http://schemas.microsoft.com/office/drawing/2014/main" id="{7284AAE0-0578-4F10-B58E-06403ECACCA3}"/>
              </a:ext>
            </a:extLst>
          </p:cNvPr>
          <p:cNvSpPr>
            <a:spLocks xmlns:a="http://schemas.openxmlformats.org/drawingml/2006/main" noGrp="1"/>
          </p:cNvSpPr>
          <p:nvPr/>
        </p:nvSpPr>
        <p:spPr>
          <a:xfrm xmlns:a="http://schemas.openxmlformats.org/drawingml/2006/main">
            <a:off x="7296150" y="3962400"/>
            <a:ext cx="4410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87C69"/>
                </a:solidFill>
                <a:latin typeface="Arial"/>
                <a:ea typeface="Arial"/>
                <a:cs typeface="Arial"/>
              </a:defRPr>
            </a:defPPr>
          </a:lstStyle>
          <a:p xmlns:a="http://schemas.openxmlformats.org/drawingml/2006/main">
            <a:pPr>
              <a:buNone/>
              <a:defRPr sz="2175" b="1">
                <a:solidFill>
                  <a:srgbClr val="087C69"/>
                </a:solidFill>
                <a:latin typeface="Arial"/>
                <a:ea typeface="Arial"/>
                <a:cs typeface="Arial"/>
              </a:defRPr>
            </a:pPr>
            <a:r>
              <a:rPr sz="2175" b="1">
                <a:solidFill>
                  <a:srgbClr val="087C69"/>
                </a:solidFill>
                <a:latin typeface="Arial"/>
                <a:ea typeface="Arial"/>
                <a:cs typeface="Arial"/>
              </a:rPr>
              <a:t>−1 + 0 = −1   chosen</a:t>
            </a:r>
          </a:p>
        </p:txBody>
      </p:sp>
      <p:sp>
        <p:nvSpPr>
          <p:cNvPr id="10" name="Readiness can also outweigh a small&#10;lookahead advantage. It is a score">
            <a:extLst xmlns:a="http://schemas.openxmlformats.org/drawingml/2006/main">
              <a:ext uri="{FF2B5EF4-FFF2-40B4-BE49-F238E27FC236}">
                <a16:creationId xmlns:a16="http://schemas.microsoft.com/office/drawing/2014/main" id="{BF79093D-A84D-4625-AA8A-92F6B82C4521}"/>
              </a:ext>
            </a:extLst>
          </p:cNvPr>
          <p:cNvSpPr>
            <a:spLocks xmlns:a="http://schemas.openxmlformats.org/drawingml/2006/main" noGrp="1"/>
          </p:cNvSpPr>
          <p:nvPr/>
        </p:nvSpPr>
        <p:spPr>
          <a:xfrm xmlns:a="http://schemas.openxmlformats.org/drawingml/2006/main">
            <a:off x="7296150" y="4743450"/>
            <a:ext cx="4400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526479"/>
                </a:solidFill>
                <a:latin typeface="Arial"/>
                <a:ea typeface="Arial"/>
                <a:cs typeface="Arial"/>
              </a:defRPr>
            </a:defPPr>
          </a:lstStyle>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Readiness can also outweigh a small</a:t>
            </a:r>
          </a:p>
          <a:p xmlns:a="http://schemas.openxmlformats.org/drawingml/2006/main">
            <a:pPr>
              <a:buNone/>
              <a:defRPr sz="1725" b="0">
                <a:solidFill>
                  <a:srgbClr val="526479"/>
                </a:solidFill>
                <a:latin typeface="Arial"/>
                <a:ea typeface="Arial"/>
                <a:cs typeface="Arial"/>
              </a:defRPr>
            </a:pPr>
            <a:r>
              <a:rPr sz="1725" b="0">
                <a:solidFill>
                  <a:srgbClr val="526479"/>
                </a:solidFill>
                <a:latin typeface="Arial"/>
                <a:ea typeface="Arial"/>
                <a:cs typeface="Arial"/>
              </a:rPr>
              <a:t>lookahead advantage. It is a score term.</a:t>
            </a:r>
          </a:p>
        </p:txBody>
      </p:sp>
      <p:sp>
        <p:nvSpPr>
          <p:cNvPr id="11" name="Clocks are approximate. A TwoQ node adds 1, a SWAP adds 3. Trial selec">
            <a:extLst xmlns:a="http://schemas.openxmlformats.org/drawingml/2006/main">
              <a:ext uri="{FF2B5EF4-FFF2-40B4-BE49-F238E27FC236}">
                <a16:creationId xmlns:a16="http://schemas.microsoft.com/office/drawing/2014/main" id="{D0630450-DC46-4CCC-A90C-C6828F9364DF}"/>
              </a:ext>
            </a:extLst>
          </p:cNvPr>
          <p:cNvSpPr>
            <a:spLocks xmlns:a="http://schemas.openxmlformats.org/drawingml/2006/main" noGrp="1"/>
          </p:cNvSpPr>
          <p:nvPr/>
        </p:nvSpPr>
        <p:spPr>
          <a:xfrm xmlns:a="http://schemas.openxmlformats.org/drawingml/2006/main">
            <a:off x="552450" y="637222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526479"/>
                </a:solidFill>
                <a:latin typeface="Arial"/>
                <a:ea typeface="Arial"/>
                <a:cs typeface="Arial"/>
              </a:defRPr>
            </a:defPPr>
          </a:lstStyle>
          <a:p xmlns:a="http://schemas.openxmlformats.org/drawingml/2006/main">
            <a:pPr>
              <a:buNone/>
              <a:defRPr sz="1650" b="0">
                <a:solidFill>
                  <a:srgbClr val="526479"/>
                </a:solidFill>
                <a:latin typeface="Arial"/>
                <a:ea typeface="Arial"/>
                <a:cs typeface="Arial"/>
              </a:defRPr>
            </a:pPr>
            <a:r>
              <a:rPr sz="1650" b="0">
                <a:solidFill>
                  <a:srgbClr val="526479"/>
                </a:solidFill>
                <a:latin typeface="Arial"/>
                <a:ea typeface="Arial"/>
                <a:cs typeface="Arial"/>
              </a:rPr>
              <a:t>Clocks are approximate. A TwoQ node adds 1, a SWAP adds 3. Trial selection still counts SWAPs.</a:t>
            </a:r>
          </a:p>
        </p:txBody>
      </p:sp>
    </p:spTree>
    <p:extLst>
      <p:ext uri="{BB962C8B-B14F-4D97-AF65-F5344CB8AC3E}">
        <p14:creationId xmlns:p14="http://schemas.microsoft.com/office/powerpoint/2010/main" val="18120298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2026-10-14T07:35:34.8580000Z</dcterms:created>
  <dcterms:modified xsi:type="dcterms:W3CDTF">2026-10-14T07:35:34.8580000Z</dcterms:modified>
</coreProperties>
</file>